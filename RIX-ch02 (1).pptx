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8" r:id="rId2"/>
    <p:sldId id="259" r:id="rId3"/>
    <p:sldId id="271" r:id="rId4"/>
    <p:sldId id="260" r:id="rId5"/>
    <p:sldId id="266" r:id="rId6"/>
    <p:sldId id="261" r:id="rId7"/>
    <p:sldId id="274" r:id="rId8"/>
    <p:sldId id="275" r:id="rId9"/>
    <p:sldId id="262" r:id="rId10"/>
    <p:sldId id="263" r:id="rId11"/>
    <p:sldId id="267" r:id="rId12"/>
    <p:sldId id="268" r:id="rId13"/>
    <p:sldId id="272" r:id="rId14"/>
    <p:sldId id="273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FFCC"/>
    <a:srgbClr val="FF99CC"/>
    <a:srgbClr val="FF3399"/>
    <a:srgbClr val="993300"/>
    <a:srgbClr val="FF9966"/>
    <a:srgbClr val="FFFF99"/>
    <a:srgbClr val="FFFFCC"/>
    <a:srgbClr val="00FF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25" autoAdjust="0"/>
    <p:restoredTop sz="94660"/>
  </p:normalViewPr>
  <p:slideViewPr>
    <p:cSldViewPr>
      <p:cViewPr varScale="1">
        <p:scale>
          <a:sx n="82" d="100"/>
          <a:sy n="82" d="100"/>
        </p:scale>
        <p:origin x="179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9EB10-15B2-4E99-97B6-49BD2303230D}" type="datetimeFigureOut">
              <a:rPr lang="en-US" smtClean="0"/>
              <a:t>4/13/2020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98975-D9C9-4A57-9BA4-C921EA5EBB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203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8AC4A853-31ED-48B6-B6AA-8617B865E953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276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0060D841-D24B-42C1-ABA7-73AD8D2447FD}" type="slidenum">
              <a:rPr lang="en-US" altLang="en-US" sz="1200" smtClean="0"/>
              <a:pPr/>
              <a:t>2</a:t>
            </a:fld>
            <a:endParaRPr lang="en-US" altLang="en-US" sz="120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9227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E7DC39F1-0F1E-43B1-842E-37CF6584B97F}" type="slidenum">
              <a:rPr lang="en-US" altLang="en-US" sz="1200" smtClean="0"/>
              <a:pPr/>
              <a:t>4</a:t>
            </a:fld>
            <a:endParaRPr lang="en-US" altLang="en-US" sz="120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2725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5C42392A-1AA7-47AE-8CC9-0BB9143B002B}" type="slidenum">
              <a:rPr lang="en-US" altLang="en-US" sz="1200" smtClean="0"/>
              <a:pPr/>
              <a:t>6</a:t>
            </a:fld>
            <a:endParaRPr lang="en-US" altLang="en-US" sz="1200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238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D5F59EE0-0219-499A-8039-F663A7ED7DB7}" type="slidenum">
              <a:rPr lang="en-US" altLang="en-US" sz="1200" smtClean="0"/>
              <a:pPr/>
              <a:t>9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376758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A65FF5F5-4229-43FE-8A77-FBF22F47509C}" type="slidenum">
              <a:rPr lang="en-US" altLang="en-US" sz="1200" smtClean="0"/>
              <a:pPr/>
              <a:t>10</a:t>
            </a:fld>
            <a:endParaRPr lang="en-US" altLang="en-US" sz="120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2789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-9525" y="0"/>
            <a:ext cx="9144000" cy="685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65088"/>
            <a:ext cx="167640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0"/>
            <a:ext cx="1820863" cy="67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8738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600200"/>
            <a:ext cx="6400800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3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99" y="4406900"/>
            <a:ext cx="6208713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5999" y="2906713"/>
            <a:ext cx="6208713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689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62200" y="1586816"/>
            <a:ext cx="2895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0" y="1600200"/>
            <a:ext cx="32004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925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1535113"/>
            <a:ext cx="2895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0" y="2209800"/>
            <a:ext cx="2897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0200" y="1535113"/>
            <a:ext cx="3276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0200" y="2174874"/>
            <a:ext cx="3276600" cy="399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679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38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663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73050"/>
            <a:ext cx="220980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5800" y="273050"/>
            <a:ext cx="41910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9800" y="1430860"/>
            <a:ext cx="220980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479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67000" y="609600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67000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05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0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6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9D81E-C9EA-4359-B926-F4C2977B0011}" type="datetimeFigureOut">
              <a:rPr lang="en-US" smtClean="0"/>
              <a:t>4/13/2020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24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/>
              <a:t>CompTIA Security+ Study Guide (SY0-501)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Chapter 2:</a:t>
            </a:r>
          </a:p>
          <a:p>
            <a:r>
              <a:rPr lang="en-US" altLang="en-US" dirty="0"/>
              <a:t>Monitoring and Diagnosing Networks</a:t>
            </a:r>
          </a:p>
        </p:txBody>
      </p:sp>
    </p:spTree>
    <p:extLst>
      <p:ext uri="{BB962C8B-B14F-4D97-AF65-F5344CB8AC3E}">
        <p14:creationId xmlns:p14="http://schemas.microsoft.com/office/powerpoint/2010/main" val="422861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/>
              <a:t>Chapter 2: Monitoring and Diagnosing Networks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600200"/>
            <a:ext cx="6934200" cy="4525963"/>
          </a:xfrm>
          <a:noFill/>
        </p:spPr>
        <p:txBody>
          <a:bodyPr/>
          <a:lstStyle/>
          <a:p>
            <a:r>
              <a:rPr lang="en-US" altLang="en-US" sz="2800" dirty="0"/>
              <a:t>Explain use cases and purpose for frameworks, best practices, and secure configuration guides</a:t>
            </a:r>
          </a:p>
          <a:p>
            <a:r>
              <a:rPr lang="en-US" altLang="en-US" sz="2800" dirty="0"/>
              <a:t>Given a scenario, implement secure network architecture concepts</a:t>
            </a:r>
          </a:p>
          <a:p>
            <a:r>
              <a:rPr lang="en-US" altLang="en-US" sz="2800" dirty="0"/>
              <a:t>Given a scenario, implement secure systems design</a:t>
            </a:r>
          </a:p>
          <a:p>
            <a:r>
              <a:rPr lang="en-US" altLang="en-US" sz="2800" dirty="0"/>
              <a:t>Explain the importance of secure staging</a:t>
            </a:r>
          </a:p>
          <a:p>
            <a:r>
              <a:rPr lang="en-US" altLang="en-US" sz="2800" dirty="0"/>
              <a:t>Deployment concepts</a:t>
            </a:r>
          </a:p>
          <a:p>
            <a:endParaRPr lang="en-US" altLang="en-US" sz="2800" dirty="0"/>
          </a:p>
          <a:p>
            <a:endParaRPr lang="en-US" alt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3776089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0C136-5B72-443C-9893-1CC39C0C4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F4D0D-84A1-4B5F-8F3D-89CB25EB8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 </a:t>
            </a:r>
            <a:r>
              <a:rPr lang="en-US" b="1" i="1" u="sng" dirty="0">
                <a:solidFill>
                  <a:srgbClr val="FFFF00"/>
                </a:solidFill>
                <a:highlight>
                  <a:srgbClr val="000000"/>
                </a:highlight>
              </a:rPr>
              <a:t>Abstraction</a:t>
            </a:r>
            <a:r>
              <a:rPr lang="en-US" dirty="0"/>
              <a:t> (Large Collection)</a:t>
            </a:r>
          </a:p>
          <a:p>
            <a:pPr lvl="1"/>
            <a:r>
              <a:rPr lang="en-US" b="1" i="1" u="sng" dirty="0">
                <a:solidFill>
                  <a:srgbClr val="FF9966"/>
                </a:solidFill>
              </a:rPr>
              <a:t>Software</a:t>
            </a:r>
            <a:r>
              <a:rPr lang="en-US" dirty="0"/>
              <a:t> that Provides </a:t>
            </a:r>
            <a:r>
              <a:rPr lang="en-US" b="1" i="1" u="sng" dirty="0">
                <a:solidFill>
                  <a:srgbClr val="00FF00"/>
                </a:solidFill>
                <a:highlight>
                  <a:srgbClr val="808080"/>
                </a:highlight>
              </a:rPr>
              <a:t>Generic</a:t>
            </a:r>
            <a:r>
              <a:rPr lang="en-US" dirty="0">
                <a:highlight>
                  <a:srgbClr val="808080"/>
                </a:highlight>
              </a:rPr>
              <a:t> </a:t>
            </a:r>
            <a:r>
              <a:rPr lang="en-US" b="1" i="1" u="sng" dirty="0">
                <a:solidFill>
                  <a:srgbClr val="FF99CC"/>
                </a:solidFill>
                <a:highlight>
                  <a:srgbClr val="808080"/>
                </a:highlight>
              </a:rPr>
              <a:t>Functionality</a:t>
            </a:r>
            <a:r>
              <a:rPr lang="en-US" dirty="0">
                <a:highlight>
                  <a:srgbClr val="808080"/>
                </a:highlight>
              </a:rPr>
              <a:t> </a:t>
            </a:r>
          </a:p>
          <a:p>
            <a:pPr lvl="1"/>
            <a:r>
              <a:rPr lang="en-US" dirty="0"/>
              <a:t>That is </a:t>
            </a:r>
            <a:r>
              <a:rPr lang="en-US" b="1" i="1" u="sng" dirty="0">
                <a:solidFill>
                  <a:srgbClr val="FFFF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Selectively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99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Changed</a:t>
            </a:r>
            <a:r>
              <a:rPr lang="en-US" dirty="0"/>
              <a:t> by </a:t>
            </a:r>
            <a:r>
              <a:rPr lang="en-US" b="1" i="1" u="sng" dirty="0">
                <a:solidFill>
                  <a:srgbClr val="FFFF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Additional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user-written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</a:t>
            </a:r>
          </a:p>
          <a:p>
            <a:pPr lvl="1"/>
            <a:r>
              <a:rPr lang="en-US" dirty="0"/>
              <a:t>Thus </a:t>
            </a:r>
            <a:r>
              <a:rPr lang="en-US" b="1" i="1" u="sng" dirty="0">
                <a:solidFill>
                  <a:srgbClr val="FF99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Providing</a:t>
            </a:r>
            <a:r>
              <a:rPr lang="en-US" dirty="0"/>
              <a:t> Application-specific Software that can have its “Behavior” altered </a:t>
            </a:r>
          </a:p>
          <a:p>
            <a:pPr lvl="2"/>
            <a:r>
              <a:rPr lang="en-US" dirty="0"/>
              <a:t>(by the Presence of some Additional Text)</a:t>
            </a:r>
          </a:p>
        </p:txBody>
      </p:sp>
    </p:spTree>
    <p:extLst>
      <p:ext uri="{BB962C8B-B14F-4D97-AF65-F5344CB8AC3E}">
        <p14:creationId xmlns:p14="http://schemas.microsoft.com/office/powerpoint/2010/main" val="1952147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/>
              <a:t>Frameworks, Best Practices, and Configuration </a:t>
            </a:r>
            <a:r>
              <a:rPr lang="en-US" altLang="en-US" sz="4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Guides</a:t>
            </a:r>
            <a:r>
              <a:rPr lang="en-US" altLang="en-US" sz="4000" dirty="0"/>
              <a:t> 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1600200"/>
            <a:ext cx="6400800" cy="5105400"/>
          </a:xfrm>
          <a:noFill/>
        </p:spPr>
        <p:txBody>
          <a:bodyPr>
            <a:normAutofit fontScale="92500" lnSpcReduction="20000"/>
          </a:bodyPr>
          <a:lstStyle/>
          <a:p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ISO Standards</a:t>
            </a:r>
          </a:p>
          <a:p>
            <a:r>
              <a:rPr lang="en-US" altLang="en-US" sz="2800" dirty="0"/>
              <a:t>North American Electric Reliability Corporation (</a:t>
            </a:r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NERC</a:t>
            </a:r>
            <a:r>
              <a:rPr lang="en-US" altLang="en-US" sz="2800" dirty="0"/>
              <a:t>)</a:t>
            </a:r>
          </a:p>
          <a:p>
            <a:r>
              <a:rPr lang="en-US" altLang="en-US" sz="2800" dirty="0"/>
              <a:t>National Institute of Standards and Technology (</a:t>
            </a:r>
            <a:r>
              <a:rPr lang="en-US" altLang="en-US" sz="2800" b="1" i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NIST</a:t>
            </a:r>
            <a:r>
              <a:rPr lang="en-US" altLang="en-US" sz="2800" dirty="0"/>
              <a:t>)</a:t>
            </a:r>
          </a:p>
          <a:p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ISA</a:t>
            </a:r>
            <a:r>
              <a:rPr lang="en-US" altLang="en-US" sz="2800" dirty="0"/>
              <a:t>/IEC-62443</a:t>
            </a:r>
          </a:p>
          <a:p>
            <a:pPr lvl="1"/>
            <a:r>
              <a:rPr 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Series</a:t>
            </a:r>
            <a:r>
              <a:rPr lang="en-US" sz="2400" dirty="0"/>
              <a:t> of </a:t>
            </a:r>
            <a:r>
              <a:rPr 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Standards</a:t>
            </a:r>
            <a:r>
              <a:rPr lang="en-US" sz="2400" dirty="0"/>
              <a:t>, </a:t>
            </a:r>
            <a:r>
              <a:rPr 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Technical Reports</a:t>
            </a:r>
            <a:r>
              <a:rPr lang="en-US" sz="2400" dirty="0"/>
              <a:t>, and </a:t>
            </a:r>
            <a:r>
              <a:rPr 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Related Information </a:t>
            </a:r>
            <a:r>
              <a:rPr lang="en-US" sz="2400" dirty="0"/>
              <a:t>that </a:t>
            </a:r>
            <a:r>
              <a:rPr lang="en-US" sz="2400" b="1" dirty="0"/>
              <a:t>define</a:t>
            </a:r>
            <a:r>
              <a:rPr lang="en-US" sz="2400" dirty="0"/>
              <a:t> </a:t>
            </a:r>
            <a:r>
              <a:rPr 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Procedures</a:t>
            </a:r>
            <a:r>
              <a:rPr lang="en-US" sz="2400" dirty="0"/>
              <a:t> for implementing electronically secure Industrial Automation and Control Systems (</a:t>
            </a:r>
            <a:r>
              <a:rPr 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IACS</a:t>
            </a:r>
            <a:r>
              <a:rPr lang="en-US" sz="2400" dirty="0"/>
              <a:t>)</a:t>
            </a:r>
            <a:endParaRPr lang="en-US" altLang="en-US" sz="2400" dirty="0"/>
          </a:p>
          <a:p>
            <a:r>
              <a:rPr lang="en-US" altLang="en-US" sz="2800" dirty="0"/>
              <a:t>Payment Card Industry Data Security Standard (</a:t>
            </a:r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PCI-DSS</a:t>
            </a:r>
            <a:r>
              <a:rPr lang="en-US" altLang="en-US" sz="2800" dirty="0"/>
              <a:t>)</a:t>
            </a:r>
          </a:p>
          <a:p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OWASP</a:t>
            </a:r>
            <a:r>
              <a:rPr lang="en-US" altLang="en-US" sz="2800" dirty="0"/>
              <a:t> (Open-Web-App. Security Project)</a:t>
            </a:r>
          </a:p>
          <a:p>
            <a:r>
              <a:rPr lang="en-US" altLang="en-US" sz="2800" dirty="0"/>
              <a:t>SEI (sei.cmu.edu)</a:t>
            </a:r>
          </a:p>
        </p:txBody>
      </p:sp>
    </p:spTree>
    <p:extLst>
      <p:ext uri="{BB962C8B-B14F-4D97-AF65-F5344CB8AC3E}">
        <p14:creationId xmlns:p14="http://schemas.microsoft.com/office/powerpoint/2010/main" val="624495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Payment Card Industry Data Security Standard (</a:t>
            </a:r>
            <a:r>
              <a:rPr lang="en-US" b="1" i="1" u="sng" dirty="0">
                <a:solidFill>
                  <a:srgbClr val="FF0000"/>
                </a:solidFill>
              </a:rPr>
              <a:t>PCI-</a:t>
            </a:r>
            <a:r>
              <a:rPr lang="en-US" b="1" i="1" u="sng" dirty="0" err="1">
                <a:solidFill>
                  <a:srgbClr val="FF0000"/>
                </a:solidFill>
              </a:rPr>
              <a:t>DSS</a:t>
            </a:r>
            <a:r>
              <a:rPr lang="en-US" dirty="0"/>
              <a:t>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1408519"/>
            <a:ext cx="3036171" cy="5439270"/>
          </a:xfrm>
        </p:spPr>
      </p:pic>
    </p:spTree>
    <p:extLst>
      <p:ext uri="{BB962C8B-B14F-4D97-AF65-F5344CB8AC3E}">
        <p14:creationId xmlns:p14="http://schemas.microsoft.com/office/powerpoint/2010/main" val="1520597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 Web Application Security Project</a:t>
            </a:r>
            <a:r>
              <a:rPr lang="en-US" altLang="en-US" sz="4000" dirty="0"/>
              <a:t> (</a:t>
            </a:r>
            <a:r>
              <a:rPr lang="en-US" altLang="en-US" sz="4000" b="1" i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OWASP</a:t>
            </a:r>
            <a:r>
              <a:rPr lang="en-US" altLang="en-US" sz="4000" dirty="0"/>
              <a:t>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143000"/>
            <a:ext cx="7010400" cy="4983163"/>
          </a:xfrm>
          <a:noFill/>
        </p:spPr>
        <p:txBody>
          <a:bodyPr/>
          <a:lstStyle/>
          <a:p>
            <a:endParaRPr lang="en-US" altLang="en-US" sz="2400" dirty="0"/>
          </a:p>
          <a:p>
            <a:pPr marL="0" indent="0">
              <a:buNone/>
            </a:pPr>
            <a:r>
              <a:rPr lang="en-US" altLang="en-US" sz="2400" dirty="0"/>
              <a:t>1. </a:t>
            </a:r>
            <a:r>
              <a:rPr lang="en-US" altLang="en-US" sz="2400" b="1" i="1" u="sng" dirty="0">
                <a:solidFill>
                  <a:srgbClr val="FF99CC"/>
                </a:solidFill>
              </a:rPr>
              <a:t>Verify</a:t>
            </a:r>
            <a:r>
              <a:rPr lang="en-US" altLang="en-US" sz="2400" dirty="0"/>
              <a:t> for </a:t>
            </a:r>
            <a:r>
              <a:rPr lang="en-US" altLang="en-US" sz="2400" b="1" i="1" u="sng" dirty="0">
                <a:solidFill>
                  <a:srgbClr val="FF3300"/>
                </a:solidFill>
              </a:rPr>
              <a:t>Security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highlight>
                  <a:srgbClr val="FFFF00"/>
                </a:highlight>
              </a:rPr>
              <a:t>Early</a:t>
            </a:r>
            <a:r>
              <a:rPr lang="en-US" altLang="en-US" sz="2400" dirty="0"/>
              <a:t> and </a:t>
            </a:r>
            <a:r>
              <a:rPr lang="en-US" altLang="en-US" sz="2400" b="1" i="1" u="sng" dirty="0">
                <a:highlight>
                  <a:srgbClr val="FFFF00"/>
                </a:highlight>
              </a:rPr>
              <a:t>Often</a:t>
            </a:r>
          </a:p>
          <a:p>
            <a:pPr marL="0" indent="0">
              <a:buNone/>
            </a:pPr>
            <a:r>
              <a:rPr lang="en-US" altLang="en-US" sz="2400" dirty="0"/>
              <a:t>2. </a:t>
            </a:r>
            <a:r>
              <a:rPr lang="en-US" altLang="en-US" sz="2400" b="1" i="1" u="sng" dirty="0">
                <a:solidFill>
                  <a:srgbClr val="FF99CC"/>
                </a:solidFill>
              </a:rPr>
              <a:t>Parameterize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FF9933"/>
                </a:solidFill>
                <a:highlight>
                  <a:srgbClr val="808080"/>
                </a:highlight>
              </a:rPr>
              <a:t>Queries</a:t>
            </a:r>
          </a:p>
          <a:p>
            <a:pPr marL="0" indent="0">
              <a:buNone/>
            </a:pPr>
            <a:r>
              <a:rPr lang="en-US" altLang="en-US" sz="2400" dirty="0"/>
              <a:t>3. </a:t>
            </a:r>
            <a:r>
              <a:rPr lang="en-US" altLang="en-US" sz="2400" b="1" i="1" u="sng" dirty="0">
                <a:solidFill>
                  <a:srgbClr val="FF99CC"/>
                </a:solidFill>
              </a:rPr>
              <a:t>Encode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FFFFCC"/>
                </a:solidFill>
                <a:highlight>
                  <a:srgbClr val="808080"/>
                </a:highlight>
              </a:rPr>
              <a:t>Data</a:t>
            </a:r>
          </a:p>
          <a:p>
            <a:pPr marL="0" indent="0">
              <a:buNone/>
            </a:pPr>
            <a:r>
              <a:rPr lang="en-US" altLang="en-US" sz="2400" dirty="0"/>
              <a:t>4. </a:t>
            </a:r>
            <a:r>
              <a:rPr lang="en-US" altLang="en-US" sz="2400" b="1" i="1" u="sng" dirty="0">
                <a:solidFill>
                  <a:srgbClr val="FF99CC"/>
                </a:solidFill>
              </a:rPr>
              <a:t>Validate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FFC000"/>
                </a:solidFill>
              </a:rPr>
              <a:t>All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FFFFCC"/>
                </a:solidFill>
                <a:highlight>
                  <a:srgbClr val="808080"/>
                </a:highlight>
              </a:rPr>
              <a:t>Inputs</a:t>
            </a:r>
          </a:p>
          <a:p>
            <a:pPr marL="0" indent="0">
              <a:buNone/>
            </a:pPr>
            <a:r>
              <a:rPr lang="en-US" altLang="en-US" sz="2400" dirty="0"/>
              <a:t>5. </a:t>
            </a:r>
            <a:r>
              <a:rPr lang="en-US" altLang="en-US" sz="2400" b="1" i="1" u="sng" dirty="0">
                <a:solidFill>
                  <a:srgbClr val="FF99CC"/>
                </a:solidFill>
              </a:rPr>
              <a:t>Implement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FF0000"/>
                </a:solidFill>
              </a:rPr>
              <a:t>Identity</a:t>
            </a:r>
            <a:r>
              <a:rPr lang="en-US" altLang="en-US" sz="2400" dirty="0"/>
              <a:t> and </a:t>
            </a:r>
            <a:r>
              <a:rPr lang="en-US" altLang="en-US" sz="2400" b="1" i="1" u="sng" dirty="0">
                <a:solidFill>
                  <a:srgbClr val="FF0000"/>
                </a:solidFill>
              </a:rPr>
              <a:t>Authentication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FF0000"/>
                </a:solidFill>
              </a:rPr>
              <a:t>Controls</a:t>
            </a:r>
          </a:p>
          <a:p>
            <a:pPr marL="0" indent="0">
              <a:buNone/>
            </a:pPr>
            <a:r>
              <a:rPr lang="en-US" altLang="en-US" sz="2400" dirty="0"/>
              <a:t>6. </a:t>
            </a:r>
            <a:r>
              <a:rPr lang="en-US" altLang="en-US" sz="2400" b="1" i="1" u="sng" dirty="0">
                <a:solidFill>
                  <a:srgbClr val="FF99CC"/>
                </a:solidFill>
              </a:rPr>
              <a:t>Implement</a:t>
            </a:r>
            <a:r>
              <a:rPr lang="en-US" altLang="en-US" sz="2400" dirty="0"/>
              <a:t> appropriate </a:t>
            </a:r>
            <a:r>
              <a:rPr lang="en-US" altLang="en-US" sz="2400" b="1" i="1" u="sng" dirty="0">
                <a:solidFill>
                  <a:srgbClr val="FF0000"/>
                </a:solidFill>
              </a:rPr>
              <a:t>Access Controls</a:t>
            </a:r>
          </a:p>
          <a:p>
            <a:pPr marL="0" indent="0">
              <a:buNone/>
            </a:pPr>
            <a:r>
              <a:rPr lang="en-US" altLang="en-US" sz="2400" dirty="0"/>
              <a:t>7. </a:t>
            </a:r>
            <a:r>
              <a:rPr lang="en-US" altLang="en-US" sz="2400" b="1" i="1" u="sng" dirty="0">
                <a:solidFill>
                  <a:srgbClr val="FF99CC"/>
                </a:solidFill>
              </a:rPr>
              <a:t>Protect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FFFFCC"/>
                </a:solidFill>
                <a:highlight>
                  <a:srgbClr val="808080"/>
                </a:highlight>
              </a:rPr>
              <a:t>Data</a:t>
            </a:r>
          </a:p>
          <a:p>
            <a:pPr marL="0" indent="0">
              <a:buNone/>
            </a:pPr>
            <a:r>
              <a:rPr lang="en-US" altLang="en-US" sz="2400" dirty="0"/>
              <a:t>8. </a:t>
            </a:r>
            <a:r>
              <a:rPr lang="en-US" altLang="en-US" sz="2400" b="1" i="1" u="sng" dirty="0">
                <a:solidFill>
                  <a:srgbClr val="FF99CC"/>
                </a:solidFill>
              </a:rPr>
              <a:t>Implement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FF0000"/>
                </a:solidFill>
              </a:rPr>
              <a:t>Logging</a:t>
            </a:r>
            <a:r>
              <a:rPr lang="en-US" altLang="en-US" sz="2400" dirty="0"/>
              <a:t> and </a:t>
            </a:r>
            <a:r>
              <a:rPr lang="en-US" altLang="en-US" sz="2400" b="1" i="1" u="sng" dirty="0">
                <a:solidFill>
                  <a:srgbClr val="FF0000"/>
                </a:solidFill>
              </a:rPr>
              <a:t>Intrusion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FF0000"/>
                </a:solidFill>
              </a:rPr>
              <a:t>Detection</a:t>
            </a:r>
          </a:p>
          <a:p>
            <a:pPr marL="0" indent="0">
              <a:buNone/>
            </a:pPr>
            <a:r>
              <a:rPr lang="en-US" altLang="en-US" sz="2400" dirty="0"/>
              <a:t>9. </a:t>
            </a:r>
            <a:r>
              <a:rPr lang="en-US" altLang="en-US" sz="2400" b="1" i="1" u="sng" dirty="0">
                <a:solidFill>
                  <a:srgbClr val="FF99CC"/>
                </a:solidFill>
              </a:rPr>
              <a:t>Leverage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FF0000"/>
                </a:solidFill>
              </a:rPr>
              <a:t>Security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FF3300"/>
                </a:solidFill>
              </a:rPr>
              <a:t>Frameworks</a:t>
            </a:r>
            <a:r>
              <a:rPr lang="en-US" altLang="en-US" sz="2400" dirty="0"/>
              <a:t> and </a:t>
            </a:r>
            <a:r>
              <a:rPr lang="en-US" altLang="en-US" sz="2400" b="1" i="1" u="sng" dirty="0">
                <a:solidFill>
                  <a:srgbClr val="FF3300"/>
                </a:solidFill>
              </a:rPr>
              <a:t>Libraries</a:t>
            </a:r>
          </a:p>
          <a:p>
            <a:pPr marL="0" indent="0">
              <a:buNone/>
            </a:pPr>
            <a:r>
              <a:rPr lang="en-US" altLang="en-US" sz="2400" dirty="0"/>
              <a:t>10. </a:t>
            </a:r>
            <a:r>
              <a:rPr lang="en-US" altLang="en-US" sz="2400" b="1" i="1" u="sng" dirty="0">
                <a:solidFill>
                  <a:srgbClr val="FF0000"/>
                </a:solidFill>
              </a:rPr>
              <a:t>Error</a:t>
            </a:r>
            <a:r>
              <a:rPr lang="en-US" altLang="en-US" sz="2400" dirty="0"/>
              <a:t> and </a:t>
            </a:r>
            <a:r>
              <a:rPr lang="en-US" altLang="en-US" sz="2400" b="1" i="1" u="sng" dirty="0">
                <a:solidFill>
                  <a:srgbClr val="FF0000"/>
                </a:solidFill>
              </a:rPr>
              <a:t>Exception Handling</a:t>
            </a:r>
            <a:endParaRPr lang="en-US" altLang="en-US" sz="2000" b="1" i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51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D2437-0EB2-4D6F-89EF-594C98C29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563562"/>
          </a:xfrm>
        </p:spPr>
        <p:txBody>
          <a:bodyPr>
            <a:noAutofit/>
          </a:bodyPr>
          <a:lstStyle/>
          <a:p>
            <a:r>
              <a:rPr lang="en-US" sz="3200" dirty="0"/>
              <a:t>11 Biggest Threats to Online Security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3E4DE-C1E5-4FAA-874A-1FB61C3E9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0" y="838200"/>
            <a:ext cx="6400800" cy="5745162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Malware:</a:t>
            </a:r>
          </a:p>
          <a:p>
            <a:pPr lvl="1"/>
            <a:r>
              <a:rPr lang="en-US" dirty="0"/>
              <a:t>Virus</a:t>
            </a:r>
          </a:p>
          <a:p>
            <a:pPr lvl="1"/>
            <a:r>
              <a:rPr lang="en-US" dirty="0"/>
              <a:t>Adware</a:t>
            </a:r>
          </a:p>
          <a:p>
            <a:pPr lvl="1"/>
            <a:r>
              <a:rPr lang="en-US" dirty="0"/>
              <a:t>Spyware</a:t>
            </a:r>
          </a:p>
          <a:p>
            <a:pPr lvl="1"/>
            <a:r>
              <a:rPr lang="en-US" dirty="0" err="1"/>
              <a:t>Ransonware</a:t>
            </a:r>
            <a:endParaRPr lang="en-US" dirty="0"/>
          </a:p>
          <a:p>
            <a:pPr lvl="1"/>
            <a:r>
              <a:rPr lang="en-US" dirty="0"/>
              <a:t>Trojan Horses</a:t>
            </a:r>
          </a:p>
          <a:p>
            <a:pPr lvl="1"/>
            <a:r>
              <a:rPr lang="en-US" dirty="0"/>
              <a:t>Worms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Phishing:</a:t>
            </a:r>
          </a:p>
          <a:p>
            <a:pPr lvl="1"/>
            <a:r>
              <a:rPr lang="en-US" dirty="0"/>
              <a:t>Spear</a:t>
            </a:r>
          </a:p>
          <a:p>
            <a:pPr lvl="1"/>
            <a:r>
              <a:rPr lang="en-US" dirty="0"/>
              <a:t>Whale</a:t>
            </a:r>
          </a:p>
          <a:p>
            <a:pPr lvl="1"/>
            <a:r>
              <a:rPr lang="en-US" dirty="0"/>
              <a:t>Vishing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Pharming:</a:t>
            </a:r>
          </a:p>
          <a:p>
            <a:pPr lvl="1"/>
            <a:r>
              <a:rPr lang="en-US" dirty="0"/>
              <a:t>Large scale Phishing Ruse</a:t>
            </a:r>
          </a:p>
          <a:p>
            <a:pPr lvl="2"/>
            <a:r>
              <a:rPr lang="en-US" dirty="0"/>
              <a:t>DNS Cache / Server Poisoning</a:t>
            </a:r>
          </a:p>
        </p:txBody>
      </p:sp>
    </p:spTree>
    <p:extLst>
      <p:ext uri="{BB962C8B-B14F-4D97-AF65-F5344CB8AC3E}">
        <p14:creationId xmlns:p14="http://schemas.microsoft.com/office/powerpoint/2010/main" val="1624872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6E258-023B-48AB-B3C4-FBDB7DA99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457199"/>
          </a:xfrm>
        </p:spPr>
        <p:txBody>
          <a:bodyPr>
            <a:noAutofit/>
          </a:bodyPr>
          <a:lstStyle/>
          <a:p>
            <a:r>
              <a:rPr lang="en-US" sz="3200" dirty="0"/>
              <a:t>11 Biggest Threats to Online Security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EDA1E-FFC1-468A-8B8F-4C225865E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0" y="838200"/>
            <a:ext cx="6629400" cy="5745162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dirty="0"/>
              <a:t>Application Vulnerabilities</a:t>
            </a:r>
          </a:p>
          <a:p>
            <a:pPr lvl="1"/>
            <a:r>
              <a:rPr lang="en-US" dirty="0"/>
              <a:t>Most common problem: Improper Input Data Validation!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US" dirty="0"/>
              <a:t>Dos / DDoS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US" dirty="0"/>
              <a:t>Scams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US" dirty="0"/>
              <a:t>Rootkits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US" dirty="0"/>
              <a:t>SQL, Shell (OS), NoSQL, Script, LDAP Injection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/>
              <a:t>MITM</a:t>
            </a:r>
          </a:p>
          <a:p>
            <a:pPr marL="514350" indent="-514350">
              <a:buFont typeface="+mj-lt"/>
              <a:buAutoNum type="arabicPeriod" startAt="10"/>
            </a:pPr>
            <a:r>
              <a:rPr lang="en-US" dirty="0"/>
              <a:t>Spamming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 dirty="0"/>
              <a:t>Wireless (or otherwise) Eavesdropping</a:t>
            </a:r>
          </a:p>
        </p:txBody>
      </p:sp>
    </p:spTree>
    <p:extLst>
      <p:ext uri="{BB962C8B-B14F-4D97-AF65-F5344CB8AC3E}">
        <p14:creationId xmlns:p14="http://schemas.microsoft.com/office/powerpoint/2010/main" val="3797447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Secure Network Architecture Concepts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2286000" y="1417638"/>
            <a:ext cx="6400800" cy="5287962"/>
          </a:xfrm>
        </p:spPr>
        <p:txBody>
          <a:bodyPr>
            <a:normAutofit lnSpcReduction="10000"/>
          </a:bodyPr>
          <a:lstStyle/>
          <a:p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Zones </a:t>
            </a:r>
            <a:r>
              <a:rPr lang="en-US" altLang="en-US" sz="2400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{RVW. “</a:t>
            </a:r>
            <a:r>
              <a:rPr lang="en-US" altLang="en-US" sz="2400" b="1" i="1" u="sng" dirty="0" err="1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BigStack</a:t>
            </a:r>
            <a:r>
              <a:rPr lang="en-US" altLang="en-US" sz="2400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”}</a:t>
            </a:r>
          </a:p>
          <a:p>
            <a:pPr lvl="1"/>
            <a:r>
              <a:rPr lang="en-US" altLang="en-US" sz="2000" b="1" i="1" u="sng" dirty="0">
                <a:solidFill>
                  <a:srgbClr val="FF99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Compartmentalize</a:t>
            </a:r>
            <a:r>
              <a:rPr lang="en-US" altLang="en-US" sz="20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altLang="en-US" sz="2000" dirty="0"/>
              <a:t>our</a:t>
            </a:r>
            <a:r>
              <a:rPr lang="en-US" altLang="en-US" sz="20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Network Segments / VLANs</a:t>
            </a:r>
          </a:p>
          <a:p>
            <a:pPr lvl="2"/>
            <a:r>
              <a:rPr lang="en-US" altLang="en-US" sz="16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Intranet </a:t>
            </a:r>
            <a:r>
              <a:rPr lang="en-US" altLang="en-US" sz="1600" dirty="0"/>
              <a:t>(for example, the LMI)</a:t>
            </a:r>
            <a:endParaRPr lang="en-US" altLang="en-US" sz="1600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en-US" sz="2400" dirty="0"/>
              <a:t>Demilitarized zone (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DMZ</a:t>
            </a:r>
            <a:r>
              <a:rPr lang="en-US" altLang="en-US" sz="2400" dirty="0"/>
              <a:t>)</a:t>
            </a:r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Extranet</a:t>
            </a:r>
            <a:r>
              <a:rPr lang="en-US" altLang="en-US" sz="2400" dirty="0"/>
              <a:t> </a:t>
            </a:r>
          </a:p>
          <a:p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99CC"/>
                </a:highlight>
              </a:rPr>
              <a:t>Internet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sz="2400" dirty="0"/>
              <a:t>(Full, Public Network, Unsecured)</a:t>
            </a:r>
            <a:endParaRPr lang="en-US" altLang="en-US" sz="2400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9966"/>
                </a:highlight>
              </a:rPr>
              <a:t>Wireless</a:t>
            </a:r>
            <a:endParaRPr lang="en-US" altLang="en-US" dirty="0">
              <a:highlight>
                <a:srgbClr val="FF9966"/>
              </a:highlight>
            </a:endParaRPr>
          </a:p>
          <a:p>
            <a:pPr lvl="1">
              <a:buFontTx/>
              <a:buNone/>
            </a:pPr>
            <a:endParaRPr lang="en-US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848979"/>
            <a:ext cx="5486400" cy="242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34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572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Network </a:t>
            </a:r>
            <a:r>
              <a:rPr lang="en-US" altLang="en-US" sz="4000" b="1" i="1" u="sng" dirty="0">
                <a:solidFill>
                  <a:srgbClr val="FF99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Segmentation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230" y="1074368"/>
            <a:ext cx="5691170" cy="5549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842329-DD68-41AF-9ED4-0A520FD55893}"/>
              </a:ext>
            </a:extLst>
          </p:cNvPr>
          <p:cNvSpPr txBox="1"/>
          <p:nvPr/>
        </p:nvSpPr>
        <p:spPr>
          <a:xfrm>
            <a:off x="838200" y="1295400"/>
            <a:ext cx="3733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Physical</a:t>
            </a:r>
            <a:r>
              <a:rPr 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Wiring</a:t>
            </a:r>
            <a:r>
              <a:rPr lang="en-US" sz="2800" dirty="0"/>
              <a:t>  </a:t>
            </a:r>
          </a:p>
          <a:p>
            <a:r>
              <a:rPr 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Logical</a:t>
            </a:r>
            <a:r>
              <a:rPr 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L3 Subnetting</a:t>
            </a:r>
          </a:p>
          <a:p>
            <a:r>
              <a:rPr 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</a:t>
            </a:r>
            <a:r>
              <a:rPr 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Electronically</a:t>
            </a:r>
          </a:p>
          <a:p>
            <a:r>
              <a:rPr 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(Switches)</a:t>
            </a:r>
          </a:p>
        </p:txBody>
      </p:sp>
    </p:spTree>
    <p:extLst>
      <p:ext uri="{BB962C8B-B14F-4D97-AF65-F5344CB8AC3E}">
        <p14:creationId xmlns:p14="http://schemas.microsoft.com/office/powerpoint/2010/main" val="2601890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Honeypots</a:t>
            </a:r>
            <a:r>
              <a:rPr lang="en-US" dirty="0"/>
              <a:t> and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Honeynets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Honeypot</a:t>
            </a:r>
            <a:r>
              <a:rPr lang="en-US" dirty="0"/>
              <a:t>: An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Additional</a:t>
            </a:r>
            <a:r>
              <a:rPr lang="en-US" dirty="0"/>
              <a:t>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separate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993300"/>
                </a:solidFill>
              </a:rPr>
              <a:t>System</a:t>
            </a:r>
            <a:r>
              <a:rPr lang="en-US" dirty="0"/>
              <a:t> that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appears</a:t>
            </a:r>
            <a:r>
              <a:rPr lang="en-US" dirty="0"/>
              <a:t> to be an </a:t>
            </a:r>
            <a:r>
              <a:rPr lang="en-US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Attractive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Target</a:t>
            </a:r>
            <a:r>
              <a:rPr lang="en-US" dirty="0"/>
              <a:t> but is in reality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Trap For Attackers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Honeynet</a:t>
            </a:r>
            <a:r>
              <a:rPr lang="en-US" dirty="0"/>
              <a:t>: A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Fake Network Segment </a:t>
            </a:r>
            <a:r>
              <a:rPr lang="en-US" dirty="0"/>
              <a:t>that appears to be a </a:t>
            </a:r>
            <a:r>
              <a:rPr lang="en-US" dirty="0">
                <a:solidFill>
                  <a:srgbClr val="00B050"/>
                </a:solidFill>
              </a:rPr>
              <a:t>very enticing target</a:t>
            </a:r>
            <a:r>
              <a:rPr lang="en-US" dirty="0"/>
              <a:t> (a logical extension of a honeypot)</a:t>
            </a:r>
          </a:p>
          <a:p>
            <a:pPr lvl="1"/>
            <a:r>
              <a:rPr lang="en-US" dirty="0"/>
              <a:t>Sometimes called “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Jail Network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91440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Tunneling</a:t>
            </a:r>
            <a:r>
              <a:rPr lang="en-US" dirty="0"/>
              <a:t>/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VPN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165" y="2085974"/>
            <a:ext cx="6751673" cy="393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251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8FF2F-F971-49D4-BA83-D787F83B1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457199"/>
          </a:xfrm>
        </p:spPr>
        <p:txBody>
          <a:bodyPr>
            <a:normAutofit fontScale="90000"/>
          </a:bodyPr>
          <a:lstStyle/>
          <a:p>
            <a:r>
              <a:rPr lang="en-US" dirty="0"/>
              <a:t>Tunnel…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9D8BE-1C0C-4B1A-9678-596BF86FE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0" y="838200"/>
            <a:ext cx="6629400" cy="5745162"/>
          </a:xfrm>
        </p:spPr>
        <p:txBody>
          <a:bodyPr/>
          <a:lstStyle/>
          <a:p>
            <a:r>
              <a:rPr lang="en-US" dirty="0"/>
              <a:t>Technique using both:</a:t>
            </a:r>
          </a:p>
          <a:p>
            <a:pPr lvl="1"/>
            <a:r>
              <a:rPr lang="en-US" dirty="0"/>
              <a:t>Existing (Public) Protocols</a:t>
            </a:r>
          </a:p>
          <a:p>
            <a:pPr lvl="1"/>
            <a:r>
              <a:rPr lang="en-US" dirty="0"/>
              <a:t>Standardized Additional Protocols for additional, Superior Security</a:t>
            </a:r>
          </a:p>
          <a:p>
            <a:r>
              <a:rPr lang="en-US" dirty="0"/>
              <a:t>For:</a:t>
            </a:r>
          </a:p>
          <a:p>
            <a:pPr lvl="1"/>
            <a:r>
              <a:rPr lang="en-US" dirty="0"/>
              <a:t>Private Data Communication</a:t>
            </a:r>
          </a:p>
          <a:p>
            <a:pPr lvl="1"/>
            <a:r>
              <a:rPr lang="en-US" dirty="0"/>
              <a:t>Over Public Networks</a:t>
            </a:r>
          </a:p>
          <a:p>
            <a:pPr lvl="2"/>
            <a:r>
              <a:rPr lang="en-US" dirty="0"/>
              <a:t>Using Standard Public Carrier Protocols</a:t>
            </a:r>
          </a:p>
          <a:p>
            <a:pPr lvl="3"/>
            <a:r>
              <a:rPr lang="en-US" dirty="0"/>
              <a:t>L2::Ethernet or PPP </a:t>
            </a:r>
          </a:p>
          <a:p>
            <a:pPr lvl="3"/>
            <a:r>
              <a:rPr lang="en-US" dirty="0"/>
              <a:t>L3::IP</a:t>
            </a:r>
          </a:p>
          <a:p>
            <a:pPr lvl="3"/>
            <a:r>
              <a:rPr lang="en-US" dirty="0"/>
              <a:t>L4::TCP or UDP</a:t>
            </a:r>
          </a:p>
        </p:txBody>
      </p:sp>
    </p:spTree>
    <p:extLst>
      <p:ext uri="{BB962C8B-B14F-4D97-AF65-F5344CB8AC3E}">
        <p14:creationId xmlns:p14="http://schemas.microsoft.com/office/powerpoint/2010/main" val="348037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30860-5324-4CA5-891B-803CFDCF5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Tunnel…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25DC7-D07C-4A7D-872C-9F7FE62F8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0" y="914400"/>
            <a:ext cx="6629400" cy="5668962"/>
          </a:xfrm>
        </p:spPr>
        <p:txBody>
          <a:bodyPr>
            <a:normAutofit fontScale="77500" lnSpcReduction="20000"/>
          </a:bodyPr>
          <a:lstStyle/>
          <a:p>
            <a:r>
              <a:rPr lang="en-US" b="1" i="1" u="sng" dirty="0">
                <a:solidFill>
                  <a:srgbClr val="FF99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Technique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First “</a:t>
            </a:r>
            <a:r>
              <a:rPr lang="en-US" b="1" i="1" u="sng" dirty="0">
                <a:solidFill>
                  <a:srgbClr val="FF99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Encapsulate</a:t>
            </a:r>
            <a:r>
              <a:rPr lang="en-US" dirty="0"/>
              <a:t>” the Payload, as per normal</a:t>
            </a:r>
          </a:p>
          <a:p>
            <a:pPr lvl="2"/>
            <a:r>
              <a:rPr lang="en-US" dirty="0"/>
              <a:t>L2 and L3 (minimally)</a:t>
            </a:r>
          </a:p>
          <a:p>
            <a:pPr lvl="1"/>
            <a:r>
              <a:rPr lang="en-US" dirty="0"/>
              <a:t>Then “</a:t>
            </a:r>
            <a:r>
              <a:rPr lang="en-US" b="1" i="1" u="sng" dirty="0">
                <a:solidFill>
                  <a:srgbClr val="FF99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Insulate</a:t>
            </a:r>
            <a:r>
              <a:rPr lang="en-US" dirty="0"/>
              <a:t>” / “</a:t>
            </a:r>
            <a:r>
              <a:rPr lang="en-US" b="1" i="1" u="sng" dirty="0">
                <a:solidFill>
                  <a:srgbClr val="FF99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Encapsulate</a:t>
            </a:r>
            <a:r>
              <a:rPr lang="en-US" dirty="0"/>
              <a:t>” the Payload </a:t>
            </a:r>
          </a:p>
          <a:p>
            <a:pPr lvl="2"/>
            <a:r>
              <a:rPr lang="en-US" dirty="0"/>
              <a:t>As it travels on the Public Network using Public (well known, well-attacked) Protocols</a:t>
            </a:r>
          </a:p>
          <a:p>
            <a:pPr lvl="1"/>
            <a:r>
              <a:rPr lang="en-US" dirty="0"/>
              <a:t>Next, </a:t>
            </a:r>
            <a:r>
              <a:rPr lang="en-US" b="1" i="1" u="sng" dirty="0">
                <a:solidFill>
                  <a:srgbClr val="FF99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Wrap</a:t>
            </a:r>
            <a:r>
              <a:rPr lang="en-US" dirty="0"/>
              <a:t> your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Private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IP “Packet” </a:t>
            </a:r>
            <a:r>
              <a:rPr lang="en-US" dirty="0"/>
              <a:t>inside of</a:t>
            </a:r>
          </a:p>
          <a:p>
            <a:pPr lvl="2"/>
            <a:r>
              <a:rPr lang="en-US" dirty="0"/>
              <a:t>Yet-Another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Publicly</a:t>
            </a:r>
            <a:r>
              <a:rPr lang="en-US" dirty="0"/>
              <a:t>-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Routable</a:t>
            </a:r>
            <a:r>
              <a:rPr lang="en-US" dirty="0"/>
              <a:t> IP “Packet”</a:t>
            </a:r>
          </a:p>
          <a:p>
            <a:pPr lvl="3"/>
            <a:r>
              <a:rPr lang="en-US" dirty="0"/>
              <a:t>the Outer / Public being the “</a:t>
            </a:r>
            <a:r>
              <a:rPr lang="en-US" b="1" i="1" u="sng" dirty="0">
                <a:solidFill>
                  <a:srgbClr val="00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Carrier</a:t>
            </a:r>
            <a:r>
              <a:rPr lang="en-US" dirty="0"/>
              <a:t>” Packet</a:t>
            </a:r>
          </a:p>
          <a:p>
            <a:pPr lvl="4"/>
            <a:r>
              <a:rPr lang="en-US" dirty="0"/>
              <a:t>Analogue – Put your Private Letter inside an Envelope (Public Carrier for the letter)</a:t>
            </a:r>
          </a:p>
          <a:p>
            <a:pPr lvl="1"/>
            <a:r>
              <a:rPr lang="en-US" dirty="0"/>
              <a:t>Finally,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Encrypt</a:t>
            </a:r>
            <a:r>
              <a:rPr lang="en-US" dirty="0"/>
              <a:t> the Private / Inner / Payload Packet/s</a:t>
            </a:r>
          </a:p>
          <a:p>
            <a:r>
              <a:rPr lang="en-US" dirty="0"/>
              <a:t>NOTE – starts Encryption from (commonly)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L2</a:t>
            </a:r>
            <a:r>
              <a:rPr lang="en-US" dirty="0"/>
              <a:t> (</a:t>
            </a:r>
            <a:r>
              <a:rPr lang="en-US" b="1" i="1" u="sng" dirty="0">
                <a:solidFill>
                  <a:srgbClr val="FF6600"/>
                </a:solidFill>
              </a:rPr>
              <a:t>If Use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EAP</a:t>
            </a:r>
            <a:r>
              <a:rPr lang="en-US" dirty="0"/>
              <a:t>) all the way up the remainder of the Network Stack</a:t>
            </a:r>
          </a:p>
          <a:p>
            <a:r>
              <a:rPr lang="en-US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{{{ Correlate to </a:t>
            </a:r>
            <a:r>
              <a:rPr lang="en-US" b="1" i="1" u="sng" dirty="0" err="1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BigStack</a:t>
            </a:r>
            <a:r>
              <a:rPr lang="en-US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}}}}</a:t>
            </a:r>
          </a:p>
        </p:txBody>
      </p:sp>
    </p:spTree>
    <p:extLst>
      <p:ext uri="{BB962C8B-B14F-4D97-AF65-F5344CB8AC3E}">
        <p14:creationId xmlns:p14="http://schemas.microsoft.com/office/powerpoint/2010/main" val="984490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219200"/>
            <a:ext cx="6400800" cy="5257800"/>
          </a:xfrm>
        </p:spPr>
        <p:txBody>
          <a:bodyPr>
            <a:normAutofit fontScale="92500"/>
          </a:bodyPr>
          <a:lstStyle/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Firewalls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{Corr. To </a:t>
            </a:r>
            <a:r>
              <a:rPr lang="en-US" b="1" i="1" u="sng" dirty="0" err="1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BigStack</a:t>
            </a:r>
            <a:r>
              <a:rPr lang="en-US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 Filtering FW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([L2 &amp;] L3)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Port Filtering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(L4)</a:t>
            </a:r>
            <a:endParaRPr lang="en-US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Proxy FW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(L5 [and above])</a:t>
            </a:r>
            <a:endParaRPr lang="en-US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Stateful FW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([L2 –] L7 [&amp; Beyond])</a:t>
            </a:r>
            <a:endParaRPr lang="en-US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Next Gen FW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(All Layers &amp; Beyond)</a:t>
            </a:r>
            <a:endParaRPr lang="en-US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/>
              <a:t>Software-defined networking (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SDN</a:t>
            </a:r>
            <a:r>
              <a:rPr lang="en-US" dirty="0"/>
              <a:t>)</a:t>
            </a:r>
          </a:p>
          <a:p>
            <a:pPr lvl="1"/>
            <a:r>
              <a:rPr lang="en-US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  <a:r>
              <a:rPr lang="en-US" b="1" i="1" u="sng" dirty="0" err="1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BigStack</a:t>
            </a:r>
            <a:r>
              <a:rPr lang="en-US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Diagram}</a:t>
            </a:r>
          </a:p>
          <a:p>
            <a:pPr lvl="2"/>
            <a:r>
              <a:rPr lang="en-US" dirty="0"/>
              <a:t>Note – slowly starting to implement various degrees of SDN-Capability in Clouds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IDS</a:t>
            </a:r>
            <a:r>
              <a:rPr lang="en-US" dirty="0"/>
              <a:t>/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11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Secure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Systems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</a:t>
            </a:r>
            <a:r>
              <a:rPr lang="en-US" dirty="0"/>
              <a:t> and </a:t>
            </a:r>
            <a:r>
              <a:rPr lang="en-US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Firmware</a:t>
            </a:r>
          </a:p>
          <a:p>
            <a:pPr lvl="1"/>
            <a:r>
              <a:rPr lang="en-US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UEFI</a:t>
            </a:r>
            <a:endParaRPr lang="en-US" dirty="0"/>
          </a:p>
          <a:p>
            <a:pPr lvl="2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Unified Extensible Firmware Interface</a:t>
            </a:r>
          </a:p>
          <a:p>
            <a:pPr lvl="2"/>
            <a:r>
              <a:rPr lang="en-US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{FYI – “Flash” versus “</a:t>
            </a:r>
            <a:r>
              <a:rPr lang="en-US" b="1" i="1" u="sng" dirty="0" err="1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Phlash</a:t>
            </a:r>
            <a:r>
              <a:rPr lang="en-US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”}</a:t>
            </a:r>
          </a:p>
          <a:p>
            <a:pPr lvl="1"/>
            <a:r>
              <a:rPr lang="en-US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BIOS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{Old Term-Replaced by “UEFI” or “Firmware”}</a:t>
            </a:r>
          </a:p>
          <a:p>
            <a:r>
              <a:rPr lang="en-US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Operating</a:t>
            </a:r>
            <a:r>
              <a:rPr lang="en-US" dirty="0"/>
              <a:t> </a:t>
            </a:r>
            <a:r>
              <a:rPr lang="en-US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Systems Software:</a:t>
            </a:r>
          </a:p>
          <a:p>
            <a:pPr lvl="1"/>
            <a:r>
              <a:rPr lang="en-US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(Internal </a:t>
            </a:r>
            <a:r>
              <a:rPr lang="en-US" b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Fx</a:t>
            </a:r>
            <a:r>
              <a:rPr lang="en-US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Components – Managers)</a:t>
            </a:r>
          </a:p>
          <a:p>
            <a:pPr lvl="1"/>
            <a:r>
              <a:rPr lang="en-US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Drivers</a:t>
            </a:r>
          </a:p>
          <a:p>
            <a:pPr lvl="1"/>
            <a:r>
              <a:rPr lang="en-US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Services</a:t>
            </a:r>
          </a:p>
          <a:p>
            <a:pPr lvl="1"/>
            <a:r>
              <a:rPr lang="en-US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Applications</a:t>
            </a:r>
          </a:p>
          <a:p>
            <a:r>
              <a:rPr lang="en-US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Peripherals</a:t>
            </a:r>
          </a:p>
          <a:p>
            <a:pPr lvl="1"/>
            <a:r>
              <a:rPr lang="en-US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{follow Mfg. Recommendations/BP}</a:t>
            </a:r>
            <a:endParaRPr lang="en-US" dirty="0">
              <a:solidFill>
                <a:srgbClr val="FF3399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596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2082</TotalTime>
  <Words>751</Words>
  <Application>Microsoft Office PowerPoint</Application>
  <PresentationFormat>On-screen Show (4:3)</PresentationFormat>
  <Paragraphs>140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CompTIA Security+ Study Guide (SY0-501)</vt:lpstr>
      <vt:lpstr>Chapter 2: Monitoring and Diagnosing Networks</vt:lpstr>
      <vt:lpstr>Framework</vt:lpstr>
      <vt:lpstr>Frameworks, Best Practices, and Configuration Guides </vt:lpstr>
      <vt:lpstr>Payment Card Industry Data Security Standard (PCI-DSS)</vt:lpstr>
      <vt:lpstr>Open Web Application Security Project (OWASP)</vt:lpstr>
      <vt:lpstr>11 Biggest Threats to Online Security </vt:lpstr>
      <vt:lpstr>11 Biggest Threats to Online Security </vt:lpstr>
      <vt:lpstr>Secure Network Architecture Concepts</vt:lpstr>
      <vt:lpstr>Network Segmentation</vt:lpstr>
      <vt:lpstr>Honeypots and Honeynets</vt:lpstr>
      <vt:lpstr>Tunneling/VPN</vt:lpstr>
      <vt:lpstr>Tunnel…</vt:lpstr>
      <vt:lpstr>Tunnel…</vt:lpstr>
      <vt:lpstr>Security Devices</vt:lpstr>
      <vt:lpstr>Secure Systems Design</vt:lpstr>
    </vt:vector>
  </TitlesOfParts>
  <Company>John Wiley and Sons,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O'Brien, Connor - San Francisco</dc:creator>
  <cp:lastModifiedBy>Ricky Gibson</cp:lastModifiedBy>
  <cp:revision>43</cp:revision>
  <dcterms:created xsi:type="dcterms:W3CDTF">2013-06-05T20:52:46Z</dcterms:created>
  <dcterms:modified xsi:type="dcterms:W3CDTF">2020-04-13T20:59:19Z</dcterms:modified>
</cp:coreProperties>
</file>