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37"/>
  </p:notesMasterIdLst>
  <p:sldIdLst>
    <p:sldId id="256" r:id="rId2"/>
    <p:sldId id="271" r:id="rId3"/>
    <p:sldId id="268" r:id="rId4"/>
    <p:sldId id="269" r:id="rId5"/>
    <p:sldId id="272" r:id="rId6"/>
    <p:sldId id="270" r:id="rId7"/>
    <p:sldId id="273" r:id="rId8"/>
    <p:sldId id="274" r:id="rId9"/>
    <p:sldId id="276" r:id="rId10"/>
    <p:sldId id="275" r:id="rId11"/>
    <p:sldId id="294" r:id="rId12"/>
    <p:sldId id="296" r:id="rId13"/>
    <p:sldId id="295" r:id="rId14"/>
    <p:sldId id="277" r:id="rId15"/>
    <p:sldId id="278" r:id="rId16"/>
    <p:sldId id="279" r:id="rId17"/>
    <p:sldId id="281" r:id="rId18"/>
    <p:sldId id="297" r:id="rId19"/>
    <p:sldId id="298" r:id="rId20"/>
    <p:sldId id="299" r:id="rId21"/>
    <p:sldId id="300" r:id="rId22"/>
    <p:sldId id="280" r:id="rId23"/>
    <p:sldId id="282" r:id="rId24"/>
    <p:sldId id="284" r:id="rId25"/>
    <p:sldId id="285" r:id="rId26"/>
    <p:sldId id="283" r:id="rId27"/>
    <p:sldId id="287" r:id="rId28"/>
    <p:sldId id="288" r:id="rId29"/>
    <p:sldId id="289" r:id="rId30"/>
    <p:sldId id="301" r:id="rId31"/>
    <p:sldId id="286" r:id="rId32"/>
    <p:sldId id="290" r:id="rId33"/>
    <p:sldId id="292" r:id="rId34"/>
    <p:sldId id="293" r:id="rId35"/>
    <p:sldId id="267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9933"/>
    <a:srgbClr val="00FF00"/>
    <a:srgbClr val="FF99CC"/>
    <a:srgbClr val="FFFF99"/>
    <a:srgbClr val="FF6600"/>
    <a:srgbClr val="FFFFCC"/>
    <a:srgbClr val="990000"/>
    <a:srgbClr val="99FF99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581" autoAdjust="0"/>
    <p:restoredTop sz="90929"/>
  </p:normalViewPr>
  <p:slideViewPr>
    <p:cSldViewPr>
      <p:cViewPr varScale="1">
        <p:scale>
          <a:sx n="87" d="100"/>
          <a:sy n="87" d="100"/>
        </p:scale>
        <p:origin x="19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13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7AD8389-6D87-4CD7-90AB-FBC08E2387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28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39D14F-5EA6-41E5-AAC8-6D67333C3502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340428"/>
            <a:ext cx="9144000" cy="4572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BD8-DAA7-440A-BC41-CABD1FCB59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4196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1700" b="1" baseline="0">
                <a:solidFill>
                  <a:srgbClr val="FFC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 b="1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IQ-Share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181600" y="228600"/>
            <a:ext cx="3733800" cy="1550709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9" name="Picture 8" descr="IQ-Share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28600" y="6245601"/>
            <a:ext cx="1219200" cy="5063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24087" y="6322483"/>
            <a:ext cx="2591025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501650"/>
          </a:xfrm>
        </p:spPr>
        <p:txBody>
          <a:bodyPr/>
          <a:lstStyle>
            <a:lvl1pPr>
              <a:defRPr b="1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10540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01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1334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rgbClr val="FFC00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99C1-B502-408C-851D-83DBFAA889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Q-Share 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9600" y="6240521"/>
            <a:ext cx="1219200" cy="5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8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4351E-8690-46CF-B3B4-E8AB4B92A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5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8673-1EBD-4550-9752-05BCF6B555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7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2F7C-F03C-4F22-9DE9-30576CEFD9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4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9A13-85B8-44BD-B88D-42E0432334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5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A14-2454-4B0F-B9C7-DDE6405EF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6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17A1-31C4-454F-9DB6-884F18BBC6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IQ-Share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09600" y="6108341"/>
            <a:ext cx="1219200" cy="5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8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ADDE7-E57C-46A1-90C8-57B5EF3201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8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4672-6D41-417D-A15A-D0A490FB0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2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4873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686800" cy="5333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52F0BBD8-DAA7-440A-BC41-CABD1FCB594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IQ-Share Logo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601133" y="6103173"/>
            <a:ext cx="1219200" cy="5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12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b="1" u="sng" kern="1200" cap="all" spc="50" baseline="0">
          <a:solidFill>
            <a:srgbClr val="FFC00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2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6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o.org/home.html" TargetMode="External"/><Relationship Id="rId3" Type="http://schemas.openxmlformats.org/officeDocument/2006/relationships/hyperlink" Target="https://www.nist.gov/" TargetMode="External"/><Relationship Id="rId7" Type="http://schemas.openxmlformats.org/officeDocument/2006/relationships/hyperlink" Target="https://www.ieee.org/" TargetMode="External"/><Relationship Id="rId2" Type="http://schemas.openxmlformats.org/officeDocument/2006/relationships/hyperlink" Target="https://www.cisecurity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" TargetMode="External"/><Relationship Id="rId5" Type="http://schemas.openxmlformats.org/officeDocument/2006/relationships/hyperlink" Target="https://www.nsa.gov/" TargetMode="External"/><Relationship Id="rId10" Type="http://schemas.openxmlformats.org/officeDocument/2006/relationships/hyperlink" Target="https://www.itu.int/en/Pages/default.aspx" TargetMode="External"/><Relationship Id="rId4" Type="http://schemas.openxmlformats.org/officeDocument/2006/relationships/hyperlink" Target="https://www.internetsociety.org/" TargetMode="External"/><Relationship Id="rId9" Type="http://schemas.openxmlformats.org/officeDocument/2006/relationships/hyperlink" Target="https://ietf.org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stwatchdog.com/" TargetMode="External"/><Relationship Id="rId3" Type="http://schemas.openxmlformats.org/officeDocument/2006/relationships/hyperlink" Target="https://danielmiessler.com/blog/" TargetMode="External"/><Relationship Id="rId7" Type="http://schemas.openxmlformats.org/officeDocument/2006/relationships/hyperlink" Target="https://www.cybersecurity-insiders.com/" TargetMode="External"/><Relationship Id="rId2" Type="http://schemas.openxmlformats.org/officeDocument/2006/relationships/hyperlink" Target="https://thehackernew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dam.shostack.org/blog/" TargetMode="External"/><Relationship Id="rId5" Type="http://schemas.openxmlformats.org/officeDocument/2006/relationships/hyperlink" Target="https://www.darkreading.com/" TargetMode="External"/><Relationship Id="rId4" Type="http://schemas.openxmlformats.org/officeDocument/2006/relationships/hyperlink" Target="https://www.csoonline.com/news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A6BB780-0ADC-4BCC-9692-808C7C6A6294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4114800"/>
            <a:ext cx="7620000" cy="1828800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en-US" sz="3600" dirty="0"/>
              <a:t>Foundational Topics</a:t>
            </a:r>
            <a:endParaRPr lang="en-US" dirty="0"/>
          </a:p>
          <a:p>
            <a:pPr algn="ctr">
              <a:spcBef>
                <a:spcPts val="0"/>
              </a:spcBef>
            </a:pPr>
            <a:r>
              <a:rPr lang="en-US" dirty="0"/>
              <a:t>Textbook + Extra References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905000"/>
            <a:ext cx="7772400" cy="16002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Comptia security  Plus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4615-4C79-4954-925B-13FEE417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Code…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F1BE8-ABA6-47D2-81B0-4665648E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F4ADD-25CE-4150-A966-F03117C733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i="1" u="sng" dirty="0">
                <a:solidFill>
                  <a:srgbClr val="FFC000"/>
                </a:solidFill>
              </a:rPr>
              <a:t>Main Point </a:t>
            </a:r>
            <a:r>
              <a:rPr lang="en-US" dirty="0"/>
              <a:t> {Know these – they are Testable}</a:t>
            </a:r>
            <a:endParaRPr lang="en-US" b="1" i="1" u="sng" dirty="0">
              <a:solidFill>
                <a:srgbClr val="FFC000"/>
              </a:solidFill>
            </a:endParaRPr>
          </a:p>
          <a:p>
            <a:r>
              <a:rPr lang="en-US" b="1" i="1" u="sng" dirty="0">
                <a:solidFill>
                  <a:srgbClr val="FF3399"/>
                </a:solidFill>
              </a:rPr>
              <a:t>{ Rick’s Notes of Importance }</a:t>
            </a:r>
            <a:r>
              <a:rPr lang="en-US" dirty="0">
                <a:solidFill>
                  <a:srgbClr val="FF3399"/>
                </a:solidFill>
              </a:rPr>
              <a:t> </a:t>
            </a:r>
            <a:r>
              <a:rPr lang="en-US" dirty="0"/>
              <a:t>{Definitely something to know}</a:t>
            </a:r>
            <a:endParaRPr lang="en-US" b="1" i="1" u="sng" dirty="0"/>
          </a:p>
          <a:p>
            <a:r>
              <a:rPr lang="en-US" b="1" i="1" u="sng" dirty="0">
                <a:solidFill>
                  <a:srgbClr val="0070C0"/>
                </a:solidFill>
              </a:rPr>
              <a:t>Standard</a:t>
            </a:r>
            <a:r>
              <a:rPr lang="en-US" dirty="0"/>
              <a:t> or </a:t>
            </a:r>
            <a:r>
              <a:rPr lang="en-US" b="1" i="1" u="sng" dirty="0">
                <a:solidFill>
                  <a:srgbClr val="0070C0"/>
                </a:solidFill>
              </a:rPr>
              <a:t>Best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Practice</a:t>
            </a:r>
            <a:r>
              <a:rPr lang="en-US" dirty="0"/>
              <a:t> {You are expected to know these}</a:t>
            </a:r>
            <a:endParaRPr lang="en-US" b="1" i="1" u="sng" dirty="0">
              <a:solidFill>
                <a:srgbClr val="0070C0"/>
              </a:solidFill>
            </a:endParaRPr>
          </a:p>
          <a:p>
            <a:r>
              <a:rPr lang="en-US" b="1" i="1" u="sng" dirty="0">
                <a:solidFill>
                  <a:srgbClr val="FF9933"/>
                </a:solidFill>
              </a:rPr>
              <a:t>Scheme/a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9933"/>
                </a:solidFill>
              </a:rPr>
              <a:t>Design</a:t>
            </a:r>
          </a:p>
          <a:p>
            <a:r>
              <a:rPr lang="en-US" b="1" i="1" u="sng" dirty="0">
                <a:solidFill>
                  <a:srgbClr val="FF6600"/>
                </a:solidFill>
              </a:rPr>
              <a:t>Hardware, Technology</a:t>
            </a:r>
          </a:p>
          <a:p>
            <a:r>
              <a:rPr lang="en-US" b="1" i="1" u="sng" dirty="0">
                <a:solidFill>
                  <a:srgbClr val="FF99CC"/>
                </a:solidFill>
              </a:rPr>
              <a:t>Function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99CC"/>
                </a:solidFill>
              </a:rPr>
              <a:t>Action</a:t>
            </a:r>
          </a:p>
          <a:p>
            <a:r>
              <a:rPr lang="en-US" b="1" i="1" u="sng" dirty="0">
                <a:solidFill>
                  <a:srgbClr val="99CCFF"/>
                </a:solidFill>
              </a:rPr>
              <a:t>Documentation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FF0000"/>
                </a:solidFill>
              </a:rPr>
              <a:t>Critical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0000"/>
                </a:solidFill>
              </a:rPr>
              <a:t>Control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0000"/>
                </a:solidFill>
              </a:rPr>
              <a:t>Highest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</a:rPr>
              <a:t>Security</a:t>
            </a:r>
          </a:p>
          <a:p>
            <a:r>
              <a:rPr lang="en-US" b="1" i="1" u="sng" dirty="0">
                <a:solidFill>
                  <a:srgbClr val="FFFFCC"/>
                </a:solidFill>
              </a:rPr>
              <a:t>Data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FFCC"/>
                </a:solidFill>
              </a:rPr>
              <a:t>Criteria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FFCC"/>
                </a:solidFill>
              </a:rPr>
              <a:t>Context</a:t>
            </a:r>
          </a:p>
          <a:p>
            <a:r>
              <a:rPr lang="en-US" b="1" i="1" u="sng" dirty="0">
                <a:solidFill>
                  <a:srgbClr val="FFCC99"/>
                </a:solidFill>
              </a:rPr>
              <a:t>Information, Software</a:t>
            </a:r>
          </a:p>
          <a:p>
            <a:r>
              <a:rPr lang="en-US" b="1" i="1" u="sng" dirty="0">
                <a:solidFill>
                  <a:srgbClr val="CC9900"/>
                </a:solidFill>
              </a:rPr>
              <a:t>Pictorial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CC9900"/>
                </a:solidFill>
              </a:rPr>
              <a:t>Artistic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CC9900"/>
                </a:solidFill>
              </a:rPr>
              <a:t>Graphic</a:t>
            </a:r>
          </a:p>
          <a:p>
            <a:r>
              <a:rPr lang="en-US" b="1" i="1" u="sng" dirty="0">
                <a:solidFill>
                  <a:srgbClr val="993300"/>
                </a:solidFill>
              </a:rPr>
              <a:t>Systems</a:t>
            </a:r>
          </a:p>
          <a:p>
            <a:r>
              <a:rPr lang="en-US" b="1" i="1" u="sng" dirty="0">
                <a:solidFill>
                  <a:srgbClr val="00B0F0"/>
                </a:solidFill>
              </a:rPr>
              <a:t>Individuals</a:t>
            </a:r>
            <a:endParaRPr lang="en-US" dirty="0"/>
          </a:p>
          <a:p>
            <a:r>
              <a:rPr lang="en-US" sz="2800" b="1" i="1" u="sng" dirty="0">
                <a:solidFill>
                  <a:srgbClr val="66FFCC"/>
                </a:solidFill>
              </a:rPr>
              <a:t>Classification, Type</a:t>
            </a:r>
            <a:endParaRPr lang="en-US" dirty="0"/>
          </a:p>
          <a:p>
            <a:r>
              <a:rPr lang="en-US" b="1" i="1" u="sng" dirty="0">
                <a:solidFill>
                  <a:srgbClr val="669900"/>
                </a:solidFill>
              </a:rPr>
              <a:t>Damage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669900"/>
                </a:solidFill>
              </a:rPr>
              <a:t>Loss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669900"/>
                </a:solidFill>
              </a:rPr>
              <a:t>Negative</a:t>
            </a:r>
          </a:p>
          <a:p>
            <a:r>
              <a:rPr lang="en-US" b="1" i="1" u="sng" dirty="0">
                <a:solidFill>
                  <a:srgbClr val="00B050"/>
                </a:solidFill>
              </a:rPr>
              <a:t>Asset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00B050"/>
                </a:solidFill>
              </a:rPr>
              <a:t>Business-Related</a:t>
            </a:r>
          </a:p>
          <a:p>
            <a:r>
              <a:rPr lang="en-US" b="1" i="1" u="sng" dirty="0">
                <a:solidFill>
                  <a:srgbClr val="FFFF00"/>
                </a:solidFill>
              </a:rPr>
              <a:t>Facts</a:t>
            </a:r>
          </a:p>
          <a:p>
            <a:r>
              <a:rPr lang="en-US" b="1" i="1" u="sng" dirty="0">
                <a:solidFill>
                  <a:schemeClr val="bg1"/>
                </a:solidFill>
                <a:highlight>
                  <a:srgbClr val="FFFF00"/>
                </a:highlight>
              </a:rPr>
              <a:t>Time Frame, Dates, Temporal </a:t>
            </a:r>
          </a:p>
          <a:p>
            <a:r>
              <a:rPr lang="en-US" b="1" i="1" u="sng" dirty="0">
                <a:solidFill>
                  <a:srgbClr val="FFFF99"/>
                </a:solidFill>
              </a:rPr>
              <a:t>Measurement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FF99"/>
                </a:solidFill>
              </a:rPr>
              <a:t>Mathematical, Relationships</a:t>
            </a:r>
            <a:endParaRPr lang="en-US" b="1" i="1" u="sng" dirty="0">
              <a:solidFill>
                <a:srgbClr val="FFCC99"/>
              </a:solidFill>
            </a:endParaRP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58259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B00B-133A-41F1-8413-99A191D7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165101-F7FE-48BD-A16A-1E65942E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B1B13-2C68-4FFF-822A-F4C0357380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Basic security Concepts / Terminology:</a:t>
            </a:r>
          </a:p>
          <a:p>
            <a:pPr lvl="1"/>
            <a:r>
              <a:rPr lang="en-US" dirty="0"/>
              <a:t>CIA Triad</a:t>
            </a:r>
          </a:p>
          <a:p>
            <a:pPr lvl="1"/>
            <a:r>
              <a:rPr lang="en-US" dirty="0"/>
              <a:t>Risks, Threats, Vulnerabilities</a:t>
            </a:r>
          </a:p>
          <a:p>
            <a:pPr lvl="1"/>
            <a:r>
              <a:rPr lang="en-US" dirty="0"/>
              <a:t>Security Controls</a:t>
            </a:r>
          </a:p>
          <a:p>
            <a:pPr lvl="1"/>
            <a:r>
              <a:rPr lang="en-US" dirty="0"/>
              <a:t>Events and Incidents</a:t>
            </a:r>
          </a:p>
          <a:p>
            <a:r>
              <a:rPr lang="en-US" dirty="0"/>
              <a:t>How to calculate and manage risks</a:t>
            </a:r>
          </a:p>
          <a:p>
            <a:r>
              <a:rPr lang="en-US" dirty="0"/>
              <a:t>How to find vulnerabilities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2447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44BA-0712-4452-B52F-5C7800A6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CIA Triad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B7F75-88D2-41E3-AA67-0D8F4C34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7E75E-1BA1-4EDF-B54D-734DBFD1BF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 </a:t>
            </a:r>
            <a:r>
              <a:rPr lang="en-US" sz="4100" b="1" i="1" u="sng" dirty="0">
                <a:solidFill>
                  <a:srgbClr val="0070C0"/>
                </a:solidFill>
              </a:rPr>
              <a:t>Model</a:t>
            </a:r>
            <a:r>
              <a:rPr lang="en-US" dirty="0"/>
              <a:t> to </a:t>
            </a:r>
            <a:r>
              <a:rPr lang="en-US" b="1" i="1" u="sng" dirty="0">
                <a:solidFill>
                  <a:srgbClr val="FF99CC"/>
                </a:solidFill>
              </a:rPr>
              <a:t>Guide</a:t>
            </a:r>
            <a:r>
              <a:rPr lang="en-US" dirty="0"/>
              <a:t> the </a:t>
            </a:r>
            <a:r>
              <a:rPr lang="en-US" b="1" i="1" u="sng" dirty="0">
                <a:solidFill>
                  <a:srgbClr val="FF99CC"/>
                </a:solidFill>
              </a:rPr>
              <a:t>formation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F99CC"/>
                </a:solidFill>
              </a:rPr>
              <a:t>enforcement</a:t>
            </a:r>
            <a:r>
              <a:rPr lang="en-US" dirty="0"/>
              <a:t> of </a:t>
            </a:r>
            <a:r>
              <a:rPr lang="en-US" b="1" i="1" u="sng" dirty="0">
                <a:solidFill>
                  <a:srgbClr val="FFFFCC"/>
                </a:solidFill>
              </a:rPr>
              <a:t>Information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9CCFF"/>
                </a:solidFill>
              </a:rPr>
              <a:t>Policies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FYI – “</a:t>
            </a:r>
            <a:r>
              <a:rPr lang="en-US" sz="3100" b="1" i="1" u="sng" dirty="0">
                <a:solidFill>
                  <a:srgbClr val="0070C0"/>
                </a:solidFill>
              </a:rPr>
              <a:t>Model</a:t>
            </a:r>
            <a:r>
              <a:rPr lang="en-US" dirty="0"/>
              <a:t>” definition:</a:t>
            </a:r>
          </a:p>
          <a:p>
            <a:pPr lvl="2"/>
            <a:r>
              <a:rPr lang="en-US" dirty="0"/>
              <a:t>A </a:t>
            </a:r>
            <a:r>
              <a:rPr lang="en-US" sz="3100" b="1" i="1" u="sng" dirty="0">
                <a:solidFill>
                  <a:srgbClr val="FF9933"/>
                </a:solidFill>
              </a:rPr>
              <a:t>Scheme</a:t>
            </a:r>
            <a:r>
              <a:rPr lang="en-US" dirty="0"/>
              <a:t> (usually </a:t>
            </a:r>
            <a:r>
              <a:rPr lang="en-US" sz="3100" b="1" i="1" u="sng" dirty="0">
                <a:solidFill>
                  <a:srgbClr val="CC9900"/>
                </a:solidFill>
              </a:rPr>
              <a:t>Pictorial</a:t>
            </a:r>
            <a:r>
              <a:rPr lang="en-US" dirty="0"/>
              <a:t> ) for:</a:t>
            </a:r>
          </a:p>
          <a:p>
            <a:pPr lvl="3"/>
            <a:r>
              <a:rPr lang="en-US" b="1" i="1" u="sng" dirty="0">
                <a:solidFill>
                  <a:srgbClr val="FF99CC"/>
                </a:solidFill>
              </a:rPr>
              <a:t>Specifying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and </a:t>
            </a:r>
            <a:r>
              <a:rPr lang="en-US" b="1" i="1" u="sng" dirty="0">
                <a:solidFill>
                  <a:srgbClr val="FF0000"/>
                </a:solidFill>
              </a:rPr>
              <a:t>Enforcing</a:t>
            </a:r>
            <a:r>
              <a:rPr lang="en-US" dirty="0"/>
              <a:t> </a:t>
            </a:r>
            <a:r>
              <a:rPr lang="en-US" sz="2900" b="1" i="1" u="sng" dirty="0">
                <a:solidFill>
                  <a:srgbClr val="99CCFF"/>
                </a:solidFill>
              </a:rPr>
              <a:t>Policies</a:t>
            </a:r>
            <a:endParaRPr lang="en-US" b="1" i="1" u="sng" dirty="0">
              <a:solidFill>
                <a:srgbClr val="99CCFF"/>
              </a:solidFill>
            </a:endParaRPr>
          </a:p>
          <a:p>
            <a:r>
              <a:rPr lang="en-US" sz="3400" b="1" i="1" u="sng" dirty="0">
                <a:solidFill>
                  <a:srgbClr val="99CCFF"/>
                </a:solidFill>
              </a:rPr>
              <a:t>Policy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dirty="0"/>
              <a:t>(2 “uses” of this Term):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sz="2900" b="1" i="1" u="sng" dirty="0">
                <a:solidFill>
                  <a:srgbClr val="99CCFF"/>
                </a:solidFill>
              </a:rPr>
              <a:t>Document</a:t>
            </a:r>
            <a:r>
              <a:rPr lang="en-US" dirty="0"/>
              <a:t> describing </a:t>
            </a:r>
            <a:r>
              <a:rPr lang="en-US" sz="2900" b="1" i="1" u="sng" dirty="0">
                <a:solidFill>
                  <a:srgbClr val="00FF00"/>
                </a:solidFill>
              </a:rPr>
              <a:t>Compliance</a:t>
            </a:r>
            <a:r>
              <a:rPr lang="en-US" sz="2900" b="1" i="1" dirty="0">
                <a:solidFill>
                  <a:srgbClr val="FFFFCC"/>
                </a:solidFill>
              </a:rPr>
              <a:t> </a:t>
            </a:r>
            <a:r>
              <a:rPr lang="en-US" sz="2900" b="1" i="1" u="sng" dirty="0">
                <a:solidFill>
                  <a:srgbClr val="FFFFCC"/>
                </a:solidFill>
              </a:rPr>
              <a:t>Criteria </a:t>
            </a:r>
            <a:endParaRPr lang="en-US" b="1" i="1" u="sng" dirty="0">
              <a:solidFill>
                <a:srgbClr val="FFFFCC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Collection of </a:t>
            </a:r>
            <a:r>
              <a:rPr lang="en-US" sz="2900" b="1" i="1" u="sng" dirty="0">
                <a:solidFill>
                  <a:srgbClr val="0070C0"/>
                </a:solidFill>
              </a:rPr>
              <a:t>Application</a:t>
            </a:r>
            <a:r>
              <a:rPr lang="en-US" dirty="0"/>
              <a:t> </a:t>
            </a:r>
            <a:r>
              <a:rPr lang="en-US" sz="2900" b="1" i="1" u="sng" dirty="0">
                <a:solidFill>
                  <a:srgbClr val="FFFFCC"/>
                </a:solidFill>
              </a:rPr>
              <a:t>Settings</a:t>
            </a:r>
            <a:r>
              <a:rPr lang="en-US" dirty="0"/>
              <a:t> </a:t>
            </a:r>
            <a:r>
              <a:rPr lang="en-US" sz="4000" b="1" i="1" u="sng" dirty="0">
                <a:solidFill>
                  <a:srgbClr val="FF0000"/>
                </a:solidFill>
              </a:rPr>
              <a:t>Controlling</a:t>
            </a:r>
            <a:r>
              <a:rPr lang="en-US" dirty="0"/>
              <a:t> some </a:t>
            </a:r>
            <a:r>
              <a:rPr lang="en-US" sz="2900" b="1" i="1" u="sng" dirty="0">
                <a:solidFill>
                  <a:srgbClr val="FFCC99"/>
                </a:solidFill>
              </a:rPr>
              <a:t>Software</a:t>
            </a:r>
            <a:r>
              <a:rPr lang="en-US" dirty="0"/>
              <a:t> or </a:t>
            </a:r>
            <a:r>
              <a:rPr lang="en-US" sz="2900" b="1" i="1" u="sng" dirty="0">
                <a:solidFill>
                  <a:srgbClr val="0070C0"/>
                </a:solidFill>
              </a:rPr>
              <a:t>Service</a:t>
            </a:r>
            <a:endParaRPr lang="en-US" b="1" i="1" u="sng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“</a:t>
            </a:r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9CCFF"/>
                </a:solidFill>
              </a:rPr>
              <a:t>Policy</a:t>
            </a:r>
            <a:r>
              <a:rPr lang="en-US" dirty="0"/>
              <a:t>”</a:t>
            </a:r>
          </a:p>
          <a:p>
            <a:pPr lvl="2"/>
            <a:r>
              <a:rPr lang="en-US" b="1" i="1" u="sng" dirty="0">
                <a:solidFill>
                  <a:srgbClr val="66FFCC"/>
                </a:solidFill>
              </a:rPr>
              <a:t>Set of </a:t>
            </a:r>
            <a:r>
              <a:rPr lang="en-US" dirty="0"/>
              <a:t>Policies used to Ensure Compliance with Rules and Guidelines related to </a:t>
            </a:r>
            <a:r>
              <a:rPr lang="en-US" sz="2900" b="1" i="1" u="sng" dirty="0">
                <a:solidFill>
                  <a:srgbClr val="FFCC99"/>
                </a:solidFill>
              </a:rPr>
              <a:t>Information</a:t>
            </a:r>
            <a:r>
              <a:rPr lang="en-US" sz="2900" dirty="0"/>
              <a:t> </a:t>
            </a:r>
            <a:r>
              <a:rPr lang="en-US" sz="2900" b="1" i="1" u="sng" dirty="0">
                <a:solidFill>
                  <a:srgbClr val="FF0000"/>
                </a:solidFill>
              </a:rPr>
              <a:t>Security</a:t>
            </a:r>
            <a:endParaRPr lang="en-US" b="1" i="1" u="sng" dirty="0">
              <a:solidFill>
                <a:srgbClr val="FF000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CIA TRIAD MODEL </a:t>
            </a:r>
            <a:r>
              <a:rPr lang="en-US" dirty="0"/>
              <a:t>- 3 Main </a:t>
            </a:r>
            <a:r>
              <a:rPr lang="en-US" b="1" i="1" u="sng" dirty="0">
                <a:solidFill>
                  <a:srgbClr val="FFCC00"/>
                </a:solidFill>
              </a:rPr>
              <a:t>Components</a:t>
            </a:r>
            <a:r>
              <a:rPr lang="en-US" dirty="0"/>
              <a:t>, which </a:t>
            </a:r>
            <a:r>
              <a:rPr lang="en-US" sz="2900" b="1" i="1" u="sng" dirty="0">
                <a:solidFill>
                  <a:srgbClr val="FF99CC"/>
                </a:solidFill>
              </a:rPr>
              <a:t>must be Balanced</a:t>
            </a:r>
            <a:r>
              <a:rPr lang="en-US" dirty="0"/>
              <a:t>, Given a specific </a:t>
            </a:r>
            <a:r>
              <a:rPr lang="en-US" b="1" i="1" u="sng" dirty="0">
                <a:solidFill>
                  <a:srgbClr val="FFFFCC"/>
                </a:solidFill>
              </a:rPr>
              <a:t>Information</a:t>
            </a:r>
            <a:r>
              <a:rPr lang="en-US" b="1" i="1" u="sng" dirty="0"/>
              <a:t> </a:t>
            </a:r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b="1" i="1" dirty="0"/>
              <a:t> </a:t>
            </a:r>
            <a:r>
              <a:rPr lang="en-US" b="1" i="1" u="sng" dirty="0">
                <a:solidFill>
                  <a:srgbClr val="99CCFF"/>
                </a:solidFill>
              </a:rPr>
              <a:t>Policy</a:t>
            </a:r>
            <a:r>
              <a:rPr lang="en-US" dirty="0"/>
              <a:t>:</a:t>
            </a:r>
          </a:p>
          <a:p>
            <a:pPr lvl="1"/>
            <a:r>
              <a:rPr lang="en-US" sz="3300" b="1" i="1" u="sng" dirty="0">
                <a:solidFill>
                  <a:srgbClr val="FFC000"/>
                </a:solidFill>
              </a:rPr>
              <a:t>Confidentiality</a:t>
            </a:r>
            <a:endParaRPr lang="en-US" sz="2400" b="1" i="1" u="sng" dirty="0">
              <a:solidFill>
                <a:srgbClr val="FFC000"/>
              </a:solidFill>
            </a:endParaRPr>
          </a:p>
          <a:p>
            <a:pPr lvl="1"/>
            <a:r>
              <a:rPr lang="en-US" sz="3300" b="1" i="1" u="sng" dirty="0">
                <a:solidFill>
                  <a:srgbClr val="FFC000"/>
                </a:solidFill>
              </a:rPr>
              <a:t>Integrity</a:t>
            </a:r>
            <a:endParaRPr lang="en-US" sz="2400" b="1" i="1" u="sng" dirty="0">
              <a:solidFill>
                <a:srgbClr val="FFC000"/>
              </a:solidFill>
            </a:endParaRPr>
          </a:p>
          <a:p>
            <a:pPr lvl="1"/>
            <a:r>
              <a:rPr lang="en-US" sz="3300" b="1" i="1" u="sng" dirty="0">
                <a:solidFill>
                  <a:srgbClr val="FFC000"/>
                </a:solidFill>
              </a:rPr>
              <a:t>Availability</a:t>
            </a:r>
            <a:endParaRPr lang="en-US" b="1" i="1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83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0D10-44F2-47E5-B868-6F8D8B8D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CIA Triad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88ECB7-2D8D-4C1A-9150-A55D0F09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DDE36735-69C6-4758-8AB7-CC2919B21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63519"/>
            <a:ext cx="6934199" cy="509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6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7AE5-0FCC-4BEA-93BC-DDA5D2F4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CIA triad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B860F-7759-4A34-B6C9-9630B4F5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23CB4-31E5-4C6A-89AA-239F695F6F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365750"/>
          </a:xfrm>
        </p:spPr>
        <p:txBody>
          <a:bodyPr>
            <a:normAutofit fontScale="77500" lnSpcReduction="20000"/>
          </a:bodyPr>
          <a:lstStyle/>
          <a:p>
            <a:r>
              <a:rPr lang="en-US" b="1" i="1" u="sng" dirty="0">
                <a:solidFill>
                  <a:srgbClr val="FFC000"/>
                </a:solidFill>
              </a:rPr>
              <a:t>Confidentiality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Ensuring </a:t>
            </a:r>
            <a:r>
              <a:rPr lang="en-US" b="1" i="1" u="sng" dirty="0">
                <a:solidFill>
                  <a:srgbClr val="FFFFCC"/>
                </a:solidFill>
              </a:rPr>
              <a:t>Information</a:t>
            </a:r>
            <a:r>
              <a:rPr lang="en-US" dirty="0"/>
              <a:t> is </a:t>
            </a:r>
            <a:r>
              <a:rPr lang="en-US" b="1" i="1" u="sng" dirty="0">
                <a:solidFill>
                  <a:srgbClr val="00FF00"/>
                </a:solidFill>
              </a:rPr>
              <a:t>Viewable</a:t>
            </a:r>
            <a:r>
              <a:rPr lang="en-US" dirty="0"/>
              <a:t> by </a:t>
            </a:r>
            <a:r>
              <a:rPr lang="en-US" b="1" i="1" u="sng" dirty="0">
                <a:solidFill>
                  <a:srgbClr val="FF99CC"/>
                </a:solidFill>
              </a:rPr>
              <a:t>Properly-Authorized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993300"/>
                </a:solidFill>
              </a:rPr>
              <a:t>Systems</a:t>
            </a:r>
          </a:p>
          <a:p>
            <a:pPr lvl="2"/>
            <a:r>
              <a:rPr lang="en-US" b="1" i="1" u="sng" dirty="0">
                <a:solidFill>
                  <a:srgbClr val="00B0F0"/>
                </a:solidFill>
              </a:rPr>
              <a:t>Individuals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</a:rPr>
              <a:t>Applications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Most Important </a:t>
            </a:r>
            <a:r>
              <a:rPr lang="en-US" dirty="0"/>
              <a:t>for the </a:t>
            </a:r>
            <a:r>
              <a:rPr lang="en-US" b="1" i="1" u="sng" dirty="0">
                <a:solidFill>
                  <a:srgbClr val="FF0000"/>
                </a:solidFill>
              </a:rPr>
              <a:t>Higher-Sensitivity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99CC"/>
                </a:solidFill>
              </a:rPr>
              <a:t>Information</a:t>
            </a:r>
          </a:p>
          <a:p>
            <a:pPr lvl="2"/>
            <a:r>
              <a:rPr lang="en-US" b="1" i="1" u="sng" dirty="0">
                <a:solidFill>
                  <a:srgbClr val="FF3399"/>
                </a:solidFill>
              </a:rPr>
              <a:t>Point</a:t>
            </a:r>
            <a:r>
              <a:rPr lang="en-US" dirty="0"/>
              <a:t> – </a:t>
            </a:r>
            <a:r>
              <a:rPr lang="en-US" dirty="0">
                <a:solidFill>
                  <a:srgbClr val="92D050"/>
                </a:solidFill>
              </a:rPr>
              <a:t>not all </a:t>
            </a:r>
            <a:r>
              <a:rPr lang="en-US" b="1" i="1" u="sng" dirty="0">
                <a:solidFill>
                  <a:srgbClr val="FFFFCC"/>
                </a:solidFill>
              </a:rPr>
              <a:t>Information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needs to be </a:t>
            </a:r>
            <a:r>
              <a:rPr lang="en-US" b="1" i="1" u="sng" dirty="0">
                <a:solidFill>
                  <a:srgbClr val="FF0000"/>
                </a:solidFill>
              </a:rPr>
              <a:t>Maximally-Protected</a:t>
            </a:r>
          </a:p>
          <a:p>
            <a:pPr lvl="3"/>
            <a:r>
              <a:rPr lang="en-US" dirty="0"/>
              <a:t>Requires (as a Pre-Cursor) an  </a:t>
            </a:r>
            <a:r>
              <a:rPr lang="en-US" b="1" i="1" u="sng" dirty="0">
                <a:solidFill>
                  <a:srgbClr val="00FF00"/>
                </a:solidFill>
              </a:rPr>
              <a:t>Effective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CC"/>
                </a:solidFill>
              </a:rPr>
              <a:t>Information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66FFCC"/>
                </a:solidFill>
              </a:rPr>
              <a:t>Classification</a:t>
            </a:r>
            <a:r>
              <a:rPr lang="en-US" dirty="0"/>
              <a:t> </a:t>
            </a:r>
            <a:r>
              <a:rPr lang="en-US" sz="2600" b="1" i="1" u="sng" dirty="0">
                <a:solidFill>
                  <a:srgbClr val="FF9933"/>
                </a:solidFill>
              </a:rPr>
              <a:t>Scheme</a:t>
            </a:r>
            <a:endParaRPr lang="en-US" b="1" i="1" u="sng" dirty="0">
              <a:solidFill>
                <a:srgbClr val="FF9933"/>
              </a:solidFill>
            </a:endParaRPr>
          </a:p>
          <a:p>
            <a:r>
              <a:rPr lang="en-US" b="1" i="1" u="sng" dirty="0">
                <a:solidFill>
                  <a:srgbClr val="FFC000"/>
                </a:solidFill>
              </a:rPr>
              <a:t>Integrity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</a:rPr>
              <a:t>Ensuring</a:t>
            </a:r>
            <a:r>
              <a:rPr lang="en-US" dirty="0"/>
              <a:t> Information remains </a:t>
            </a:r>
            <a:r>
              <a:rPr lang="en-US" b="1" i="1" u="sng" dirty="0">
                <a:solidFill>
                  <a:srgbClr val="00FF00"/>
                </a:solidFill>
              </a:rPr>
              <a:t>Accurate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00FF00"/>
                </a:solidFill>
              </a:rPr>
              <a:t>Complete</a:t>
            </a:r>
            <a:r>
              <a:rPr lang="en-US" dirty="0"/>
              <a:t> throughout its lifetime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2 Categories of Importance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At Rest </a:t>
            </a:r>
            <a:r>
              <a:rPr lang="en-US" dirty="0"/>
              <a:t>– on Storage Media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In Transit </a:t>
            </a:r>
            <a:r>
              <a:rPr lang="en-US" dirty="0"/>
              <a:t>– during Communication</a:t>
            </a:r>
          </a:p>
          <a:p>
            <a:r>
              <a:rPr lang="en-US" b="1" i="1" u="sng" dirty="0">
                <a:solidFill>
                  <a:srgbClr val="FFC000"/>
                </a:solidFill>
              </a:rPr>
              <a:t>Availability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</a:rPr>
              <a:t>Ensuring</a:t>
            </a:r>
            <a:r>
              <a:rPr lang="en-US" dirty="0"/>
              <a:t> Information </a:t>
            </a:r>
            <a:r>
              <a:rPr lang="en-US" sz="3100" b="1" i="1" u="sng" dirty="0">
                <a:solidFill>
                  <a:srgbClr val="00B050"/>
                </a:solidFill>
              </a:rPr>
              <a:t>Accessibility</a:t>
            </a:r>
            <a:r>
              <a:rPr lang="en-US" dirty="0"/>
              <a:t> to </a:t>
            </a:r>
            <a:r>
              <a:rPr lang="en-US" sz="2900" b="1" i="1" u="sng" dirty="0">
                <a:solidFill>
                  <a:srgbClr val="FF0000"/>
                </a:solidFill>
              </a:rPr>
              <a:t>Authorized Users</a:t>
            </a:r>
            <a:endParaRPr lang="en-US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95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1900-180D-442E-B662-4C059E09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starting point – what </a:t>
            </a:r>
            <a:r>
              <a:rPr lang="en-US" u="none" dirty="0"/>
              <a:t>are </a:t>
            </a:r>
            <a:r>
              <a:rPr lang="en-US" i="1" dirty="0">
                <a:solidFill>
                  <a:srgbClr val="00B050"/>
                </a:solidFill>
              </a:rPr>
              <a:t>assets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29CC92-F4AB-4D98-8D04-63755671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2F4C8-208D-442B-A744-77D0A64E7B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Anything of Value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FFCC"/>
                </a:solidFill>
              </a:rPr>
              <a:t>Data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FF99"/>
                </a:solidFill>
              </a:rPr>
              <a:t>Information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FF00"/>
                </a:solidFill>
              </a:rPr>
              <a:t>Intellectual Property (IP), </a:t>
            </a:r>
            <a:r>
              <a:rPr lang="en-US" b="1" i="1" u="sng" dirty="0">
                <a:solidFill>
                  <a:srgbClr val="00B0F0"/>
                </a:solidFill>
              </a:rPr>
              <a:t>People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CC66"/>
                </a:solidFill>
              </a:rPr>
              <a:t>Facilities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9933"/>
                </a:solidFill>
              </a:rPr>
              <a:t>Computers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00B050"/>
                </a:solidFill>
              </a:rPr>
              <a:t>Business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99"/>
                </a:solidFill>
              </a:rPr>
              <a:t>Relationships</a:t>
            </a:r>
          </a:p>
          <a:p>
            <a:pPr lvl="1"/>
            <a:r>
              <a:rPr lang="en-US" dirty="0"/>
              <a:t>Implies (logically) a “</a:t>
            </a:r>
            <a:r>
              <a:rPr lang="en-US" b="1" i="1" u="sng" dirty="0">
                <a:solidFill>
                  <a:srgbClr val="00B050"/>
                </a:solidFill>
              </a:rPr>
              <a:t>Value</a:t>
            </a:r>
            <a:r>
              <a:rPr lang="en-US" dirty="0"/>
              <a:t>” be applied to the </a:t>
            </a:r>
            <a:r>
              <a:rPr lang="en-US" b="1" i="1" u="sng" dirty="0">
                <a:solidFill>
                  <a:srgbClr val="00B050"/>
                </a:solidFill>
              </a:rPr>
              <a:t>Asset</a:t>
            </a:r>
          </a:p>
          <a:p>
            <a:r>
              <a:rPr lang="en-US" b="1" i="1" u="sng" dirty="0">
                <a:solidFill>
                  <a:srgbClr val="669900"/>
                </a:solidFill>
              </a:rPr>
              <a:t>Failure to protect </a:t>
            </a:r>
            <a:r>
              <a:rPr lang="en-US" b="1" i="1" u="sng" dirty="0">
                <a:solidFill>
                  <a:srgbClr val="00B050"/>
                </a:solidFill>
              </a:rPr>
              <a:t>Assets</a:t>
            </a:r>
            <a:r>
              <a:rPr lang="en-US" dirty="0"/>
              <a:t> is </a:t>
            </a:r>
            <a:r>
              <a:rPr lang="en-US" b="1" i="1" u="sng" dirty="0">
                <a:solidFill>
                  <a:srgbClr val="FFC000"/>
                </a:solidFill>
              </a:rPr>
              <a:t>the heart of Information Security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Loss of the Asset could result in </a:t>
            </a:r>
            <a:r>
              <a:rPr lang="en-US" b="1" i="1" u="sng" dirty="0">
                <a:solidFill>
                  <a:srgbClr val="669900"/>
                </a:solidFill>
              </a:rPr>
              <a:t>Irreparable Damage </a:t>
            </a:r>
            <a:r>
              <a:rPr lang="en-US" dirty="0"/>
              <a:t>to:</a:t>
            </a:r>
          </a:p>
          <a:p>
            <a:pPr lvl="2"/>
            <a:r>
              <a:rPr lang="en-US" dirty="0"/>
              <a:t>An </a:t>
            </a:r>
            <a:r>
              <a:rPr lang="en-US" b="1" i="1" u="sng" dirty="0">
                <a:solidFill>
                  <a:srgbClr val="00B0F0"/>
                </a:solidFill>
              </a:rPr>
              <a:t>Individual</a:t>
            </a:r>
          </a:p>
          <a:p>
            <a:pPr lvl="2"/>
            <a:r>
              <a:rPr lang="en-US" b="1" i="1" u="sng" dirty="0">
                <a:solidFill>
                  <a:srgbClr val="00B050"/>
                </a:solidFill>
              </a:rPr>
              <a:t>The Company</a:t>
            </a:r>
          </a:p>
          <a:p>
            <a:pPr lvl="2"/>
            <a:r>
              <a:rPr lang="en-US" dirty="0"/>
              <a:t>The Company </a:t>
            </a:r>
            <a:r>
              <a:rPr lang="en-US" b="1" i="1" u="sng" dirty="0">
                <a:solidFill>
                  <a:srgbClr val="00B050"/>
                </a:solidFill>
              </a:rPr>
              <a:t>Image</a:t>
            </a:r>
          </a:p>
          <a:p>
            <a:pPr lvl="2"/>
            <a:r>
              <a:rPr lang="en-US" dirty="0"/>
              <a:t>The Company’s </a:t>
            </a:r>
            <a:r>
              <a:rPr lang="en-US" b="1" i="1" u="sng" dirty="0">
                <a:solidFill>
                  <a:srgbClr val="FFFF99"/>
                </a:solidFill>
              </a:rPr>
              <a:t>Relationships</a:t>
            </a:r>
          </a:p>
          <a:p>
            <a:pPr lvl="2"/>
            <a:r>
              <a:rPr lang="en-US" dirty="0"/>
              <a:t>The Company’s </a:t>
            </a:r>
            <a:r>
              <a:rPr lang="en-US" b="1" i="1" u="sng" dirty="0">
                <a:solidFill>
                  <a:srgbClr val="00B050"/>
                </a:solidFill>
              </a:rPr>
              <a:t>Products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00B050"/>
                </a:solidFill>
              </a:rPr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98726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A4DF-03A9-434C-90BF-7E2FA265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69" y="228600"/>
            <a:ext cx="8686800" cy="501650"/>
          </a:xfrm>
        </p:spPr>
        <p:txBody>
          <a:bodyPr/>
          <a:lstStyle/>
          <a:p>
            <a:r>
              <a:rPr lang="en-US" dirty="0"/>
              <a:t>Info. Security Terms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A0C479-22A9-4FFD-9F93-0FB789F6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10AA0-1271-43F1-A512-F053B6A1A5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>
                <a:solidFill>
                  <a:srgbClr val="FF0000"/>
                </a:solidFill>
              </a:rPr>
              <a:t>Threat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Anything that can </a:t>
            </a:r>
            <a:r>
              <a:rPr lang="en-US" b="1" i="1" u="sng" dirty="0">
                <a:solidFill>
                  <a:srgbClr val="FFC000"/>
                </a:solidFill>
              </a:rPr>
              <a:t>Potentially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669900"/>
                </a:solidFill>
              </a:rPr>
              <a:t>Harm</a:t>
            </a:r>
            <a:r>
              <a:rPr lang="en-US" dirty="0"/>
              <a:t> an </a:t>
            </a:r>
            <a:r>
              <a:rPr lang="en-US" b="1" i="1" u="sng" dirty="0">
                <a:solidFill>
                  <a:srgbClr val="00B050"/>
                </a:solidFill>
              </a:rPr>
              <a:t>Asset</a:t>
            </a:r>
          </a:p>
          <a:p>
            <a:pPr lvl="1"/>
            <a:r>
              <a:rPr lang="en-US" b="1" i="1" u="sng" dirty="0">
                <a:solidFill>
                  <a:srgbClr val="66FFCC"/>
                </a:solidFill>
              </a:rPr>
              <a:t>Categories</a:t>
            </a:r>
            <a:r>
              <a:rPr lang="en-US" dirty="0"/>
              <a:t> of </a:t>
            </a:r>
            <a:r>
              <a:rPr lang="en-US" b="1" i="1" u="sng" dirty="0">
                <a:solidFill>
                  <a:srgbClr val="FFC000"/>
                </a:solidFill>
              </a:rPr>
              <a:t>Threats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92D050"/>
                </a:solidFill>
              </a:rPr>
              <a:t>Malicious</a:t>
            </a:r>
            <a:r>
              <a:rPr lang="en-US" dirty="0"/>
              <a:t> Actors (</a:t>
            </a:r>
            <a:r>
              <a:rPr lang="en-US" b="1" i="1" u="sng" dirty="0">
                <a:solidFill>
                  <a:srgbClr val="FF0000"/>
                </a:solidFill>
              </a:rPr>
              <a:t>Hackers</a:t>
            </a:r>
            <a:r>
              <a:rPr lang="en-US" dirty="0"/>
              <a:t>)</a:t>
            </a:r>
          </a:p>
          <a:p>
            <a:pPr lvl="2"/>
            <a:r>
              <a:rPr lang="en-US" b="1" i="1" u="sng" dirty="0">
                <a:solidFill>
                  <a:srgbClr val="00B0F0"/>
                </a:solidFill>
              </a:rPr>
              <a:t>Human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2D050"/>
                </a:solidFill>
              </a:rPr>
              <a:t>Error</a:t>
            </a:r>
          </a:p>
          <a:p>
            <a:pPr lvl="2"/>
            <a:r>
              <a:rPr lang="en-US" b="1" i="1" u="sng" dirty="0">
                <a:solidFill>
                  <a:srgbClr val="FF9933"/>
                </a:solidFill>
              </a:rPr>
              <a:t>Device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2D050"/>
                </a:solidFill>
              </a:rPr>
              <a:t>Failure</a:t>
            </a:r>
          </a:p>
          <a:p>
            <a:pPr lvl="2"/>
            <a:r>
              <a:rPr lang="en-US" b="1" i="1" u="sng" dirty="0">
                <a:solidFill>
                  <a:srgbClr val="92D050"/>
                </a:solidFill>
              </a:rPr>
              <a:t>Natural Disaster</a:t>
            </a:r>
          </a:p>
          <a:p>
            <a:pPr lvl="2"/>
            <a:r>
              <a:rPr lang="en-US" b="1" i="1" u="sng" dirty="0">
                <a:solidFill>
                  <a:srgbClr val="FF33CC"/>
                </a:solidFill>
              </a:rPr>
              <a:t>Terrorism</a:t>
            </a:r>
          </a:p>
        </p:txBody>
      </p:sp>
    </p:spTree>
    <p:extLst>
      <p:ext uri="{BB962C8B-B14F-4D97-AF65-F5344CB8AC3E}">
        <p14:creationId xmlns:p14="http://schemas.microsoft.com/office/powerpoint/2010/main" val="1696702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35DF-C2E4-4E40-873F-7505A5B49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Info. Security Terms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7FB77-9265-40BC-BFE8-604F2DFF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EC71E-E040-4844-8CCE-9339A190D6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600" b="1" i="1" u="sng" dirty="0">
                <a:solidFill>
                  <a:srgbClr val="FF0000"/>
                </a:solidFill>
              </a:rPr>
              <a:t>Vulnerability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Any </a:t>
            </a:r>
            <a:r>
              <a:rPr lang="en-US" b="1" i="1" u="sng" dirty="0">
                <a:solidFill>
                  <a:srgbClr val="669900"/>
                </a:solidFill>
              </a:rPr>
              <a:t>Weakness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669900"/>
                </a:solidFill>
              </a:rPr>
              <a:t>Exposure</a:t>
            </a:r>
            <a:r>
              <a:rPr lang="en-US" dirty="0"/>
              <a:t> of an </a:t>
            </a:r>
            <a:r>
              <a:rPr lang="en-US" b="1" i="1" u="sng" dirty="0">
                <a:solidFill>
                  <a:srgbClr val="00B050"/>
                </a:solidFill>
              </a:rPr>
              <a:t>Asset</a:t>
            </a:r>
            <a:r>
              <a:rPr lang="en-US" dirty="0"/>
              <a:t> to a </a:t>
            </a:r>
            <a:r>
              <a:rPr lang="en-US" b="1" i="1" u="sng" dirty="0">
                <a:solidFill>
                  <a:srgbClr val="FFC000"/>
                </a:solidFill>
              </a:rPr>
              <a:t>Threat</a:t>
            </a:r>
          </a:p>
          <a:p>
            <a:pPr lvl="2"/>
            <a:r>
              <a:rPr lang="en-US" b="1" i="1" u="sng" dirty="0">
                <a:solidFill>
                  <a:srgbClr val="FFFF00"/>
                </a:solidFill>
              </a:rPr>
              <a:t>Represents</a:t>
            </a:r>
            <a:r>
              <a:rPr lang="en-US" b="1" i="1" u="sng" dirty="0">
                <a:solidFill>
                  <a:srgbClr val="FFC000"/>
                </a:solidFill>
              </a:rPr>
              <a:t> the </a:t>
            </a:r>
            <a:r>
              <a:rPr lang="en-US" b="1" i="1" u="sng" dirty="0">
                <a:solidFill>
                  <a:srgbClr val="92D050"/>
                </a:solidFill>
              </a:rPr>
              <a:t>Actual Weakness</a:t>
            </a:r>
            <a:r>
              <a:rPr lang="en-US" b="1" i="1" u="sng" dirty="0">
                <a:solidFill>
                  <a:srgbClr val="FFC000"/>
                </a:solidFill>
              </a:rPr>
              <a:t> / </a:t>
            </a:r>
            <a:r>
              <a:rPr lang="en-US" b="1" i="1" u="sng" dirty="0">
                <a:solidFill>
                  <a:srgbClr val="92D050"/>
                </a:solidFill>
              </a:rPr>
              <a:t>Exposure</a:t>
            </a:r>
            <a:r>
              <a:rPr lang="en-US" b="1" i="1" u="sng" dirty="0">
                <a:solidFill>
                  <a:srgbClr val="FFC000"/>
                </a:solidFill>
              </a:rPr>
              <a:t> that USUALLY becomes the </a:t>
            </a:r>
            <a:r>
              <a:rPr lang="en-US" b="1" i="1" u="sng" dirty="0">
                <a:solidFill>
                  <a:srgbClr val="FF0000"/>
                </a:solidFill>
              </a:rPr>
              <a:t>Threat Vector </a:t>
            </a:r>
            <a:r>
              <a:rPr lang="en-US" b="1" i="1" u="sng" dirty="0">
                <a:solidFill>
                  <a:srgbClr val="FFC000"/>
                </a:solidFill>
              </a:rPr>
              <a:t>(more later)</a:t>
            </a:r>
          </a:p>
          <a:p>
            <a:pPr lvl="1"/>
            <a:r>
              <a:rPr lang="en-US" b="1" i="1" u="sng" dirty="0">
                <a:solidFill>
                  <a:srgbClr val="66FFCC"/>
                </a:solidFill>
              </a:rPr>
              <a:t>Categories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FF9933"/>
                </a:solidFill>
              </a:rPr>
              <a:t>Hardware</a:t>
            </a:r>
          </a:p>
          <a:p>
            <a:pPr lvl="2"/>
            <a:r>
              <a:rPr lang="en-US" b="1" i="1" u="sng" dirty="0">
                <a:solidFill>
                  <a:srgbClr val="FFCC66"/>
                </a:solidFill>
              </a:rPr>
              <a:t>Software</a:t>
            </a:r>
          </a:p>
          <a:p>
            <a:pPr lvl="2"/>
            <a:r>
              <a:rPr lang="en-US" b="1" i="1" dirty="0">
                <a:solidFill>
                  <a:srgbClr val="00B0F0"/>
                </a:solidFill>
              </a:rPr>
              <a:t>Human</a:t>
            </a:r>
          </a:p>
          <a:p>
            <a:pPr lvl="2"/>
            <a:r>
              <a:rPr lang="en-US" b="1" i="1" u="sng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2D050"/>
                </a:solidFill>
              </a:rPr>
              <a:t>Deficiencies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92D050"/>
                </a:solidFill>
              </a:rPr>
              <a:t>Flaws</a:t>
            </a:r>
          </a:p>
        </p:txBody>
      </p:sp>
    </p:spTree>
    <p:extLst>
      <p:ext uri="{BB962C8B-B14F-4D97-AF65-F5344CB8AC3E}">
        <p14:creationId xmlns:p14="http://schemas.microsoft.com/office/powerpoint/2010/main" val="77142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8041-CB84-4C13-9976-C86AA5C8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Risk, threat and vulnerability relationships…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240C65-4470-4602-AFA1-066EC9D3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9AA2D-417F-4B3E-9194-480B53B1DB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600" b="1" i="1" u="sng" dirty="0">
                <a:solidFill>
                  <a:srgbClr val="FF0000"/>
                </a:solidFill>
              </a:rPr>
              <a:t>Risk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</a:rPr>
              <a:t>Analyzed &amp; Measured </a:t>
            </a:r>
            <a:r>
              <a:rPr lang="en-US" b="1" i="1" u="sng" dirty="0"/>
              <a:t>Potential</a:t>
            </a:r>
            <a:r>
              <a:rPr lang="en-US" dirty="0"/>
              <a:t> for </a:t>
            </a:r>
            <a:r>
              <a:rPr lang="en-US" b="1" i="1" u="sng" dirty="0">
                <a:solidFill>
                  <a:srgbClr val="669900"/>
                </a:solidFill>
              </a:rPr>
              <a:t>Loss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669900"/>
                </a:solidFill>
              </a:rPr>
              <a:t>Damage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669900"/>
                </a:solidFill>
              </a:rPr>
              <a:t>Destruction</a:t>
            </a:r>
            <a:r>
              <a:rPr lang="en-US" dirty="0"/>
              <a:t> of an </a:t>
            </a:r>
            <a:r>
              <a:rPr lang="en-US" b="1" i="1" u="sng" dirty="0">
                <a:solidFill>
                  <a:srgbClr val="00B050"/>
                </a:solidFill>
              </a:rPr>
              <a:t>Asset</a:t>
            </a:r>
          </a:p>
          <a:p>
            <a:pPr lvl="1"/>
            <a:r>
              <a:rPr lang="en-US" dirty="0"/>
              <a:t>Have “</a:t>
            </a:r>
            <a:r>
              <a:rPr lang="en-US" b="1" i="1" u="sng" dirty="0">
                <a:solidFill>
                  <a:srgbClr val="FFC000"/>
                </a:solidFill>
              </a:rPr>
              <a:t>Risk</a:t>
            </a:r>
            <a:r>
              <a:rPr lang="en-US" dirty="0"/>
              <a:t>” when:</a:t>
            </a:r>
          </a:p>
          <a:p>
            <a:pPr lvl="2"/>
            <a:r>
              <a:rPr lang="en-US" dirty="0"/>
              <a:t>A </a:t>
            </a:r>
            <a:r>
              <a:rPr lang="en-US" sz="3200" b="1" i="1" u="sng" dirty="0">
                <a:solidFill>
                  <a:srgbClr val="FF0000"/>
                </a:solidFill>
              </a:rPr>
              <a:t>Threat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99CC"/>
                </a:solidFill>
              </a:rPr>
              <a:t>Exploits</a:t>
            </a:r>
            <a:r>
              <a:rPr lang="en-US" dirty="0"/>
              <a:t> a </a:t>
            </a:r>
            <a:r>
              <a:rPr lang="en-US" sz="3200" b="1" i="1" u="sng" dirty="0">
                <a:solidFill>
                  <a:srgbClr val="92D050"/>
                </a:solidFill>
              </a:rPr>
              <a:t>Vulnerability</a:t>
            </a:r>
            <a:endParaRPr lang="en-US" b="1" i="1" u="sng" dirty="0">
              <a:solidFill>
                <a:srgbClr val="92D050"/>
              </a:solidFill>
            </a:endParaRPr>
          </a:p>
          <a:p>
            <a:pPr lvl="1"/>
            <a:r>
              <a:rPr lang="en-US" b="1" i="1" u="sng" dirty="0">
                <a:solidFill>
                  <a:srgbClr val="66FFCC"/>
                </a:solidFill>
              </a:rPr>
              <a:t>Categories:</a:t>
            </a:r>
          </a:p>
          <a:p>
            <a:pPr lvl="2"/>
            <a:r>
              <a:rPr lang="en-US" dirty="0"/>
              <a:t>Hardware</a:t>
            </a:r>
          </a:p>
          <a:p>
            <a:pPr lvl="2"/>
            <a:r>
              <a:rPr lang="en-US" dirty="0"/>
              <a:t>Software</a:t>
            </a:r>
          </a:p>
          <a:p>
            <a:pPr lvl="2"/>
            <a:r>
              <a:rPr lang="en-US" dirty="0"/>
              <a:t>Human Induced</a:t>
            </a:r>
          </a:p>
          <a:p>
            <a:pPr lvl="2"/>
            <a:r>
              <a:rPr lang="en-US" dirty="0"/>
              <a:t>Design Flaws</a:t>
            </a:r>
          </a:p>
        </p:txBody>
      </p:sp>
    </p:spTree>
    <p:extLst>
      <p:ext uri="{BB962C8B-B14F-4D97-AF65-F5344CB8AC3E}">
        <p14:creationId xmlns:p14="http://schemas.microsoft.com/office/powerpoint/2010/main" val="335541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9BE8-97ED-4663-BBF1-1A9236B6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Terms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1B06B0-A18B-4C98-9011-773776F3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4F4EA-4515-4B28-BFBD-BE3ADF525B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600" b="1" i="1" u="sng" dirty="0">
                <a:solidFill>
                  <a:srgbClr val="FF0000"/>
                </a:solidFill>
              </a:rPr>
              <a:t>Threat Vector </a:t>
            </a:r>
            <a:r>
              <a:rPr lang="en-US" dirty="0"/>
              <a:t>(or </a:t>
            </a:r>
            <a:r>
              <a:rPr lang="en-US" b="1" i="1" u="sng" dirty="0">
                <a:solidFill>
                  <a:srgbClr val="FF0000"/>
                </a:solidFill>
              </a:rPr>
              <a:t>Attack Vector</a:t>
            </a:r>
            <a:r>
              <a:rPr lang="en-US" dirty="0"/>
              <a:t>) {“</a:t>
            </a:r>
            <a:r>
              <a:rPr lang="en-US" b="1" i="1" u="sng" dirty="0">
                <a:solidFill>
                  <a:srgbClr val="FF6600"/>
                </a:solidFill>
              </a:rPr>
              <a:t>HOW</a:t>
            </a:r>
            <a:r>
              <a:rPr lang="en-US" dirty="0"/>
              <a:t>”}</a:t>
            </a:r>
          </a:p>
          <a:p>
            <a:pPr lvl="1"/>
            <a:r>
              <a:rPr lang="en-US" dirty="0"/>
              <a:t> The </a:t>
            </a:r>
            <a:r>
              <a:rPr lang="en-US" b="1" i="1" u="sng" dirty="0">
                <a:solidFill>
                  <a:srgbClr val="FFC000"/>
                </a:solidFill>
              </a:rPr>
              <a:t>Actual </a:t>
            </a:r>
            <a:r>
              <a:rPr lang="en-US" b="1" i="1" u="sng" dirty="0">
                <a:solidFill>
                  <a:srgbClr val="FF99CC"/>
                </a:solidFill>
              </a:rPr>
              <a:t>Method</a:t>
            </a:r>
            <a:r>
              <a:rPr lang="en-US" b="1" i="1" u="sng" dirty="0">
                <a:solidFill>
                  <a:srgbClr val="FFC000"/>
                </a:solidFill>
              </a:rPr>
              <a:t> </a:t>
            </a:r>
            <a:r>
              <a:rPr lang="en-US" dirty="0"/>
              <a:t>used to </a:t>
            </a:r>
            <a:r>
              <a:rPr lang="en-US" b="1" i="1" u="sng" dirty="0">
                <a:solidFill>
                  <a:srgbClr val="FF99CC"/>
                </a:solidFill>
              </a:rPr>
              <a:t>Activate</a:t>
            </a:r>
            <a:r>
              <a:rPr lang="en-US" dirty="0"/>
              <a:t> the </a:t>
            </a:r>
            <a:r>
              <a:rPr lang="en-US" b="1" i="1" u="sng" dirty="0">
                <a:solidFill>
                  <a:srgbClr val="669900"/>
                </a:solidFill>
              </a:rPr>
              <a:t>Threat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Originates from </a:t>
            </a:r>
            <a:r>
              <a:rPr lang="en-US" b="1" i="1" u="sng" dirty="0">
                <a:solidFill>
                  <a:srgbClr val="FFFF00"/>
                </a:solidFill>
              </a:rPr>
              <a:t>3 Primary Sources</a:t>
            </a:r>
            <a:r>
              <a:rPr lang="en-US" dirty="0"/>
              <a:t>: 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External</a:t>
            </a:r>
            <a:r>
              <a:rPr lang="en-US" dirty="0"/>
              <a:t> (outsiders)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Internal</a:t>
            </a:r>
            <a:r>
              <a:rPr lang="en-US" dirty="0"/>
              <a:t> (insiders)</a:t>
            </a:r>
          </a:p>
          <a:p>
            <a:pPr lvl="3"/>
            <a:r>
              <a:rPr lang="en-US" dirty="0"/>
              <a:t>FYI – {Something to consider}</a:t>
            </a:r>
          </a:p>
          <a:p>
            <a:pPr lvl="4"/>
            <a:r>
              <a:rPr lang="en-US" dirty="0"/>
              <a:t>60% of all Companies experienced Insider Attacks</a:t>
            </a:r>
          </a:p>
          <a:p>
            <a:pPr lvl="5"/>
            <a:r>
              <a:rPr lang="en-US" dirty="0"/>
              <a:t>Most often – dissatisfied / disgruntled Employee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Supply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Chain</a:t>
            </a:r>
            <a:r>
              <a:rPr lang="en-US" dirty="0"/>
              <a:t> (suppliers)</a:t>
            </a:r>
          </a:p>
          <a:p>
            <a:r>
              <a:rPr lang="en-US" dirty="0"/>
              <a:t>The </a:t>
            </a:r>
            <a:r>
              <a:rPr lang="en-US" b="1" i="1" u="sng" dirty="0">
                <a:solidFill>
                  <a:srgbClr val="FF99CC"/>
                </a:solidFill>
              </a:rPr>
              <a:t>Mechanism</a:t>
            </a:r>
            <a:r>
              <a:rPr lang="en-US" dirty="0"/>
              <a:t> of “</a:t>
            </a:r>
            <a:r>
              <a:rPr lang="en-US" b="1" i="1" u="sng" dirty="0">
                <a:solidFill>
                  <a:srgbClr val="FF6600"/>
                </a:solidFill>
              </a:rPr>
              <a:t>How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042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61CD-9B9A-4CE8-BD62-C40447FE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Terms…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EBDD0-7F64-452D-9D21-5C3AF30F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D578E-2A06-4243-9F04-4DF10DA7E0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600" b="1" i="1" u="sng" dirty="0">
                <a:solidFill>
                  <a:srgbClr val="FF0000"/>
                </a:solidFill>
              </a:rPr>
              <a:t>Threat</a:t>
            </a:r>
            <a:r>
              <a:rPr lang="en-US" sz="3600" b="1" i="1" dirty="0">
                <a:solidFill>
                  <a:srgbClr val="FFC000"/>
                </a:solidFill>
              </a:rPr>
              <a:t> </a:t>
            </a:r>
            <a:r>
              <a:rPr lang="en-US" sz="3600" b="1" i="1" u="sng" dirty="0">
                <a:solidFill>
                  <a:srgbClr val="00B0F0"/>
                </a:solidFill>
              </a:rPr>
              <a:t>Actor</a:t>
            </a:r>
            <a:r>
              <a:rPr lang="en-US" sz="3600" dirty="0"/>
              <a:t> – </a:t>
            </a:r>
            <a:r>
              <a:rPr lang="en-US" sz="3600" b="1" i="1" dirty="0"/>
              <a:t>“</a:t>
            </a:r>
            <a:r>
              <a:rPr lang="en-US" sz="3600" b="1" i="1" u="sng" dirty="0">
                <a:solidFill>
                  <a:srgbClr val="00B0F0"/>
                </a:solidFill>
              </a:rPr>
              <a:t>Who</a:t>
            </a:r>
            <a:r>
              <a:rPr lang="en-US" sz="3600" b="1" i="1" dirty="0"/>
              <a:t>”</a:t>
            </a:r>
            <a:endParaRPr lang="en-US" dirty="0"/>
          </a:p>
          <a:p>
            <a:pPr lvl="1"/>
            <a:r>
              <a:rPr lang="en-US" sz="2400" dirty="0"/>
              <a:t>Broad Term for any individual or group of individuals that attempts to or successfully conducts malicious activities against enterprises, whether intentionally or unintentionally</a:t>
            </a:r>
          </a:p>
        </p:txBody>
      </p:sp>
    </p:spTree>
    <p:extLst>
      <p:ext uri="{BB962C8B-B14F-4D97-AF65-F5344CB8AC3E}">
        <p14:creationId xmlns:p14="http://schemas.microsoft.com/office/powerpoint/2010/main" val="2431280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6E11-E8E8-4819-A975-69F576D3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Terms…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FD892-32F0-4885-A6B6-9A7DB381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33CB-7410-4DC3-9F54-010ACC5927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b="1" i="1" u="sng" dirty="0">
                <a:solidFill>
                  <a:srgbClr val="FF0000"/>
                </a:solidFill>
              </a:rPr>
              <a:t>Threat Profile</a:t>
            </a:r>
            <a:r>
              <a:rPr lang="en-US" sz="3600" b="1" i="1" dirty="0">
                <a:solidFill>
                  <a:srgbClr val="FF0000"/>
                </a:solidFill>
              </a:rPr>
              <a:t> </a:t>
            </a:r>
            <a:r>
              <a:rPr lang="en-US" sz="3600" b="1" i="1" dirty="0"/>
              <a:t>–{“</a:t>
            </a:r>
            <a:r>
              <a:rPr lang="en-US" sz="3600" b="1" i="1" dirty="0">
                <a:solidFill>
                  <a:srgbClr val="FFFF99"/>
                </a:solidFill>
              </a:rPr>
              <a:t>WHAT</a:t>
            </a:r>
            <a:r>
              <a:rPr lang="en-US" sz="3600" b="1" i="1" dirty="0"/>
              <a:t>”}- </a:t>
            </a:r>
            <a:r>
              <a:rPr lang="en-US" sz="3600" b="1" i="1" u="sng" dirty="0">
                <a:solidFill>
                  <a:srgbClr val="FFFF99"/>
                </a:solidFill>
              </a:rPr>
              <a:t>Context</a:t>
            </a:r>
            <a:r>
              <a:rPr lang="en-US" sz="3600" b="1" i="1" dirty="0"/>
              <a:t> (Attendant / Known </a:t>
            </a:r>
            <a:r>
              <a:rPr lang="en-US" sz="3600" b="1" i="1" dirty="0">
                <a:solidFill>
                  <a:srgbClr val="FFFF99"/>
                </a:solidFill>
              </a:rPr>
              <a:t>Data</a:t>
            </a:r>
            <a:r>
              <a:rPr lang="en-US" sz="3600" b="1" i="1" dirty="0"/>
              <a:t>)</a:t>
            </a:r>
            <a:endParaRPr lang="en-US" sz="3600" b="1" i="1" u="sng" dirty="0">
              <a:solidFill>
                <a:srgbClr val="FFC000"/>
              </a:solidFill>
            </a:endParaRPr>
          </a:p>
          <a:p>
            <a:pPr lvl="1"/>
            <a:r>
              <a:rPr lang="en-US" b="1" i="1" u="sng" dirty="0">
                <a:solidFill>
                  <a:srgbClr val="FFFF99"/>
                </a:solidFill>
              </a:rPr>
              <a:t>Information</a:t>
            </a:r>
            <a:r>
              <a:rPr lang="en-US" b="1" dirty="0">
                <a:solidFill>
                  <a:srgbClr val="FFC000"/>
                </a:solidFill>
              </a:rPr>
              <a:t> about:</a:t>
            </a:r>
          </a:p>
          <a:p>
            <a:pPr lvl="2"/>
            <a:r>
              <a:rPr lang="en-US" b="1" i="1" u="sng" dirty="0">
                <a:solidFill>
                  <a:srgbClr val="00B050"/>
                </a:solidFill>
              </a:rPr>
              <a:t>Critical Assets</a:t>
            </a:r>
          </a:p>
          <a:p>
            <a:pPr lvl="2"/>
            <a:r>
              <a:rPr lang="en-US" b="1" i="1" u="sng" dirty="0">
                <a:solidFill>
                  <a:srgbClr val="FF0000"/>
                </a:solidFill>
              </a:rPr>
              <a:t>Threat Actors:</a:t>
            </a:r>
          </a:p>
          <a:p>
            <a:pPr lvl="3"/>
            <a:r>
              <a:rPr lang="en-US" dirty="0"/>
              <a:t>broad term for any individual or group of individuals that attempts to or successfully conducts malicious activities against enterprises, whether intentionally or unintentionally.</a:t>
            </a:r>
            <a:endParaRPr lang="en-US" b="1" i="1" u="sng" dirty="0">
              <a:solidFill>
                <a:srgbClr val="FF0000"/>
              </a:solidFill>
            </a:endParaRPr>
          </a:p>
          <a:p>
            <a:pPr lvl="2"/>
            <a:r>
              <a:rPr lang="en-US" b="1" i="1" u="sng" dirty="0">
                <a:solidFill>
                  <a:srgbClr val="FF0000"/>
                </a:solidFill>
              </a:rPr>
              <a:t>Threat Scenarios:</a:t>
            </a:r>
          </a:p>
          <a:p>
            <a:pPr lvl="3"/>
            <a:r>
              <a:rPr lang="en-US" dirty="0"/>
              <a:t>an illustration in which one or more </a:t>
            </a:r>
            <a:r>
              <a:rPr lang="en-US" b="1" dirty="0"/>
              <a:t>threat</a:t>
            </a:r>
            <a:r>
              <a:rPr lang="en-US" dirty="0"/>
              <a:t> actors can mount one or more </a:t>
            </a:r>
            <a:r>
              <a:rPr lang="en-US" b="1" dirty="0"/>
              <a:t>threat</a:t>
            </a:r>
            <a:r>
              <a:rPr lang="en-US" dirty="0"/>
              <a:t> actions in an attempt to compromise an identified critical asset by exploiting both vulnerabilities and inadequate safeguards</a:t>
            </a:r>
            <a:endParaRPr lang="en-US" b="1" i="1" u="sng" dirty="0">
              <a:solidFill>
                <a:srgbClr val="FF0000"/>
              </a:solidFill>
            </a:endParaRP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An </a:t>
            </a:r>
            <a:r>
              <a:rPr lang="en-US" b="1" i="1" u="sng" dirty="0">
                <a:solidFill>
                  <a:srgbClr val="00B050"/>
                </a:solidFill>
              </a:rPr>
              <a:t>Organization's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i="1" u="sng" dirty="0">
                <a:solidFill>
                  <a:srgbClr val="FFC000"/>
                </a:solidFill>
              </a:rPr>
              <a:t>Threat Profile </a:t>
            </a:r>
            <a:r>
              <a:rPr lang="en-US" b="1" dirty="0">
                <a:solidFill>
                  <a:srgbClr val="FFC000"/>
                </a:solidFill>
              </a:rPr>
              <a:t>includes:</a:t>
            </a:r>
          </a:p>
          <a:p>
            <a:pPr lvl="2"/>
            <a:r>
              <a:rPr lang="en-US" b="1" i="1" u="sng" dirty="0">
                <a:solidFill>
                  <a:srgbClr val="FFFF00"/>
                </a:solidFill>
              </a:rPr>
              <a:t>All the Above </a:t>
            </a:r>
            <a:r>
              <a:rPr lang="en-US" b="1" i="1" u="sng" dirty="0">
                <a:solidFill>
                  <a:srgbClr val="FFFF99"/>
                </a:solidFill>
              </a:rPr>
              <a:t>Information</a:t>
            </a:r>
          </a:p>
          <a:p>
            <a:pPr lvl="2"/>
            <a:r>
              <a:rPr lang="en-US" b="1" i="1" u="sng" dirty="0">
                <a:solidFill>
                  <a:srgbClr val="FFFF00"/>
                </a:solidFill>
              </a:rPr>
              <a:t>Presents</a:t>
            </a:r>
            <a:r>
              <a:rPr lang="en-US" b="1" dirty="0">
                <a:solidFill>
                  <a:srgbClr val="FFC000"/>
                </a:solidFill>
              </a:rPr>
              <a:t> a </a:t>
            </a:r>
            <a:r>
              <a:rPr lang="en-US" b="1" i="1" u="sng" dirty="0">
                <a:solidFill>
                  <a:srgbClr val="FFFF00"/>
                </a:solidFill>
              </a:rPr>
              <a:t>Clear</a:t>
            </a:r>
            <a:r>
              <a:rPr lang="en-US" b="1" dirty="0">
                <a:solidFill>
                  <a:srgbClr val="FFC000"/>
                </a:solidFill>
              </a:rPr>
              <a:t> and </a:t>
            </a:r>
            <a:r>
              <a:rPr lang="en-US" b="1" i="1" u="sng" dirty="0">
                <a:solidFill>
                  <a:srgbClr val="FFFF00"/>
                </a:solidFill>
              </a:rPr>
              <a:t>Detailed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i="1" u="sng" dirty="0">
                <a:solidFill>
                  <a:srgbClr val="CC6600"/>
                </a:solidFill>
              </a:rPr>
              <a:t>Illustration</a:t>
            </a:r>
            <a:r>
              <a:rPr lang="en-US" b="1" dirty="0">
                <a:solidFill>
                  <a:srgbClr val="FFC000"/>
                </a:solidFill>
              </a:rPr>
              <a:t> of </a:t>
            </a:r>
            <a:r>
              <a:rPr lang="en-US" b="1" i="1" u="sng" dirty="0">
                <a:solidFill>
                  <a:srgbClr val="FF0000"/>
                </a:solidFill>
              </a:rPr>
              <a:t>How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i="1" u="sng" dirty="0">
                <a:solidFill>
                  <a:srgbClr val="FF0000"/>
                </a:solidFill>
              </a:rPr>
              <a:t>Each</a:t>
            </a:r>
            <a:r>
              <a:rPr lang="en-US" b="1" dirty="0">
                <a:solidFill>
                  <a:srgbClr val="FFC000"/>
                </a:solidFill>
              </a:rPr>
              <a:t> of these </a:t>
            </a:r>
            <a:r>
              <a:rPr lang="en-US" b="1" i="1" u="sng" dirty="0">
                <a:solidFill>
                  <a:srgbClr val="FF0000"/>
                </a:solidFill>
              </a:rPr>
              <a:t>Components</a:t>
            </a:r>
            <a:r>
              <a:rPr lang="en-US" b="1" dirty="0">
                <a:solidFill>
                  <a:srgbClr val="FFC000"/>
                </a:solidFill>
              </a:rPr>
              <a:t> are </a:t>
            </a:r>
            <a:r>
              <a:rPr lang="en-US" b="1" i="1" u="sng" dirty="0">
                <a:solidFill>
                  <a:srgbClr val="FF0000"/>
                </a:solidFill>
              </a:rPr>
              <a:t>Used Together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70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2630-6895-447C-A1B4-B8349031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Reference-Standards</a:t>
            </a:r>
            <a:r>
              <a:rPr lang="en-US" dirty="0"/>
              <a:t> Organizations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0A9EF0-A8F3-4304-92CE-3CD64266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E04A3-A4F9-4B99-AD0D-73D3223E60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CIS</a:t>
            </a:r>
            <a:r>
              <a:rPr lang="en-US" dirty="0"/>
              <a:t>: Center for Internet Security - </a:t>
            </a:r>
            <a:r>
              <a:rPr lang="en-US" dirty="0">
                <a:hlinkClick r:id="rId2"/>
              </a:rPr>
              <a:t>https://www.cisecurity.org/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NIST</a:t>
            </a:r>
            <a:r>
              <a:rPr lang="en-US" dirty="0"/>
              <a:t>: National Institute of Standards and Technology - </a:t>
            </a:r>
            <a:r>
              <a:rPr lang="en-US" dirty="0">
                <a:hlinkClick r:id="rId3"/>
              </a:rPr>
              <a:t>https://www.nist.gov/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ISOC</a:t>
            </a:r>
            <a:r>
              <a:rPr lang="en-US" dirty="0"/>
              <a:t>: Internet Society - </a:t>
            </a:r>
            <a:r>
              <a:rPr lang="en-US" dirty="0">
                <a:hlinkClick r:id="rId4"/>
              </a:rPr>
              <a:t>https://www.internetsociety.org/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NSA</a:t>
            </a:r>
            <a:r>
              <a:rPr lang="en-US" dirty="0"/>
              <a:t>: National Security Agency - </a:t>
            </a:r>
            <a:r>
              <a:rPr lang="en-US" dirty="0">
                <a:hlinkClick r:id="rId5"/>
              </a:rPr>
              <a:t>https://www.nsa.gov/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W3C</a:t>
            </a:r>
            <a:r>
              <a:rPr lang="en-US" dirty="0"/>
              <a:t>: World Wide Web Consortium - </a:t>
            </a:r>
            <a:r>
              <a:rPr lang="en-US" dirty="0">
                <a:hlinkClick r:id="rId6"/>
              </a:rPr>
              <a:t>https://www.w3.org/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IEEE</a:t>
            </a:r>
            <a:r>
              <a:rPr lang="en-US" dirty="0"/>
              <a:t>: Institute of Electrical and Electronic Engineers - </a:t>
            </a:r>
            <a:r>
              <a:rPr lang="en-US" dirty="0">
                <a:hlinkClick r:id="rId7"/>
              </a:rPr>
              <a:t>https://www.ieee.org/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ISO</a:t>
            </a:r>
            <a:r>
              <a:rPr lang="en-US" dirty="0"/>
              <a:t>: International Standards Organization - </a:t>
            </a:r>
            <a:r>
              <a:rPr lang="en-US" dirty="0">
                <a:hlinkClick r:id="rId8"/>
              </a:rPr>
              <a:t>https://www.iso.org/home.html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IETF</a:t>
            </a:r>
            <a:r>
              <a:rPr lang="en-US" dirty="0"/>
              <a:t>: Internet Engineering Task Force - </a:t>
            </a:r>
            <a:r>
              <a:rPr lang="en-US" dirty="0">
                <a:hlinkClick r:id="rId9"/>
              </a:rPr>
              <a:t>https://ietf.org/</a:t>
            </a:r>
            <a:r>
              <a:rPr lang="en-US" dirty="0"/>
              <a:t>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ITU</a:t>
            </a:r>
            <a:r>
              <a:rPr lang="en-US" dirty="0"/>
              <a:t>: International Telecommunication Union - </a:t>
            </a:r>
            <a:r>
              <a:rPr lang="en-US" dirty="0">
                <a:hlinkClick r:id="rId10"/>
              </a:rPr>
              <a:t>https://www.itu.int/en/Pages/default.aspx</a:t>
            </a:r>
            <a:r>
              <a:rPr lang="en-US" dirty="0"/>
              <a:t> - UN-aligned</a:t>
            </a:r>
          </a:p>
        </p:txBody>
      </p:sp>
    </p:spTree>
    <p:extLst>
      <p:ext uri="{BB962C8B-B14F-4D97-AF65-F5344CB8AC3E}">
        <p14:creationId xmlns:p14="http://schemas.microsoft.com/office/powerpoint/2010/main" val="352046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FBB5-C5A0-4FB5-9214-D426C84B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dirty="0">
                <a:solidFill>
                  <a:srgbClr val="FFFF00"/>
                </a:solidFill>
              </a:rPr>
              <a:t>Research</a:t>
            </a:r>
            <a:r>
              <a:rPr lang="en-US" dirty="0"/>
              <a:t> Websites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74576-F964-4EB7-939A-DC9A76F4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DB9DC-9556-496C-821A-76DFC73EE7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Hacker New - </a:t>
            </a:r>
            <a:r>
              <a:rPr lang="en-US" dirty="0">
                <a:hlinkClick r:id="rId2"/>
              </a:rPr>
              <a:t>https://thehackernews.com/</a:t>
            </a:r>
            <a:r>
              <a:rPr lang="en-US" dirty="0"/>
              <a:t> </a:t>
            </a:r>
          </a:p>
          <a:p>
            <a:r>
              <a:rPr lang="en-US" dirty="0"/>
              <a:t>Daniel </a:t>
            </a:r>
            <a:r>
              <a:rPr lang="en-US" dirty="0" err="1"/>
              <a:t>Miessler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https://danielmiessler.com/blog/</a:t>
            </a:r>
            <a:r>
              <a:rPr lang="en-US" dirty="0"/>
              <a:t> </a:t>
            </a:r>
          </a:p>
          <a:p>
            <a:r>
              <a:rPr lang="en-US" dirty="0"/>
              <a:t>CSO Online - </a:t>
            </a:r>
            <a:r>
              <a:rPr lang="en-US" dirty="0">
                <a:hlinkClick r:id="rId4"/>
              </a:rPr>
              <a:t>https://www.csoonline.com/news/</a:t>
            </a:r>
            <a:r>
              <a:rPr lang="en-US" dirty="0"/>
              <a:t> </a:t>
            </a:r>
          </a:p>
          <a:p>
            <a:r>
              <a:rPr lang="en-US" dirty="0"/>
              <a:t>Dark Reading - </a:t>
            </a:r>
            <a:r>
              <a:rPr lang="en-US" dirty="0">
                <a:hlinkClick r:id="rId5"/>
              </a:rPr>
              <a:t>https://www.darkreading.com/</a:t>
            </a:r>
            <a:r>
              <a:rPr lang="en-US" dirty="0"/>
              <a:t> </a:t>
            </a:r>
          </a:p>
          <a:p>
            <a:r>
              <a:rPr lang="en-US" dirty="0"/>
              <a:t>Adam </a:t>
            </a:r>
            <a:r>
              <a:rPr lang="en-US" dirty="0" err="1"/>
              <a:t>Shostack</a:t>
            </a:r>
            <a:r>
              <a:rPr lang="en-US" dirty="0"/>
              <a:t> &amp; Friends - </a:t>
            </a:r>
            <a:r>
              <a:rPr lang="en-US" dirty="0">
                <a:hlinkClick r:id="rId6"/>
              </a:rPr>
              <a:t>https://adam.shostack.org/blog/</a:t>
            </a:r>
            <a:r>
              <a:rPr lang="en-US" dirty="0"/>
              <a:t> </a:t>
            </a:r>
          </a:p>
          <a:p>
            <a:r>
              <a:rPr lang="en-US" dirty="0"/>
              <a:t>Cybersecurity Insiders - </a:t>
            </a:r>
            <a:r>
              <a:rPr lang="en-US" dirty="0">
                <a:hlinkClick r:id="rId7"/>
              </a:rPr>
              <a:t>https://www.cybersecurity-insiders.com/</a:t>
            </a:r>
            <a:r>
              <a:rPr lang="en-US" dirty="0"/>
              <a:t> </a:t>
            </a:r>
          </a:p>
          <a:p>
            <a:r>
              <a:rPr lang="en-US" dirty="0"/>
              <a:t>The Last Watchdog on Privacy &amp; Security - </a:t>
            </a:r>
            <a:r>
              <a:rPr lang="en-US" dirty="0">
                <a:hlinkClick r:id="rId8"/>
              </a:rPr>
              <a:t>https://www.lastwatchdog.com/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9193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891F-4FEC-43AD-9998-818629BD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E9BFD3-7D3E-415F-B2AC-4F904B7F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504B5-38C1-4EED-B1C6-F09D3B5CEA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“</a:t>
            </a:r>
            <a:r>
              <a:rPr lang="en-US" b="1" i="1" u="sng" dirty="0">
                <a:solidFill>
                  <a:srgbClr val="00FF00"/>
                </a:solidFill>
              </a:rPr>
              <a:t>Countermeasures</a:t>
            </a:r>
            <a:r>
              <a:rPr lang="en-US" dirty="0"/>
              <a:t>” needed to: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Avoid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Mitigate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Counteract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Lessen</a:t>
            </a:r>
          </a:p>
          <a:p>
            <a:pPr lvl="1"/>
            <a:r>
              <a:rPr lang="en-US" dirty="0"/>
              <a:t>… </a:t>
            </a:r>
            <a:r>
              <a:rPr lang="en-US" dirty="0">
                <a:solidFill>
                  <a:srgbClr val="FF0000"/>
                </a:solidFill>
              </a:rPr>
              <a:t>Security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Risks</a:t>
            </a:r>
            <a:r>
              <a:rPr lang="en-US" dirty="0"/>
              <a:t> resulting from: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Threats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Attacks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Actually </a:t>
            </a:r>
            <a:r>
              <a:rPr lang="en-US" b="1" i="1" u="sng" dirty="0">
                <a:solidFill>
                  <a:srgbClr val="FF99CC"/>
                </a:solidFill>
              </a:rPr>
              <a:t>Exploiting</a:t>
            </a:r>
            <a:r>
              <a:rPr lang="en-US" dirty="0"/>
              <a:t> a </a:t>
            </a:r>
            <a:r>
              <a:rPr lang="en-US" b="1" i="1" u="sng" dirty="0">
                <a:solidFill>
                  <a:srgbClr val="FF3399"/>
                </a:solidFill>
              </a:rPr>
              <a:t>Vulnerability</a:t>
            </a:r>
            <a:r>
              <a:rPr lang="en-US" dirty="0"/>
              <a:t> in some way</a:t>
            </a:r>
          </a:p>
          <a:p>
            <a:r>
              <a:rPr lang="en-US" b="1" i="1" u="sng" dirty="0">
                <a:solidFill>
                  <a:srgbClr val="00FF00"/>
                </a:solidFill>
              </a:rPr>
              <a:t>Countermeasures</a:t>
            </a:r>
            <a:r>
              <a:rPr lang="en-US" b="1" i="1" u="sng" dirty="0">
                <a:solidFill>
                  <a:srgbClr val="FFFFCC"/>
                </a:solidFill>
              </a:rPr>
              <a:t> - High-Level </a:t>
            </a:r>
            <a:r>
              <a:rPr lang="en-US" b="1" i="1" u="sng" dirty="0">
                <a:solidFill>
                  <a:srgbClr val="66FFCC"/>
                </a:solidFill>
              </a:rPr>
              <a:t>Types </a:t>
            </a:r>
            <a:r>
              <a:rPr lang="en-US" dirty="0"/>
              <a:t>(based on potential Actions of the Controls):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Prevention</a:t>
            </a:r>
            <a:r>
              <a:rPr lang="en-US" dirty="0"/>
              <a:t> – (Locks	, Access Controls)</a:t>
            </a:r>
            <a:endParaRPr lang="en-US" b="1" i="1" u="sng" dirty="0">
              <a:solidFill>
                <a:srgbClr val="FFC000"/>
              </a:solidFill>
            </a:endParaRP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Detection</a:t>
            </a:r>
            <a:r>
              <a:rPr lang="en-US" dirty="0"/>
              <a:t> – (Video Surveillance, </a:t>
            </a:r>
            <a:r>
              <a:rPr lang="en-US" b="1" i="1" u="sng" dirty="0">
                <a:solidFill>
                  <a:srgbClr val="993300"/>
                </a:solidFill>
              </a:rPr>
              <a:t>IDS</a:t>
            </a:r>
            <a:r>
              <a:rPr lang="en-US" dirty="0"/>
              <a:t>)</a:t>
            </a:r>
            <a:endParaRPr lang="en-US" b="1" i="1" u="sng" dirty="0">
              <a:solidFill>
                <a:srgbClr val="FFC000"/>
              </a:solidFill>
            </a:endParaRP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Correction</a:t>
            </a:r>
            <a:r>
              <a:rPr lang="en-US" dirty="0"/>
              <a:t> – (</a:t>
            </a:r>
            <a:r>
              <a:rPr lang="en-US" b="1" i="1" u="sng" dirty="0">
                <a:solidFill>
                  <a:srgbClr val="993300"/>
                </a:solidFill>
              </a:rPr>
              <a:t>IPS</a:t>
            </a:r>
            <a:r>
              <a:rPr lang="en-US" dirty="0"/>
              <a:t>)</a:t>
            </a:r>
            <a:endParaRPr lang="en-US" b="1" i="1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9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EDEC-4BA3-4FE1-B992-EDC6491E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BCDAA-2BB1-4B26-8763-91F21FAF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41574-1FC0-459E-84B0-5A160F8C39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365750"/>
          </a:xfrm>
        </p:spPr>
        <p:txBody>
          <a:bodyPr>
            <a:normAutofit lnSpcReduction="10000"/>
          </a:bodyPr>
          <a:lstStyle/>
          <a:p>
            <a:r>
              <a:rPr lang="en-US" b="1" i="1" u="sng" dirty="0">
                <a:solidFill>
                  <a:srgbClr val="FFFFCC"/>
                </a:solidFill>
              </a:rPr>
              <a:t>More – Detailed </a:t>
            </a:r>
            <a:r>
              <a:rPr lang="en-US" dirty="0"/>
              <a:t>List of Control </a:t>
            </a:r>
            <a:r>
              <a:rPr lang="en-US" b="1" i="1" u="sng" dirty="0">
                <a:solidFill>
                  <a:srgbClr val="66FFCC"/>
                </a:solidFill>
              </a:rPr>
              <a:t>Types</a:t>
            </a:r>
            <a:r>
              <a:rPr lang="en-US" dirty="0"/>
              <a:t>, based on their Application: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Administrative</a:t>
            </a:r>
            <a:r>
              <a:rPr lang="en-US" dirty="0"/>
              <a:t>: (Password Policies, Employee Screening, Training)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Technical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C000"/>
                </a:solidFill>
              </a:rPr>
              <a:t>Logical</a:t>
            </a:r>
            <a:r>
              <a:rPr lang="en-US" dirty="0"/>
              <a:t>: (Firewalls, Authentication Systems, Encryption Protocols)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Operational</a:t>
            </a:r>
            <a:r>
              <a:rPr lang="en-US" dirty="0"/>
              <a:t>: ( Security Assessment, Incident Response, DR, Backup)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Physical</a:t>
            </a:r>
            <a:r>
              <a:rPr lang="en-US" dirty="0"/>
              <a:t>: (Fences / Gates, Locks, Guards, Video Surveillance) 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Detective</a:t>
            </a:r>
            <a:r>
              <a:rPr lang="en-US" dirty="0"/>
              <a:t>: ( Cameras, Motion Detectors, Alarms, Auditing Policies)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Preventative</a:t>
            </a:r>
            <a:r>
              <a:rPr lang="en-US" dirty="0"/>
              <a:t>: (Gates / Doors, Firewalls, Policies (documents) to minimize weaknesses)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Corrective</a:t>
            </a:r>
            <a:r>
              <a:rPr lang="en-US" dirty="0"/>
              <a:t>: (Backup Restoration, Changing Compromised Passwords, Patching Compromised Systems)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Deterrent</a:t>
            </a:r>
            <a:r>
              <a:rPr lang="en-US" dirty="0"/>
              <a:t>: ( Signs / Posters / Warnings, LED on a Fake Camera, Locked Door)</a:t>
            </a:r>
          </a:p>
        </p:txBody>
      </p:sp>
    </p:spTree>
    <p:extLst>
      <p:ext uri="{BB962C8B-B14F-4D97-AF65-F5344CB8AC3E}">
        <p14:creationId xmlns:p14="http://schemas.microsoft.com/office/powerpoint/2010/main" val="1888778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AF13-3862-4180-8EB1-1B8BC9330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Identification, Authentication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A7DEF-C036-4E99-A15B-B4B1D0E1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7F336-D1E9-4353-A7FA-3E3A93164F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200" b="1" i="1" u="sng" dirty="0">
                <a:solidFill>
                  <a:srgbClr val="FF0000"/>
                </a:solidFill>
              </a:rPr>
              <a:t>Identification</a:t>
            </a:r>
          </a:p>
          <a:p>
            <a:pPr lvl="1"/>
            <a:r>
              <a:rPr lang="en-US" sz="3000" b="1" i="1" u="sng" dirty="0"/>
              <a:t>Simply</a:t>
            </a:r>
            <a:r>
              <a:rPr lang="en-US" sz="3000" dirty="0"/>
              <a:t> a “</a:t>
            </a:r>
            <a:r>
              <a:rPr lang="en-US" sz="3000" b="1" i="1" dirty="0">
                <a:solidFill>
                  <a:srgbClr val="FFC000"/>
                </a:solidFill>
              </a:rPr>
              <a:t>Claim</a:t>
            </a:r>
            <a:r>
              <a:rPr lang="en-US" sz="3000" dirty="0"/>
              <a:t>” to an </a:t>
            </a:r>
            <a:r>
              <a:rPr lang="en-US" sz="3000" b="1" i="1" u="sng" dirty="0">
                <a:solidFill>
                  <a:srgbClr val="FFFF00"/>
                </a:solidFill>
              </a:rPr>
              <a:t>Identity</a:t>
            </a:r>
            <a:r>
              <a:rPr lang="en-US" sz="3000" dirty="0"/>
              <a:t>:</a:t>
            </a:r>
          </a:p>
          <a:p>
            <a:pPr lvl="2"/>
            <a:r>
              <a:rPr lang="en-US" sz="2800" dirty="0"/>
              <a:t>Username (most common)</a:t>
            </a:r>
          </a:p>
          <a:p>
            <a:pPr lvl="2"/>
            <a:r>
              <a:rPr lang="en-US" sz="2800" dirty="0"/>
              <a:t>Process ID</a:t>
            </a:r>
          </a:p>
          <a:p>
            <a:pPr lvl="1"/>
            <a:r>
              <a:rPr lang="en-US" sz="3000" dirty="0"/>
              <a:t>Can be made “</a:t>
            </a:r>
            <a:r>
              <a:rPr lang="en-US" sz="3000" b="1" i="1" u="sng" dirty="0">
                <a:solidFill>
                  <a:srgbClr val="00FF00"/>
                </a:solidFill>
              </a:rPr>
              <a:t>Guaranteed</a:t>
            </a:r>
            <a:r>
              <a:rPr lang="en-US" sz="3000" dirty="0"/>
              <a:t>”</a:t>
            </a:r>
          </a:p>
          <a:p>
            <a:pPr lvl="2"/>
            <a:r>
              <a:rPr lang="en-US" sz="2800" dirty="0"/>
              <a:t>Smart Card Data</a:t>
            </a:r>
          </a:p>
          <a:p>
            <a:pPr lvl="3"/>
            <a:r>
              <a:rPr lang="en-US" sz="2600" dirty="0"/>
              <a:t>Anything else that can Uniquely ID a Subject:</a:t>
            </a:r>
          </a:p>
          <a:p>
            <a:pPr lvl="4"/>
            <a:r>
              <a:rPr lang="en-US" sz="2400" b="1" i="1" u="sng" dirty="0">
                <a:solidFill>
                  <a:srgbClr val="FFC000"/>
                </a:solidFill>
              </a:rPr>
              <a:t>Object</a:t>
            </a:r>
            <a:r>
              <a:rPr lang="en-US" sz="2400" dirty="0"/>
              <a:t> – An Entity that contains Information</a:t>
            </a:r>
          </a:p>
          <a:p>
            <a:pPr lvl="4"/>
            <a:r>
              <a:rPr lang="en-US" sz="2400" b="1" i="1" u="sng" dirty="0">
                <a:solidFill>
                  <a:srgbClr val="FFC000"/>
                </a:solidFill>
              </a:rPr>
              <a:t>Subject</a:t>
            </a:r>
            <a:r>
              <a:rPr lang="en-US" sz="2400" dirty="0"/>
              <a:t> – an Object that is Granted / Denied Access to an Object</a:t>
            </a:r>
          </a:p>
          <a:p>
            <a:r>
              <a:rPr lang="en-US" sz="3200" b="1" i="1" u="sng" dirty="0">
                <a:solidFill>
                  <a:srgbClr val="FF0000"/>
                </a:solidFill>
              </a:rPr>
              <a:t>Authentication</a:t>
            </a:r>
            <a:endParaRPr lang="en-US" b="1" i="1" u="sng" dirty="0">
              <a:solidFill>
                <a:srgbClr val="FF0000"/>
              </a:solidFill>
            </a:endParaRPr>
          </a:p>
          <a:p>
            <a:pPr lvl="1"/>
            <a:r>
              <a:rPr lang="en-US" sz="2800" b="1" i="1" u="sng" dirty="0">
                <a:solidFill>
                  <a:srgbClr val="FF9933"/>
                </a:solidFill>
              </a:rPr>
              <a:t>Process</a:t>
            </a:r>
            <a:r>
              <a:rPr lang="en-US" sz="2800" dirty="0"/>
              <a:t> of Determining whether Someone / Something is (</a:t>
            </a:r>
            <a:r>
              <a:rPr lang="en-US" sz="2800" b="1" i="1" u="sng" dirty="0">
                <a:solidFill>
                  <a:srgbClr val="FFFF00"/>
                </a:solidFill>
              </a:rPr>
              <a:t>In FACT</a:t>
            </a:r>
            <a:r>
              <a:rPr lang="en-US" sz="2800" dirty="0"/>
              <a:t>) Who or What they Claim To be</a:t>
            </a:r>
          </a:p>
          <a:p>
            <a:pPr lvl="1"/>
            <a:r>
              <a:rPr lang="en-US" sz="2800" b="1" i="1" u="sng" dirty="0">
                <a:solidFill>
                  <a:srgbClr val="FF6600"/>
                </a:solidFill>
              </a:rPr>
              <a:t>Are you Who / What you Claim (ID) to Be?</a:t>
            </a:r>
          </a:p>
          <a:p>
            <a:pPr marL="0" indent="0">
              <a:buNone/>
            </a:pPr>
            <a:endParaRPr lang="en-US" sz="3200" b="1" i="1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326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1A8D-0C0F-414F-B3CA-701E70C6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Authorization, Guaranteed 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A4048-A349-43DA-BC26-3B87D277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BD85E-7014-4E38-9A2B-41E454089E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200" b="1" i="1" u="sng" dirty="0">
                <a:solidFill>
                  <a:srgbClr val="FF0000"/>
                </a:solidFill>
              </a:rPr>
              <a:t>Authorization</a:t>
            </a:r>
            <a:r>
              <a:rPr lang="en-US" sz="3200" dirty="0"/>
              <a:t>:</a:t>
            </a:r>
          </a:p>
          <a:p>
            <a:pPr lvl="1"/>
            <a:r>
              <a:rPr lang="en-US" sz="3000" b="1" i="1" u="sng" dirty="0">
                <a:solidFill>
                  <a:srgbClr val="FF99CC"/>
                </a:solidFill>
              </a:rPr>
              <a:t>Mechanism</a:t>
            </a:r>
            <a:r>
              <a:rPr lang="en-US" sz="3000" dirty="0"/>
              <a:t> used to Determine </a:t>
            </a:r>
            <a:r>
              <a:rPr lang="en-US" sz="3000" b="1" i="1" u="sng" dirty="0">
                <a:solidFill>
                  <a:srgbClr val="00B0F0"/>
                </a:solidFill>
              </a:rPr>
              <a:t>User</a:t>
            </a:r>
            <a:r>
              <a:rPr lang="en-US" sz="3000" dirty="0"/>
              <a:t> / </a:t>
            </a:r>
            <a:r>
              <a:rPr lang="en-US" sz="3000" b="1" i="1" u="sng" dirty="0">
                <a:solidFill>
                  <a:srgbClr val="00B0F0"/>
                </a:solidFill>
              </a:rPr>
              <a:t>Client</a:t>
            </a:r>
            <a:r>
              <a:rPr lang="en-US" sz="3000" dirty="0"/>
              <a:t>:</a:t>
            </a:r>
          </a:p>
          <a:p>
            <a:pPr lvl="2"/>
            <a:r>
              <a:rPr lang="en-US" sz="2800" b="1" i="1" u="sng" dirty="0">
                <a:solidFill>
                  <a:srgbClr val="FFC000"/>
                </a:solidFill>
              </a:rPr>
              <a:t>Privileges</a:t>
            </a:r>
            <a:r>
              <a:rPr lang="en-US" sz="2800" dirty="0"/>
              <a:t>:</a:t>
            </a:r>
          </a:p>
          <a:p>
            <a:pPr lvl="3"/>
            <a:r>
              <a:rPr lang="en-US" sz="2600" b="1" i="1" u="sng" dirty="0">
                <a:solidFill>
                  <a:srgbClr val="00FF00"/>
                </a:solidFill>
              </a:rPr>
              <a:t>Delegation</a:t>
            </a:r>
            <a:r>
              <a:rPr lang="en-US" sz="2600" dirty="0"/>
              <a:t> </a:t>
            </a:r>
            <a:r>
              <a:rPr lang="en-US" sz="2600" b="1" i="1" u="sng" dirty="0">
                <a:solidFill>
                  <a:srgbClr val="FF0000"/>
                </a:solidFill>
              </a:rPr>
              <a:t>of Authority </a:t>
            </a:r>
            <a:r>
              <a:rPr lang="en-US" sz="2600" dirty="0"/>
              <a:t>to </a:t>
            </a:r>
            <a:r>
              <a:rPr lang="en-US" sz="2600" b="1" i="1" u="sng" dirty="0">
                <a:solidFill>
                  <a:srgbClr val="FF99CC"/>
                </a:solidFill>
              </a:rPr>
              <a:t>Perform</a:t>
            </a:r>
            <a:r>
              <a:rPr lang="en-US" sz="2600" dirty="0"/>
              <a:t> </a:t>
            </a:r>
            <a:r>
              <a:rPr lang="en-US" sz="2600" b="1" i="1" u="sng" dirty="0">
                <a:solidFill>
                  <a:srgbClr val="FF0000"/>
                </a:solidFill>
              </a:rPr>
              <a:t>Security-Related</a:t>
            </a:r>
            <a:r>
              <a:rPr lang="en-US" sz="2600" dirty="0"/>
              <a:t> </a:t>
            </a:r>
            <a:r>
              <a:rPr lang="en-US" sz="2600" b="1" i="1" u="sng" dirty="0">
                <a:solidFill>
                  <a:srgbClr val="FF99CC"/>
                </a:solidFill>
              </a:rPr>
              <a:t>Functions</a:t>
            </a:r>
          </a:p>
          <a:p>
            <a:pPr lvl="4"/>
            <a:r>
              <a:rPr lang="en-US" sz="2400" dirty="0"/>
              <a:t>These Functions must be well defined within some </a:t>
            </a:r>
            <a:r>
              <a:rPr lang="en-US" sz="2400" b="1" i="1" u="sng" dirty="0">
                <a:solidFill>
                  <a:srgbClr val="990000"/>
                </a:solidFill>
              </a:rPr>
              <a:t>System</a:t>
            </a:r>
          </a:p>
          <a:p>
            <a:pPr lvl="2"/>
            <a:r>
              <a:rPr lang="en-US" sz="2800" b="1" i="1" u="sng" dirty="0">
                <a:solidFill>
                  <a:srgbClr val="FFC000"/>
                </a:solidFill>
              </a:rPr>
              <a:t>Permissions</a:t>
            </a:r>
            <a:r>
              <a:rPr lang="en-US" sz="2800" dirty="0"/>
              <a:t>:</a:t>
            </a:r>
          </a:p>
          <a:p>
            <a:pPr lvl="3"/>
            <a:r>
              <a:rPr lang="en-US" sz="2600" b="1" i="1" u="sng" dirty="0">
                <a:solidFill>
                  <a:srgbClr val="FF0000"/>
                </a:solidFill>
              </a:rPr>
              <a:t>Access Levels </a:t>
            </a:r>
            <a:r>
              <a:rPr lang="en-US" sz="2600" dirty="0"/>
              <a:t>related to </a:t>
            </a:r>
            <a:r>
              <a:rPr lang="en-US" sz="2600" b="1" i="1" u="sng" dirty="0">
                <a:solidFill>
                  <a:srgbClr val="990000"/>
                </a:solidFill>
              </a:rPr>
              <a:t>System</a:t>
            </a:r>
            <a:r>
              <a:rPr lang="en-US" sz="2600" dirty="0"/>
              <a:t> </a:t>
            </a:r>
            <a:r>
              <a:rPr lang="en-US" sz="2600" b="1" i="1" u="sng" dirty="0">
                <a:solidFill>
                  <a:srgbClr val="00B050"/>
                </a:solidFill>
              </a:rPr>
              <a:t>Resources</a:t>
            </a:r>
            <a:r>
              <a:rPr lang="en-US" sz="2600" dirty="0"/>
              <a:t>:</a:t>
            </a:r>
          </a:p>
          <a:p>
            <a:pPr lvl="4"/>
            <a:r>
              <a:rPr lang="en-US" sz="2400" b="1" i="1" u="sng" dirty="0">
                <a:solidFill>
                  <a:srgbClr val="00B050"/>
                </a:solidFill>
              </a:rPr>
              <a:t>Resources</a:t>
            </a:r>
            <a:r>
              <a:rPr lang="en-US" sz="2400" dirty="0"/>
              <a:t> = Computer Programs, Files, Services, Data and Application Features</a:t>
            </a:r>
          </a:p>
          <a:p>
            <a:r>
              <a:rPr lang="en-US" sz="3200" b="1" i="1" u="sng" dirty="0">
                <a:solidFill>
                  <a:srgbClr val="FF0000"/>
                </a:solidFill>
              </a:rPr>
              <a:t>Guaranteed ID</a:t>
            </a:r>
            <a:r>
              <a:rPr lang="en-US" sz="3200" dirty="0"/>
              <a:t>:</a:t>
            </a:r>
          </a:p>
          <a:p>
            <a:pPr lvl="1"/>
            <a:r>
              <a:rPr lang="en-US" sz="3000" dirty="0"/>
              <a:t>More than a simple “Claim” (like a username)</a:t>
            </a:r>
          </a:p>
          <a:p>
            <a:pPr lvl="1"/>
            <a:r>
              <a:rPr lang="en-US" sz="3000" dirty="0"/>
              <a:t>A  </a:t>
            </a:r>
            <a:r>
              <a:rPr lang="en-US" sz="3000" b="1" i="1" u="sng" dirty="0">
                <a:solidFill>
                  <a:srgbClr val="FFC000"/>
                </a:solidFill>
              </a:rPr>
              <a:t>Persistent</a:t>
            </a:r>
            <a:r>
              <a:rPr lang="en-US" sz="3000" dirty="0"/>
              <a:t> </a:t>
            </a:r>
            <a:r>
              <a:rPr lang="en-US" sz="3000" b="1" i="1" u="sng" dirty="0">
                <a:solidFill>
                  <a:srgbClr val="FFFF99"/>
                </a:solidFill>
              </a:rPr>
              <a:t>Context</a:t>
            </a:r>
            <a:r>
              <a:rPr lang="en-US" sz="3000" dirty="0"/>
              <a:t> (set of Data) that is </a:t>
            </a:r>
            <a:r>
              <a:rPr lang="en-US" sz="3000" b="1" i="1" u="sng" dirty="0">
                <a:solidFill>
                  <a:srgbClr val="00B0F0"/>
                </a:solidFill>
              </a:rPr>
              <a:t>Publicly</a:t>
            </a:r>
            <a:r>
              <a:rPr lang="en-US" sz="3000" dirty="0"/>
              <a:t> </a:t>
            </a:r>
            <a:r>
              <a:rPr lang="en-US" sz="3000" b="1" i="1" u="sng" dirty="0">
                <a:solidFill>
                  <a:srgbClr val="FF99CC"/>
                </a:solidFill>
              </a:rPr>
              <a:t>Registered</a:t>
            </a:r>
            <a:r>
              <a:rPr lang="en-US" sz="3000" dirty="0"/>
              <a:t> to </a:t>
            </a:r>
            <a:r>
              <a:rPr lang="en-US" sz="3000" b="1" i="1" u="sng" dirty="0">
                <a:solidFill>
                  <a:srgbClr val="FFC000"/>
                </a:solidFill>
              </a:rPr>
              <a:t>Known Entity</a:t>
            </a:r>
          </a:p>
          <a:p>
            <a:pPr lvl="1"/>
            <a:r>
              <a:rPr lang="en-US" sz="3000" b="1" i="1" u="sng" dirty="0">
                <a:solidFill>
                  <a:srgbClr val="FF99CC"/>
                </a:solidFill>
              </a:rPr>
              <a:t>Verified</a:t>
            </a:r>
            <a:r>
              <a:rPr lang="en-US" sz="3000" dirty="0"/>
              <a:t> by the </a:t>
            </a:r>
            <a:r>
              <a:rPr lang="en-US" sz="3000" b="1" i="1" u="sng" dirty="0">
                <a:solidFill>
                  <a:srgbClr val="00B050"/>
                </a:solidFill>
              </a:rPr>
              <a:t>Issuer</a:t>
            </a:r>
            <a:r>
              <a:rPr lang="en-US" sz="3000" dirty="0"/>
              <a:t> of the Context Data itself</a:t>
            </a:r>
          </a:p>
          <a:p>
            <a:pPr lvl="1"/>
            <a:r>
              <a:rPr lang="en-US" sz="3000" dirty="0"/>
              <a:t>Can be </a:t>
            </a:r>
            <a:r>
              <a:rPr lang="en-US" sz="3000" b="1" i="1" u="sng" dirty="0"/>
              <a:t>Verified</a:t>
            </a:r>
            <a:r>
              <a:rPr lang="en-US" sz="3000" dirty="0"/>
              <a:t> / </a:t>
            </a:r>
            <a:r>
              <a:rPr lang="en-US" sz="3000" b="1" i="1" u="sng" dirty="0"/>
              <a:t>Checked</a:t>
            </a:r>
            <a:r>
              <a:rPr lang="en-US" sz="3000" dirty="0"/>
              <a:t> in near </a:t>
            </a:r>
            <a:r>
              <a:rPr lang="en-US" sz="3000" b="1" i="1" u="sng" dirty="0">
                <a:solidFill>
                  <a:schemeClr val="bg1"/>
                </a:solidFill>
                <a:highlight>
                  <a:srgbClr val="FFFF00"/>
                </a:highlight>
              </a:rPr>
              <a:t>Real Time</a:t>
            </a:r>
          </a:p>
          <a:p>
            <a:pPr lvl="1"/>
            <a:r>
              <a:rPr lang="en-US" sz="3000" dirty="0"/>
              <a:t>Most commonly:</a:t>
            </a:r>
          </a:p>
          <a:p>
            <a:pPr lvl="2"/>
            <a:r>
              <a:rPr lang="en-US" sz="2800" b="1" i="1" u="sng" dirty="0">
                <a:solidFill>
                  <a:srgbClr val="FF0000"/>
                </a:solidFill>
              </a:rPr>
              <a:t>Certificates</a:t>
            </a:r>
            <a:r>
              <a:rPr lang="en-US" sz="2800" dirty="0"/>
              <a:t> or </a:t>
            </a:r>
            <a:r>
              <a:rPr lang="en-US" sz="2800" b="1" i="1" u="sng" dirty="0">
                <a:solidFill>
                  <a:srgbClr val="FF0000"/>
                </a:solidFill>
              </a:rPr>
              <a:t>Certificate-Style</a:t>
            </a:r>
            <a:r>
              <a:rPr lang="en-US" sz="2800" dirty="0"/>
              <a:t> </a:t>
            </a:r>
            <a:r>
              <a:rPr lang="en-US" sz="2800" b="1" i="1" dirty="0">
                <a:solidFill>
                  <a:srgbClr val="FFFF00"/>
                </a:solidFill>
              </a:rPr>
              <a:t>Large</a:t>
            </a:r>
            <a:r>
              <a:rPr lang="en-US" sz="2800" dirty="0"/>
              <a:t>, </a:t>
            </a:r>
            <a:r>
              <a:rPr lang="en-US" sz="2800" b="1" i="1" dirty="0">
                <a:solidFill>
                  <a:srgbClr val="FFFF00"/>
                </a:solidFill>
              </a:rPr>
              <a:t>Unique</a:t>
            </a:r>
            <a:r>
              <a:rPr lang="en-US" sz="2800" dirty="0"/>
              <a:t> </a:t>
            </a:r>
            <a:r>
              <a:rPr lang="en-US" sz="2800" b="1" i="1" u="sng" dirty="0">
                <a:solidFill>
                  <a:srgbClr val="FF0000"/>
                </a:solidFill>
              </a:rPr>
              <a:t>Keys</a:t>
            </a:r>
            <a:r>
              <a:rPr lang="en-US" sz="2800" dirty="0"/>
              <a:t> “</a:t>
            </a:r>
            <a:r>
              <a:rPr lang="en-US" sz="2800" b="1" i="1" u="sng" dirty="0"/>
              <a:t>Registered</a:t>
            </a:r>
            <a:r>
              <a:rPr lang="en-US" sz="2800" dirty="0"/>
              <a:t>” to a </a:t>
            </a:r>
            <a:r>
              <a:rPr lang="en-US" sz="2800" b="1" i="1" u="sng" dirty="0">
                <a:solidFill>
                  <a:srgbClr val="FFC000"/>
                </a:solidFill>
              </a:rPr>
              <a:t>Specific Entity</a:t>
            </a:r>
          </a:p>
          <a:p>
            <a:pPr lvl="3"/>
            <a:r>
              <a:rPr lang="en-US" sz="2600" b="1" i="1" u="sng" dirty="0">
                <a:solidFill>
                  <a:srgbClr val="00B0F0"/>
                </a:solidFill>
              </a:rPr>
              <a:t>Person</a:t>
            </a:r>
            <a:r>
              <a:rPr lang="en-US" sz="2600" dirty="0"/>
              <a:t>, </a:t>
            </a:r>
            <a:r>
              <a:rPr lang="en-US" sz="2600" b="1" i="1" u="sng" dirty="0">
                <a:solidFill>
                  <a:srgbClr val="66FFCC"/>
                </a:solidFill>
              </a:rPr>
              <a:t>Group</a:t>
            </a:r>
            <a:r>
              <a:rPr lang="en-US" sz="2600" dirty="0"/>
              <a:t>, </a:t>
            </a:r>
            <a:r>
              <a:rPr lang="en-US" sz="2600" b="1" i="1" u="sng" dirty="0">
                <a:solidFill>
                  <a:srgbClr val="00B050"/>
                </a:solidFill>
              </a:rPr>
              <a:t>Company</a:t>
            </a:r>
            <a:r>
              <a:rPr lang="en-US" sz="2600" dirty="0"/>
              <a:t>, </a:t>
            </a:r>
            <a:r>
              <a:rPr lang="en-US" sz="2600" b="1" i="1" u="sng" dirty="0">
                <a:solidFill>
                  <a:srgbClr val="0070C0"/>
                </a:solidFill>
              </a:rPr>
              <a:t>Application</a:t>
            </a:r>
            <a:r>
              <a:rPr lang="en-US" sz="2600" dirty="0"/>
              <a:t>, </a:t>
            </a:r>
            <a:r>
              <a:rPr lang="en-US" sz="2600" b="1" i="1" u="sng" dirty="0">
                <a:solidFill>
                  <a:srgbClr val="990000"/>
                </a:solidFill>
              </a:rPr>
              <a:t>System</a:t>
            </a:r>
            <a:r>
              <a:rPr lang="en-US" sz="2600" dirty="0"/>
              <a:t>, </a:t>
            </a:r>
            <a:r>
              <a:rPr lang="en-US" sz="2600" b="1" i="1" u="sng" dirty="0">
                <a:solidFill>
                  <a:srgbClr val="0070C0"/>
                </a:solidFill>
              </a:rPr>
              <a:t>Service</a:t>
            </a:r>
          </a:p>
          <a:p>
            <a:pPr lvl="1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68964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CB2C-C688-490D-8AEF-9134909A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Non-Repudiation and “Login”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7F139B-C5FE-41F4-AC27-B47B51B8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69C50-E198-4837-A2D0-93D9AAC964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486400"/>
          </a:xfrm>
        </p:spPr>
        <p:txBody>
          <a:bodyPr/>
          <a:lstStyle/>
          <a:p>
            <a:r>
              <a:rPr lang="en-US" dirty="0"/>
              <a:t>Associated with one’s Identity</a:t>
            </a:r>
          </a:p>
          <a:p>
            <a:r>
              <a:rPr lang="en-US" b="1" i="1" u="sng" dirty="0">
                <a:solidFill>
                  <a:srgbClr val="FF6600"/>
                </a:solidFill>
              </a:rPr>
              <a:t>IF (</a:t>
            </a:r>
            <a:r>
              <a:rPr lang="en-US" b="1" i="1" u="sng" dirty="0">
                <a:solidFill>
                  <a:srgbClr val="00FF00"/>
                </a:solidFill>
              </a:rPr>
              <a:t>Guaranteed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99"/>
                </a:solidFill>
              </a:rPr>
              <a:t>ID</a:t>
            </a:r>
            <a:r>
              <a:rPr lang="en-US" dirty="0">
                <a:solidFill>
                  <a:srgbClr val="FF6600"/>
                </a:solidFill>
              </a:rPr>
              <a:t>) </a:t>
            </a:r>
          </a:p>
          <a:p>
            <a:pPr lvl="1"/>
            <a:r>
              <a:rPr lang="en-US" b="1" i="1" dirty="0">
                <a:solidFill>
                  <a:srgbClr val="FF6600"/>
                </a:solidFill>
              </a:rPr>
              <a:t>{Can provide </a:t>
            </a:r>
            <a:r>
              <a:rPr lang="en-US" b="1" i="1" u="sng" dirty="0">
                <a:solidFill>
                  <a:srgbClr val="FF0000"/>
                </a:solidFill>
              </a:rPr>
              <a:t>Non Repudiation</a:t>
            </a:r>
            <a:r>
              <a:rPr lang="en-US" b="1" i="1" dirty="0">
                <a:solidFill>
                  <a:srgbClr val="FF6600"/>
                </a:solidFill>
              </a:rPr>
              <a:t>}</a:t>
            </a:r>
          </a:p>
          <a:p>
            <a:r>
              <a:rPr lang="en-US" b="1" i="1" u="sng" dirty="0">
                <a:solidFill>
                  <a:srgbClr val="FF99CC"/>
                </a:solidFill>
              </a:rPr>
              <a:t>Login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Can be Simple (we use daily) or Complex</a:t>
            </a:r>
          </a:p>
          <a:p>
            <a:pPr lvl="1"/>
            <a:r>
              <a:rPr lang="en-US" dirty="0"/>
              <a:t>At a minimum, can  be the Ordered Combination of:</a:t>
            </a:r>
          </a:p>
          <a:p>
            <a:pPr lvl="2"/>
            <a:r>
              <a:rPr lang="en-US" b="1" i="1" u="sng" dirty="0">
                <a:solidFill>
                  <a:srgbClr val="FF0000"/>
                </a:solidFill>
              </a:rPr>
              <a:t>Identity</a:t>
            </a:r>
            <a:r>
              <a:rPr lang="en-US" dirty="0"/>
              <a:t>:</a:t>
            </a:r>
          </a:p>
          <a:p>
            <a:pPr lvl="3"/>
            <a:r>
              <a:rPr lang="en-US" b="1" i="1" u="sng" dirty="0">
                <a:solidFill>
                  <a:srgbClr val="FFC000"/>
                </a:solidFill>
              </a:rPr>
              <a:t>Simple</a:t>
            </a:r>
            <a:r>
              <a:rPr lang="en-US" dirty="0"/>
              <a:t> or </a:t>
            </a:r>
            <a:r>
              <a:rPr lang="en-US" b="1" i="1" u="sng" dirty="0">
                <a:solidFill>
                  <a:srgbClr val="00FF00"/>
                </a:solidFill>
              </a:rPr>
              <a:t>Guaranteed</a:t>
            </a:r>
          </a:p>
          <a:p>
            <a:pPr lvl="3"/>
            <a:r>
              <a:rPr lang="en-US" b="1" i="1" u="sng" dirty="0">
                <a:solidFill>
                  <a:srgbClr val="FF6600"/>
                </a:solidFill>
              </a:rPr>
              <a:t>IF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00FF00"/>
                </a:solidFill>
              </a:rPr>
              <a:t>Guaranteed</a:t>
            </a:r>
            <a:r>
              <a:rPr lang="en-US" dirty="0"/>
              <a:t>) { </a:t>
            </a:r>
            <a:r>
              <a:rPr lang="en-US" b="1" i="1" u="sng" dirty="0">
                <a:solidFill>
                  <a:srgbClr val="FF0000"/>
                </a:solidFill>
              </a:rPr>
              <a:t>NR</a:t>
            </a:r>
            <a:r>
              <a:rPr lang="en-US" dirty="0"/>
              <a:t> </a:t>
            </a:r>
            <a:r>
              <a:rPr lang="en-US" dirty="0">
                <a:solidFill>
                  <a:srgbClr val="FF99CC"/>
                </a:solidFill>
              </a:rPr>
              <a:t>is also Provided </a:t>
            </a:r>
            <a:r>
              <a:rPr lang="en-US" dirty="0"/>
              <a:t>}</a:t>
            </a:r>
          </a:p>
          <a:p>
            <a:pPr lvl="2"/>
            <a:r>
              <a:rPr lang="en-US" b="1" i="1" u="sng" dirty="0">
                <a:solidFill>
                  <a:srgbClr val="FF0000"/>
                </a:solidFill>
              </a:rPr>
              <a:t>Authentication</a:t>
            </a:r>
          </a:p>
          <a:p>
            <a:pPr lvl="2"/>
            <a:r>
              <a:rPr lang="en-US" b="1" i="1" u="sng" dirty="0">
                <a:solidFill>
                  <a:srgbClr val="FF0000"/>
                </a:solidFill>
              </a:rPr>
              <a:t>Authorization</a:t>
            </a:r>
          </a:p>
        </p:txBody>
      </p:sp>
    </p:spTree>
    <p:extLst>
      <p:ext uri="{BB962C8B-B14F-4D97-AF65-F5344CB8AC3E}">
        <p14:creationId xmlns:p14="http://schemas.microsoft.com/office/powerpoint/2010/main" val="2941948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6C6C-ED8D-417B-BB7F-2CCD7465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65CD1-1BBC-4DB2-BE08-2B6FA00B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DCFC7-055B-4526-998E-769E27D072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Mechanism that </a:t>
            </a:r>
            <a:r>
              <a:rPr lang="en-US" b="1" i="1" dirty="0">
                <a:solidFill>
                  <a:srgbClr val="00FF00"/>
                </a:solidFill>
              </a:rPr>
              <a:t>Guarantees</a:t>
            </a:r>
            <a:r>
              <a:rPr lang="en-US" dirty="0"/>
              <a:t> the </a:t>
            </a:r>
            <a:r>
              <a:rPr lang="en-US" b="1" i="1" u="sng" dirty="0">
                <a:solidFill>
                  <a:srgbClr val="FFFF99"/>
                </a:solidFill>
              </a:rPr>
              <a:t>Contents</a:t>
            </a:r>
            <a:r>
              <a:rPr lang="en-US" dirty="0"/>
              <a:t> of a </a:t>
            </a:r>
            <a:r>
              <a:rPr lang="en-US" b="1" i="1" u="sng" dirty="0">
                <a:solidFill>
                  <a:srgbClr val="FFC000"/>
                </a:solidFill>
              </a:rPr>
              <a:t>Message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99CC"/>
                </a:solidFill>
              </a:rPr>
              <a:t>Transfer</a:t>
            </a:r>
            <a:r>
              <a:rPr lang="en-US" dirty="0"/>
              <a:t> was </a:t>
            </a:r>
            <a:r>
              <a:rPr lang="en-US" b="1" i="1" u="sng" dirty="0">
                <a:solidFill>
                  <a:srgbClr val="00FF00"/>
                </a:solidFill>
              </a:rPr>
              <a:t>not altered In-Transit</a:t>
            </a:r>
          </a:p>
          <a:p>
            <a:r>
              <a:rPr lang="en-US" dirty="0"/>
              <a:t>Is post-Login…</a:t>
            </a:r>
          </a:p>
          <a:p>
            <a:pPr lvl="1"/>
            <a:r>
              <a:rPr lang="en-US" dirty="0"/>
              <a:t>… but can be used to check the automated communication of the Guarantee ID Context Information</a:t>
            </a:r>
          </a:p>
          <a:p>
            <a:pPr lvl="2"/>
            <a:r>
              <a:rPr lang="en-US" dirty="0"/>
              <a:t>EXAMPLE: To indicate if the Certificate has been altered (tampered-with)</a:t>
            </a:r>
          </a:p>
          <a:p>
            <a:r>
              <a:rPr lang="en-US" b="1" i="1" u="sng" dirty="0">
                <a:solidFill>
                  <a:srgbClr val="FF0000"/>
                </a:solidFill>
              </a:rPr>
              <a:t>Hash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</a:rPr>
              <a:t>Generating</a:t>
            </a:r>
            <a:r>
              <a:rPr lang="en-US" dirty="0"/>
              <a:t> a </a:t>
            </a:r>
            <a:r>
              <a:rPr lang="en-US" b="1" i="1" u="sng" dirty="0">
                <a:solidFill>
                  <a:srgbClr val="FF0000"/>
                </a:solidFill>
              </a:rPr>
              <a:t>Unique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i="1" u="sng" dirty="0">
                <a:solidFill>
                  <a:srgbClr val="FF0000"/>
                </a:solidFill>
              </a:rPr>
              <a:t>Value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or values from a </a:t>
            </a:r>
            <a:r>
              <a:rPr lang="en-US" b="1" i="1" u="sng" dirty="0">
                <a:solidFill>
                  <a:srgbClr val="00B0F0"/>
                </a:solidFill>
              </a:rPr>
              <a:t>String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b="1" i="1" u="sng" dirty="0">
                <a:solidFill>
                  <a:srgbClr val="00B0F0"/>
                </a:solidFill>
              </a:rPr>
              <a:t>of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b="1" i="1" u="sng" dirty="0">
                <a:solidFill>
                  <a:srgbClr val="00B0F0"/>
                </a:solidFill>
              </a:rPr>
              <a:t>Text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Input</a:t>
            </a:r>
            <a:r>
              <a:rPr lang="en-US" dirty="0"/>
              <a:t>) 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</a:rPr>
              <a:t>Uses</a:t>
            </a:r>
            <a:r>
              <a:rPr lang="en-US" dirty="0"/>
              <a:t> a </a:t>
            </a:r>
            <a:r>
              <a:rPr lang="en-US" b="1" i="1" u="sng" dirty="0">
                <a:solidFill>
                  <a:srgbClr val="FFFF00"/>
                </a:solidFill>
              </a:rPr>
              <a:t>Mathematical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b="1" i="1" u="sng" dirty="0">
                <a:solidFill>
                  <a:srgbClr val="FFFF00"/>
                </a:solidFill>
              </a:rPr>
              <a:t>Function</a:t>
            </a:r>
          </a:p>
          <a:p>
            <a:pPr lvl="1"/>
            <a:r>
              <a:rPr lang="en-US" dirty="0"/>
              <a:t>Is </a:t>
            </a:r>
            <a:r>
              <a:rPr lang="en-US" b="1" i="1" u="sng" dirty="0">
                <a:solidFill>
                  <a:srgbClr val="FF0000"/>
                </a:solidFill>
              </a:rPr>
              <a:t>One Way</a:t>
            </a:r>
          </a:p>
          <a:p>
            <a:pPr lvl="1"/>
            <a:r>
              <a:rPr lang="en-US" dirty="0"/>
              <a:t>“</a:t>
            </a:r>
            <a:r>
              <a:rPr lang="en-US" b="1" i="1" u="sng" dirty="0">
                <a:solidFill>
                  <a:srgbClr val="FFC000"/>
                </a:solidFill>
              </a:rPr>
              <a:t>Fingerprint</a:t>
            </a:r>
            <a:r>
              <a:rPr lang="en-US" dirty="0"/>
              <a:t>” number</a:t>
            </a:r>
          </a:p>
        </p:txBody>
      </p:sp>
    </p:spTree>
    <p:extLst>
      <p:ext uri="{BB962C8B-B14F-4D97-AF65-F5344CB8AC3E}">
        <p14:creationId xmlns:p14="http://schemas.microsoft.com/office/powerpoint/2010/main" val="1346751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9636-FE13-4ADB-A64C-AFEC73C5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Authentication</a:t>
            </a:r>
            <a:r>
              <a:rPr lang="en-US" u="none" dirty="0"/>
              <a:t> </a:t>
            </a:r>
            <a:r>
              <a:rPr lang="en-US" dirty="0">
                <a:solidFill>
                  <a:srgbClr val="990000"/>
                </a:solidFill>
              </a:rPr>
              <a:t>System</a:t>
            </a:r>
            <a:r>
              <a:rPr lang="en-US" u="none" dirty="0"/>
              <a:t> </a:t>
            </a:r>
            <a:r>
              <a:rPr lang="en-US" i="1" dirty="0">
                <a:solidFill>
                  <a:srgbClr val="00FFCC"/>
                </a:solidFill>
              </a:rPr>
              <a:t>Types</a:t>
            </a:r>
            <a:r>
              <a:rPr lang="en-US" i="1" u="none" dirty="0">
                <a:solidFill>
                  <a:srgbClr val="00FFCC"/>
                </a:solidFill>
              </a:rPr>
              <a:t> </a:t>
            </a:r>
            <a:r>
              <a:rPr lang="en-US" i="1" dirty="0">
                <a:solidFill>
                  <a:srgbClr val="FF3399"/>
                </a:solidFill>
              </a:rPr>
              <a:t>{How we Login}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14E1EB-DA88-453A-ADA9-A3087B7B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77FA6-402C-4EEE-A89E-4877C569C8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DAC</a:t>
            </a:r>
            <a:r>
              <a:rPr lang="en-US" dirty="0"/>
              <a:t> – </a:t>
            </a:r>
            <a:r>
              <a:rPr lang="en-US" b="1" i="1" u="sng" dirty="0">
                <a:solidFill>
                  <a:srgbClr val="FFC000"/>
                </a:solidFill>
              </a:rPr>
              <a:t>Discretionary Access Control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“Need-to-Know”</a:t>
            </a:r>
          </a:p>
          <a:p>
            <a:pPr lvl="1"/>
            <a:r>
              <a:rPr lang="en-US" dirty="0"/>
              <a:t>Process involves:</a:t>
            </a:r>
          </a:p>
          <a:p>
            <a:pPr lvl="2"/>
            <a:r>
              <a:rPr lang="en-US" dirty="0"/>
              <a:t>Granting default Rights, per user</a:t>
            </a:r>
          </a:p>
          <a:p>
            <a:pPr lvl="2"/>
            <a:r>
              <a:rPr lang="en-US" dirty="0"/>
              <a:t>Hiding / Limiting-Access to Unauthorized Users</a:t>
            </a:r>
          </a:p>
          <a:p>
            <a:r>
              <a:rPr lang="en-US" b="1" i="1" u="sng" dirty="0">
                <a:solidFill>
                  <a:srgbClr val="FF0000"/>
                </a:solidFill>
              </a:rPr>
              <a:t>MAC</a:t>
            </a:r>
            <a:r>
              <a:rPr lang="en-US" dirty="0"/>
              <a:t> – </a:t>
            </a:r>
            <a:r>
              <a:rPr lang="en-US" b="1" i="1" u="sng" dirty="0">
                <a:solidFill>
                  <a:srgbClr val="FFC000"/>
                </a:solidFill>
              </a:rPr>
              <a:t>Mandatory Access Cont</a:t>
            </a:r>
            <a:r>
              <a:rPr lang="en-US" b="1" i="1" u="sng" dirty="0"/>
              <a:t>rol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“Fully-enforced Least Privilege” </a:t>
            </a:r>
          </a:p>
          <a:p>
            <a:pPr lvl="1"/>
            <a:r>
              <a:rPr lang="en-US" dirty="0"/>
              <a:t>Process:</a:t>
            </a:r>
          </a:p>
          <a:p>
            <a:pPr lvl="2"/>
            <a:r>
              <a:rPr lang="en-US" dirty="0"/>
              <a:t>Users only given minimum Rights to get their job accomplished</a:t>
            </a:r>
          </a:p>
          <a:p>
            <a:r>
              <a:rPr lang="en-US" b="1" i="1" u="sng" dirty="0">
                <a:solidFill>
                  <a:srgbClr val="FF0000"/>
                </a:solidFill>
              </a:rPr>
              <a:t>RBAC</a:t>
            </a:r>
            <a:r>
              <a:rPr lang="en-US" dirty="0"/>
              <a:t> – </a:t>
            </a:r>
            <a:r>
              <a:rPr lang="en-US" b="1" dirty="0">
                <a:solidFill>
                  <a:srgbClr val="FFFF00"/>
                </a:solidFill>
              </a:rPr>
              <a:t>2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FFCC"/>
                </a:solidFill>
              </a:rPr>
              <a:t>Sub-Types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Role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Based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“Separation of Duties, based on the Role one plays in the Organization”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Rule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Based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“Heuristics based”</a:t>
            </a:r>
          </a:p>
        </p:txBody>
      </p:sp>
    </p:spTree>
    <p:extLst>
      <p:ext uri="{BB962C8B-B14F-4D97-AF65-F5344CB8AC3E}">
        <p14:creationId xmlns:p14="http://schemas.microsoft.com/office/powerpoint/2010/main" val="3307155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A3CE-821C-4A71-9643-A15A2856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Restriction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F82F22-1300-4C89-8208-880C752E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1057C-9AA8-434D-8144-05299FDB05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5365750"/>
          </a:xfrm>
        </p:spPr>
        <p:txBody>
          <a:bodyPr>
            <a:normAutofit fontScale="77500" lnSpcReduction="20000"/>
          </a:bodyPr>
          <a:lstStyle/>
          <a:p>
            <a:r>
              <a:rPr lang="en-US" b="1" i="1" u="sng" dirty="0">
                <a:solidFill>
                  <a:srgbClr val="FFC000"/>
                </a:solidFill>
              </a:rPr>
              <a:t>Restrict Access by combinations of the Following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</a:rPr>
              <a:t>UP_TO-5</a:t>
            </a:r>
            <a:r>
              <a:rPr lang="en-US" b="1" i="1" u="sng" dirty="0"/>
              <a:t> </a:t>
            </a:r>
            <a:r>
              <a:rPr lang="en-US" b="1" i="1" u="sng" dirty="0">
                <a:solidFill>
                  <a:srgbClr val="FF0000"/>
                </a:solidFill>
              </a:rPr>
              <a:t>Authentication </a:t>
            </a:r>
            <a:r>
              <a:rPr lang="en-US" b="1" i="1" u="sng" dirty="0">
                <a:solidFill>
                  <a:srgbClr val="FFC000"/>
                </a:solidFill>
              </a:rPr>
              <a:t>Factors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u="sng" dirty="0">
                <a:solidFill>
                  <a:srgbClr val="FFFF99"/>
                </a:solidFill>
              </a:rPr>
              <a:t>(Identification Data)</a:t>
            </a:r>
            <a:endParaRPr lang="en-US" dirty="0">
              <a:solidFill>
                <a:srgbClr val="FFFF99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FF0000"/>
                </a:solidFill>
              </a:rPr>
              <a:t>Know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FF0000"/>
                </a:solidFill>
              </a:rPr>
              <a:t>Have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FF0000"/>
                </a:solidFill>
              </a:rPr>
              <a:t>Are</a:t>
            </a:r>
            <a:r>
              <a:rPr lang="en-US" dirty="0">
                <a:solidFill>
                  <a:srgbClr val="FF0000"/>
                </a:solidFill>
              </a:rPr>
              <a:t> / </a:t>
            </a:r>
            <a:r>
              <a:rPr lang="en-US" b="1" i="1" u="sng" dirty="0">
                <a:solidFill>
                  <a:srgbClr val="FF0000"/>
                </a:solidFill>
              </a:rPr>
              <a:t>Biometrics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FF0000"/>
                </a:solidFill>
              </a:rPr>
              <a:t>Do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b="1" i="1" u="sng" dirty="0">
                <a:solidFill>
                  <a:srgbClr val="FF0000"/>
                </a:solidFill>
              </a:rPr>
              <a:t>Geolocation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Various Degrees </a:t>
            </a:r>
            <a:r>
              <a:rPr lang="en-US" dirty="0"/>
              <a:t>of </a:t>
            </a:r>
            <a:r>
              <a:rPr lang="en-US" b="1" i="1" u="sng" dirty="0">
                <a:solidFill>
                  <a:srgbClr val="FF0000"/>
                </a:solidFill>
              </a:rPr>
              <a:t>Encryption</a:t>
            </a:r>
            <a:r>
              <a:rPr lang="en-US" dirty="0"/>
              <a:t> (only for the most Sensitive / Restricted Resources / Assets)</a:t>
            </a:r>
            <a:endParaRPr lang="en-US" b="1" i="1" u="sng" dirty="0">
              <a:solidFill>
                <a:srgbClr val="FF0000"/>
              </a:solidFill>
            </a:endParaRP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Hiding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0000"/>
                </a:solidFill>
              </a:rPr>
              <a:t>Secreting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“</a:t>
            </a:r>
            <a:r>
              <a:rPr lang="en-US" b="1" i="1" u="sng" dirty="0">
                <a:solidFill>
                  <a:srgbClr val="FF0000"/>
                </a:solidFill>
              </a:rPr>
              <a:t>Steganography</a:t>
            </a:r>
            <a:r>
              <a:rPr lang="en-US" dirty="0"/>
              <a:t>” </a:t>
            </a:r>
          </a:p>
          <a:p>
            <a:pPr lvl="3"/>
            <a:r>
              <a:rPr lang="en-US" dirty="0"/>
              <a:t>Often known as “</a:t>
            </a:r>
            <a:r>
              <a:rPr lang="en-US" sz="2600" b="1" i="1" u="sng" dirty="0">
                <a:solidFill>
                  <a:srgbClr val="FFC000"/>
                </a:solidFill>
              </a:rPr>
              <a:t>Security Through Obscurity</a:t>
            </a:r>
            <a:r>
              <a:rPr lang="en-US" dirty="0"/>
              <a:t>”</a:t>
            </a:r>
          </a:p>
          <a:p>
            <a:pPr lvl="4"/>
            <a:r>
              <a:rPr lang="en-US" dirty="0"/>
              <a:t>Is </a:t>
            </a:r>
            <a:r>
              <a:rPr lang="en-US" b="1" i="1" u="sng" dirty="0"/>
              <a:t>a Good STARTING POINT</a:t>
            </a:r>
            <a:r>
              <a:rPr lang="en-US" dirty="0"/>
              <a:t>, but should not be a major Access Control on its own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Hashing</a:t>
            </a:r>
            <a:r>
              <a:rPr lang="en-US" dirty="0"/>
              <a:t> – Associated with </a:t>
            </a:r>
            <a:r>
              <a:rPr lang="en-US" b="1" i="1" u="sng" dirty="0">
                <a:solidFill>
                  <a:srgbClr val="FF0000"/>
                </a:solidFill>
              </a:rPr>
              <a:t>Integrity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Digital Signatures</a:t>
            </a:r>
            <a:r>
              <a:rPr lang="en-US" dirty="0"/>
              <a:t> – Algorithms that provide Guaranteed ID</a:t>
            </a:r>
            <a:endParaRPr lang="en-US" b="1" i="1" u="sng" dirty="0">
              <a:solidFill>
                <a:srgbClr val="FF0000"/>
              </a:solidFill>
            </a:endParaRPr>
          </a:p>
          <a:p>
            <a:pPr lvl="1"/>
            <a:r>
              <a:rPr lang="en-US" b="1" i="1" u="sng" dirty="0">
                <a:solidFill>
                  <a:srgbClr val="FF0000"/>
                </a:solidFill>
              </a:rPr>
              <a:t>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98062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9771-CD5C-4822-94AE-9159CBB3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Single-Point-of-failure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33C91D-6FCE-4151-A3E9-A546F3E8A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AC28F-143E-40FB-80EB-32FDBEE696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FFFF00"/>
                </a:solidFill>
              </a:rPr>
              <a:t>Fact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</a:rPr>
              <a:t>Number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FFF00"/>
                </a:solidFill>
              </a:rPr>
              <a:t>Complexity</a:t>
            </a:r>
            <a:r>
              <a:rPr lang="en-US" dirty="0"/>
              <a:t> of </a:t>
            </a:r>
            <a:r>
              <a:rPr lang="en-US" b="1" i="1" u="sng" dirty="0">
                <a:solidFill>
                  <a:srgbClr val="FF0000"/>
                </a:solidFill>
              </a:rPr>
              <a:t>Security Controls</a:t>
            </a:r>
            <a:r>
              <a:rPr lang="en-US" dirty="0"/>
              <a:t> is a </a:t>
            </a:r>
            <a:r>
              <a:rPr lang="en-US" b="1" i="1" u="sng" dirty="0">
                <a:solidFill>
                  <a:srgbClr val="FF9933"/>
                </a:solidFill>
              </a:rPr>
              <a:t>two-edged sword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On </a:t>
            </a:r>
            <a:r>
              <a:rPr lang="en-US" b="1" i="1" u="sng" dirty="0">
                <a:solidFill>
                  <a:srgbClr val="FF9933"/>
                </a:solidFill>
              </a:rPr>
              <a:t>one Hand</a:t>
            </a:r>
            <a:r>
              <a:rPr lang="en-US" dirty="0"/>
              <a:t>, Can certainly </a:t>
            </a:r>
            <a:r>
              <a:rPr lang="en-US" b="1" i="1" u="sng" dirty="0">
                <a:solidFill>
                  <a:srgbClr val="00FF00"/>
                </a:solidFill>
              </a:rPr>
              <a:t>Enhance</a:t>
            </a:r>
            <a:r>
              <a:rPr lang="en-US" dirty="0"/>
              <a:t> Security (</a:t>
            </a:r>
            <a:r>
              <a:rPr lang="en-US" b="1" i="1" u="sng" dirty="0">
                <a:solidFill>
                  <a:srgbClr val="00FF00"/>
                </a:solidFill>
              </a:rPr>
              <a:t>Good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On the </a:t>
            </a:r>
            <a:r>
              <a:rPr lang="en-US" b="1" i="1" u="sng" dirty="0">
                <a:solidFill>
                  <a:srgbClr val="FF9933"/>
                </a:solidFill>
              </a:rPr>
              <a:t>other hand</a:t>
            </a:r>
            <a:r>
              <a:rPr lang="en-US" dirty="0"/>
              <a:t>, Can prove to be either:</a:t>
            </a:r>
          </a:p>
          <a:p>
            <a:pPr lvl="3"/>
            <a:r>
              <a:rPr lang="en-US" b="1" i="1" u="sng" dirty="0">
                <a:solidFill>
                  <a:srgbClr val="92D050"/>
                </a:solidFill>
              </a:rPr>
              <a:t>Too much overhead to maintain </a:t>
            </a:r>
            <a:r>
              <a:rPr lang="en-US" dirty="0"/>
              <a:t>for the chosen level of Control</a:t>
            </a:r>
          </a:p>
          <a:p>
            <a:pPr lvl="3"/>
            <a:r>
              <a:rPr lang="en-US" b="1" i="1" u="sng" dirty="0">
                <a:solidFill>
                  <a:srgbClr val="92D050"/>
                </a:solidFill>
              </a:rPr>
              <a:t>“Single Point of Failure”  (SPOF)</a:t>
            </a:r>
          </a:p>
          <a:p>
            <a:r>
              <a:rPr lang="en-US" dirty="0"/>
              <a:t>Therefore:</a:t>
            </a:r>
          </a:p>
          <a:p>
            <a:pPr lvl="1"/>
            <a:r>
              <a:rPr lang="en-US" dirty="0"/>
              <a:t>Must </a:t>
            </a:r>
            <a:r>
              <a:rPr lang="en-US" b="1" i="1" u="sng" dirty="0">
                <a:solidFill>
                  <a:srgbClr val="FF99CC"/>
                </a:solidFill>
              </a:rPr>
              <a:t>BALANCE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</a:rPr>
              <a:t>C,I,A</a:t>
            </a:r>
            <a:r>
              <a:rPr lang="en-US" dirty="0"/>
              <a:t> needs against:</a:t>
            </a:r>
          </a:p>
          <a:p>
            <a:pPr lvl="3"/>
            <a:r>
              <a:rPr lang="en-US" dirty="0"/>
              <a:t>Information Security </a:t>
            </a:r>
            <a:r>
              <a:rPr lang="en-US" sz="2600" b="1" i="1" u="sng" dirty="0">
                <a:solidFill>
                  <a:srgbClr val="99CCFF"/>
                </a:solidFill>
              </a:rPr>
              <a:t>Policy</a:t>
            </a:r>
            <a:endParaRPr lang="en-US" b="1" i="1" u="sng" dirty="0">
              <a:solidFill>
                <a:srgbClr val="99CCFF"/>
              </a:solidFill>
            </a:endParaRPr>
          </a:p>
          <a:p>
            <a:pPr lvl="3"/>
            <a:r>
              <a:rPr lang="en-US" dirty="0"/>
              <a:t>Desired </a:t>
            </a:r>
            <a:r>
              <a:rPr lang="en-US" sz="2600" b="1" i="1" u="sng" dirty="0"/>
              <a:t>Level of Access </a:t>
            </a:r>
            <a:endParaRPr lang="en-US" b="1" i="1" u="sng" dirty="0"/>
          </a:p>
          <a:p>
            <a:pPr lvl="3"/>
            <a:r>
              <a:rPr lang="en-US" dirty="0"/>
              <a:t>Degree of </a:t>
            </a:r>
            <a:r>
              <a:rPr lang="en-US" sz="2600" b="1" i="1" u="sng" dirty="0">
                <a:solidFill>
                  <a:srgbClr val="FF0000"/>
                </a:solidFill>
              </a:rPr>
              <a:t>Privacy</a:t>
            </a:r>
            <a:endParaRPr lang="en-US" b="1" i="1" u="sng" dirty="0">
              <a:solidFill>
                <a:srgbClr val="FF0000"/>
              </a:solidFill>
            </a:endParaRPr>
          </a:p>
          <a:p>
            <a:pPr lvl="3"/>
            <a:r>
              <a:rPr lang="en-US" dirty="0"/>
              <a:t>Capability of </a:t>
            </a:r>
            <a:r>
              <a:rPr lang="en-US" b="1" i="1" u="sng" dirty="0">
                <a:solidFill>
                  <a:srgbClr val="FF0000"/>
                </a:solidFill>
              </a:rPr>
              <a:t>Access Controls </a:t>
            </a:r>
            <a:r>
              <a:rPr lang="en-US" b="1" i="1" u="sng" dirty="0">
                <a:solidFill>
                  <a:srgbClr val="FFC000"/>
                </a:solidFill>
              </a:rPr>
              <a:t>Chosen</a:t>
            </a:r>
          </a:p>
        </p:txBody>
      </p:sp>
    </p:spTree>
    <p:extLst>
      <p:ext uri="{BB962C8B-B14F-4D97-AF65-F5344CB8AC3E}">
        <p14:creationId xmlns:p14="http://schemas.microsoft.com/office/powerpoint/2010/main" val="2455999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2B5C-DA14-4D8F-A279-5CBCD605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Ratings</a:t>
            </a:r>
            <a:r>
              <a:rPr lang="en-US" dirty="0"/>
              <a:t> for Sys/ Svc / app: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146D6-095D-4BDD-93E4-59AA9F71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F4996-9B6A-4534-871D-3CC3CD4C69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u="sng" dirty="0">
                <a:solidFill>
                  <a:srgbClr val="FFC000"/>
                </a:solidFill>
              </a:rPr>
              <a:t>High Availability:</a:t>
            </a:r>
          </a:p>
          <a:p>
            <a:pPr lvl="1"/>
            <a:r>
              <a:rPr lang="en-US" dirty="0"/>
              <a:t>Keeping Assets (Data, Programs, Systems) available for a Measured-Amount of Time</a:t>
            </a:r>
          </a:p>
          <a:p>
            <a:r>
              <a:rPr lang="en-US" dirty="0"/>
              <a:t>(</a:t>
            </a:r>
            <a:r>
              <a:rPr lang="en-US" b="1" i="1" u="sng" dirty="0">
                <a:solidFill>
                  <a:srgbClr val="FF3399"/>
                </a:solidFill>
              </a:rPr>
              <a:t>Asset and Access Dependent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Measured as a </a:t>
            </a:r>
            <a:r>
              <a:rPr lang="en-US" b="1" i="1" u="sng" dirty="0">
                <a:solidFill>
                  <a:srgbClr val="FFFF99"/>
                </a:solidFill>
              </a:rPr>
              <a:t>Percentage</a:t>
            </a:r>
            <a:r>
              <a:rPr lang="en-US" dirty="0"/>
              <a:t> of </a:t>
            </a:r>
            <a:r>
              <a:rPr lang="en-US" b="1" i="1" u="sng" dirty="0">
                <a:solidFill>
                  <a:schemeClr val="bg1"/>
                </a:solidFill>
                <a:highlight>
                  <a:srgbClr val="FFFF00"/>
                </a:highlight>
              </a:rPr>
              <a:t>Time</a:t>
            </a:r>
            <a:r>
              <a:rPr lang="en-US" dirty="0"/>
              <a:t> the Prescribed Asset is Available, as </a:t>
            </a:r>
            <a:r>
              <a:rPr lang="en-US" b="1" i="1" u="sng" dirty="0">
                <a:solidFill>
                  <a:srgbClr val="99CCFF"/>
                </a:solidFill>
              </a:rPr>
              <a:t>Policy</a:t>
            </a:r>
            <a:r>
              <a:rPr lang="en-US" dirty="0"/>
              <a:t> indicates</a:t>
            </a:r>
          </a:p>
          <a:p>
            <a:pPr lvl="1"/>
            <a:r>
              <a:rPr lang="en-US" dirty="0"/>
              <a:t>Common values today:</a:t>
            </a:r>
          </a:p>
          <a:p>
            <a:pPr lvl="2"/>
            <a:r>
              <a:rPr lang="en-US" dirty="0"/>
              <a:t>For “Availability Measures”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4 9’s = 99.99 % Availability = 52.56 minutes / </a:t>
            </a:r>
            <a:r>
              <a:rPr lang="en-US" dirty="0" err="1">
                <a:solidFill>
                  <a:schemeClr val="bg1"/>
                </a:solidFill>
                <a:highlight>
                  <a:srgbClr val="FFFF00"/>
                </a:highlight>
              </a:rPr>
              <a:t>yr</a:t>
            </a:r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lvl="3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5 9’s = 99999 = 5.256 minutes / yr.</a:t>
            </a:r>
          </a:p>
          <a:p>
            <a:pPr lvl="2"/>
            <a:r>
              <a:rPr lang="en-US" dirty="0"/>
              <a:t>For “Data Durability Measures”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11 9’s = 99.999999999</a:t>
            </a:r>
          </a:p>
          <a:p>
            <a:pPr lvl="3"/>
            <a:r>
              <a:rPr lang="en-US" b="1" i="1" u="sng" dirty="0">
                <a:solidFill>
                  <a:srgbClr val="FF3399"/>
                </a:solidFill>
              </a:rPr>
              <a:t>{this would mean they are not statistically likely to EVER loose the Data comprising the Asset}</a:t>
            </a:r>
          </a:p>
          <a:p>
            <a:r>
              <a:rPr lang="en-US" dirty="0">
                <a:solidFill>
                  <a:srgbClr val="FFC000"/>
                </a:solidFill>
              </a:rPr>
              <a:t>Must work to avoid </a:t>
            </a:r>
            <a:r>
              <a:rPr lang="en-US" sz="3000" b="1" i="1" u="sng" dirty="0">
                <a:solidFill>
                  <a:srgbClr val="92D050"/>
                </a:solidFill>
              </a:rPr>
              <a:t>Single Points of Failure</a:t>
            </a:r>
            <a:endParaRPr lang="en-US" b="1" i="1" u="sng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821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CDDC-6CEF-4F15-A343-0F403FA9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Availability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E0C21-75C2-4422-96BF-4E33A0E4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B2E8D-49AC-44FA-9C05-752B583E6D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u="sng" dirty="0">
                <a:solidFill>
                  <a:srgbClr val="FFC000"/>
                </a:solidFill>
              </a:rPr>
              <a:t>Redundancy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More Resources to use in the event another Replica should Fail or become Overloaded</a:t>
            </a:r>
          </a:p>
          <a:p>
            <a:pPr lvl="1"/>
            <a:r>
              <a:rPr lang="en-US" dirty="0"/>
              <a:t>NOTE – this also provides yet another Measure, important in some applications:</a:t>
            </a:r>
          </a:p>
          <a:p>
            <a:pPr lvl="2"/>
            <a:r>
              <a:rPr lang="en-US" sz="3200" b="1" i="1" u="sng" dirty="0">
                <a:solidFill>
                  <a:srgbClr val="FFC000"/>
                </a:solidFill>
              </a:rPr>
              <a:t>Fault</a:t>
            </a:r>
            <a:r>
              <a:rPr lang="en-US" sz="3200" dirty="0"/>
              <a:t> </a:t>
            </a:r>
            <a:r>
              <a:rPr lang="en-US" sz="3200" b="1" i="1" u="sng" dirty="0">
                <a:solidFill>
                  <a:srgbClr val="FFC000"/>
                </a:solidFill>
              </a:rPr>
              <a:t>Tolerance</a:t>
            </a:r>
          </a:p>
          <a:p>
            <a:pPr lvl="3"/>
            <a:r>
              <a:rPr lang="en-US" dirty="0"/>
              <a:t>Ability to encounter a </a:t>
            </a:r>
            <a:r>
              <a:rPr lang="en-US" b="1" i="1" u="sng" dirty="0">
                <a:solidFill>
                  <a:srgbClr val="92D050"/>
                </a:solidFill>
              </a:rPr>
              <a:t>Failure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00FF00"/>
                </a:solidFill>
              </a:rPr>
              <a:t>yet Keep Providing </a:t>
            </a:r>
            <a:r>
              <a:rPr lang="en-US" dirty="0"/>
              <a:t>the </a:t>
            </a:r>
            <a:r>
              <a:rPr lang="en-US" b="1" i="1" u="sng" dirty="0">
                <a:solidFill>
                  <a:srgbClr val="00B050"/>
                </a:solidFill>
              </a:rPr>
              <a:t>Asset</a:t>
            </a:r>
          </a:p>
          <a:p>
            <a:pPr lvl="1"/>
            <a:r>
              <a:rPr lang="en-US" dirty="0"/>
              <a:t>If the “primary resource” becomes unusable, users can be automatically “Failed-Over” to one of the Alternate (Redundant) Resources</a:t>
            </a:r>
          </a:p>
          <a:p>
            <a:pPr lvl="2"/>
            <a:r>
              <a:rPr lang="en-US" dirty="0"/>
              <a:t>Failover can be:</a:t>
            </a:r>
          </a:p>
          <a:p>
            <a:pPr lvl="3"/>
            <a:r>
              <a:rPr lang="en-US" dirty="0"/>
              <a:t>Automatic (Clusters of Systems)</a:t>
            </a:r>
          </a:p>
          <a:p>
            <a:pPr lvl="3"/>
            <a:r>
              <a:rPr lang="en-US" dirty="0"/>
              <a:t>Manual (Requires Human Intervention to restore the Asset to Availability)</a:t>
            </a:r>
          </a:p>
        </p:txBody>
      </p:sp>
    </p:spTree>
    <p:extLst>
      <p:ext uri="{BB962C8B-B14F-4D97-AF65-F5344CB8AC3E}">
        <p14:creationId xmlns:p14="http://schemas.microsoft.com/office/powerpoint/2010/main" val="2750553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2F61-EEA5-4327-B541-2C1991B1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tolerance implementation-examples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97C28-3D5D-47D0-A15F-62D74708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0635D-594F-483A-9F49-94A9CF5AC3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u="sng" dirty="0">
                <a:solidFill>
                  <a:srgbClr val="990000"/>
                </a:solidFill>
              </a:rPr>
              <a:t>Storage Systems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</a:rPr>
              <a:t>RAID</a:t>
            </a:r>
            <a:r>
              <a:rPr lang="en-US" dirty="0"/>
              <a:t> – </a:t>
            </a:r>
            <a:r>
              <a:rPr lang="en-US" b="1" i="1" u="sng" dirty="0"/>
              <a:t>Redundant Array of Independent Disks</a:t>
            </a:r>
            <a:endParaRPr lang="en-US" b="1" i="1" u="sng" dirty="0">
              <a:solidFill>
                <a:srgbClr val="0070C0"/>
              </a:solidFill>
            </a:endParaRPr>
          </a:p>
          <a:p>
            <a:r>
              <a:rPr lang="en-US" b="1" i="1" u="sng" dirty="0">
                <a:solidFill>
                  <a:srgbClr val="FFFF00"/>
                </a:solidFill>
              </a:rPr>
              <a:t>Compute Engines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6600"/>
                </a:solidFill>
              </a:rPr>
              <a:t>Clusters</a:t>
            </a:r>
            <a:r>
              <a:rPr lang="en-US" dirty="0"/>
              <a:t> </a:t>
            </a:r>
          </a:p>
          <a:p>
            <a:pPr lvl="2"/>
            <a:r>
              <a:rPr lang="en-US" b="1" i="1" u="sng" dirty="0">
                <a:solidFill>
                  <a:srgbClr val="FFFF00"/>
                </a:solidFill>
              </a:rPr>
              <a:t>Tightly-Coupled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9933"/>
                </a:solidFill>
              </a:rPr>
              <a:t>Computers</a:t>
            </a:r>
            <a:r>
              <a:rPr lang="en-US" dirty="0"/>
              <a:t> (Compute Engine, Memory, Storage and Network) working as a </a:t>
            </a:r>
            <a:r>
              <a:rPr lang="en-US" b="1" i="1" u="sng" dirty="0">
                <a:solidFill>
                  <a:srgbClr val="FFFF00"/>
                </a:solidFill>
              </a:rPr>
              <a:t>Single</a:t>
            </a:r>
            <a:r>
              <a:rPr lang="en-US" dirty="0"/>
              <a:t> (often </a:t>
            </a:r>
            <a:r>
              <a:rPr lang="en-US" b="1" i="1" u="sng" dirty="0">
                <a:solidFill>
                  <a:srgbClr val="FFFF00"/>
                </a:solidFill>
              </a:rPr>
              <a:t>Massive</a:t>
            </a:r>
            <a:r>
              <a:rPr lang="en-US" dirty="0"/>
              <a:t>) Unit (as a single </a:t>
            </a:r>
            <a:r>
              <a:rPr lang="en-US" b="1" i="1" u="sng" dirty="0">
                <a:solidFill>
                  <a:srgbClr val="FF9933"/>
                </a:solidFill>
              </a:rPr>
              <a:t>Computer</a:t>
            </a:r>
            <a:r>
              <a:rPr lang="en-US" dirty="0"/>
              <a:t>)</a:t>
            </a:r>
            <a:endParaRPr lang="en-US" b="1" i="1" u="sng" dirty="0">
              <a:solidFill>
                <a:srgbClr val="FF6600"/>
              </a:solidFill>
            </a:endParaRPr>
          </a:p>
          <a:p>
            <a:r>
              <a:rPr lang="en-US" b="1" i="1" u="sng" dirty="0">
                <a:solidFill>
                  <a:srgbClr val="990000"/>
                </a:solidFill>
              </a:rPr>
              <a:t>Data Base Systems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</a:rPr>
              <a:t>Mirrored Servers </a:t>
            </a:r>
            <a:r>
              <a:rPr lang="en-US" dirty="0"/>
              <a:t>(usually Geographically Distributed)</a:t>
            </a:r>
          </a:p>
          <a:p>
            <a:pPr lvl="2"/>
            <a:r>
              <a:rPr lang="en-US" dirty="0"/>
              <a:t>Live Connection with near real time updates between remote Installations</a:t>
            </a:r>
          </a:p>
          <a:p>
            <a:pPr lvl="1"/>
            <a:r>
              <a:rPr lang="en-US" b="1" i="1" u="sng" dirty="0">
                <a:solidFill>
                  <a:srgbClr val="FF99CC"/>
                </a:solidFill>
              </a:rPr>
              <a:t>Log File </a:t>
            </a:r>
            <a:r>
              <a:rPr lang="en-US" dirty="0"/>
              <a:t>Shipping</a:t>
            </a:r>
          </a:p>
          <a:p>
            <a:pPr lvl="2"/>
            <a:r>
              <a:rPr lang="en-US" b="1" i="1" u="sng" dirty="0">
                <a:solidFill>
                  <a:srgbClr val="FF3399"/>
                </a:solidFill>
              </a:rPr>
              <a:t>{Briefly explain “</a:t>
            </a:r>
            <a:r>
              <a:rPr lang="en-US" b="1" i="1" u="sng" dirty="0">
                <a:solidFill>
                  <a:srgbClr val="FF99CC"/>
                </a:solidFill>
              </a:rPr>
              <a:t>Transaction Log</a:t>
            </a:r>
            <a:r>
              <a:rPr lang="en-US" b="1" i="1" u="sng" dirty="0">
                <a:solidFill>
                  <a:srgbClr val="FF3399"/>
                </a:solidFill>
              </a:rPr>
              <a:t>” versus “</a:t>
            </a:r>
            <a:r>
              <a:rPr lang="en-US" b="1" i="1" u="sng" dirty="0">
                <a:solidFill>
                  <a:schemeClr val="bg1"/>
                </a:solidFill>
                <a:highlight>
                  <a:srgbClr val="FFFF00"/>
                </a:highlight>
              </a:rPr>
              <a:t>Event Log</a:t>
            </a:r>
            <a:r>
              <a:rPr lang="en-US" b="1" i="1" u="sng" dirty="0">
                <a:solidFill>
                  <a:srgbClr val="FF3399"/>
                </a:solidFill>
              </a:rPr>
              <a:t>”}</a:t>
            </a:r>
          </a:p>
          <a:p>
            <a:pPr lvl="3"/>
            <a:r>
              <a:rPr lang="en-US" b="1" i="1" u="sng" dirty="0">
                <a:solidFill>
                  <a:srgbClr val="FFC000"/>
                </a:solidFill>
              </a:rPr>
              <a:t>Generally, more “mechanical process” to keep the Source DBMS Changes “In-Sync” with a Remote Instance</a:t>
            </a:r>
          </a:p>
        </p:txBody>
      </p:sp>
    </p:spTree>
    <p:extLst>
      <p:ext uri="{BB962C8B-B14F-4D97-AF65-F5344CB8AC3E}">
        <p14:creationId xmlns:p14="http://schemas.microsoft.com/office/powerpoint/2010/main" val="1591628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ECA4-9ED9-46DF-963A-2A567678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&amp; Patch 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9EB0D-C172-4122-BA44-AFDD974A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8FA19-2FE6-4AF6-87FE-101686017D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Critical to </a:t>
            </a:r>
            <a:r>
              <a:rPr lang="en-US" b="1" i="1" u="sng" dirty="0">
                <a:solidFill>
                  <a:srgbClr val="FF0000"/>
                </a:solidFill>
              </a:rPr>
              <a:t>Access Controls</a:t>
            </a:r>
          </a:p>
          <a:p>
            <a:r>
              <a:rPr lang="en-US" dirty="0"/>
              <a:t>Must keep the following “</a:t>
            </a:r>
            <a:r>
              <a:rPr lang="en-US" b="1" i="1" u="sng" dirty="0">
                <a:solidFill>
                  <a:schemeClr val="bg2"/>
                </a:solidFill>
                <a:highlight>
                  <a:srgbClr val="FFFF00"/>
                </a:highlight>
              </a:rPr>
              <a:t>up-to-date</a:t>
            </a:r>
            <a:r>
              <a:rPr lang="en-US" dirty="0"/>
              <a:t>” / Patched: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</a:rPr>
              <a:t>Firmware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0070C0"/>
                </a:solidFill>
              </a:rPr>
              <a:t>UEFI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0070C0"/>
                </a:solidFill>
              </a:rPr>
              <a:t>BIOS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3399"/>
                </a:solidFill>
              </a:rPr>
              <a:t>{old term, but still popular}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</a:rPr>
              <a:t>Operating System </a:t>
            </a:r>
            <a:r>
              <a:rPr lang="en-US" dirty="0"/>
              <a:t>and its Common </a:t>
            </a:r>
            <a:r>
              <a:rPr lang="en-US" b="1" i="1" u="sng" dirty="0">
                <a:solidFill>
                  <a:srgbClr val="FFCC00"/>
                </a:solidFill>
              </a:rPr>
              <a:t>Components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FFCC00"/>
                </a:solidFill>
              </a:rPr>
              <a:t>Device Drivers</a:t>
            </a:r>
          </a:p>
          <a:p>
            <a:pPr lvl="2"/>
            <a:r>
              <a:rPr lang="en-US" dirty="0"/>
              <a:t>OS </a:t>
            </a:r>
            <a:r>
              <a:rPr lang="en-US" b="1" i="1" u="sng" dirty="0">
                <a:solidFill>
                  <a:srgbClr val="FFCC00"/>
                </a:solidFill>
              </a:rPr>
              <a:t>Services</a:t>
            </a:r>
          </a:p>
          <a:p>
            <a:pPr lvl="3"/>
            <a:r>
              <a:rPr lang="en-US" dirty="0"/>
              <a:t>NOTE – both of the above Categories of SW are OS Extensions that run under 2 Vary8ing degrees of OS Control</a:t>
            </a:r>
          </a:p>
          <a:p>
            <a:pPr lvl="2"/>
            <a:r>
              <a:rPr lang="en-US" b="1" i="1" u="sng" dirty="0">
                <a:solidFill>
                  <a:srgbClr val="00B050"/>
                </a:solidFill>
              </a:rPr>
              <a:t>Third-Party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C99"/>
                </a:solidFill>
              </a:rPr>
              <a:t>SW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Off The Shelf (OOTB – Out-Of-The-Box)</a:t>
            </a:r>
          </a:p>
          <a:p>
            <a:pPr lvl="3"/>
            <a:r>
              <a:rPr lang="en-US" dirty="0"/>
              <a:t>Vendor Supplied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Custom SW (</a:t>
            </a:r>
            <a:r>
              <a:rPr lang="en-US" b="1" i="1" u="sng" dirty="0">
                <a:solidFill>
                  <a:srgbClr val="FF99CC"/>
                </a:solidFill>
              </a:rPr>
              <a:t>Developed </a:t>
            </a:r>
            <a:r>
              <a:rPr lang="en-US" b="1" i="1" u="sng" dirty="0">
                <a:solidFill>
                  <a:srgbClr val="00B050"/>
                </a:solidFill>
              </a:rPr>
              <a:t>In-House</a:t>
            </a:r>
            <a:r>
              <a:rPr lang="en-US" b="1" i="1" u="sng" dirty="0">
                <a:solidFill>
                  <a:srgbClr val="FFC000"/>
                </a:solidFill>
              </a:rPr>
              <a:t>)</a:t>
            </a:r>
          </a:p>
          <a:p>
            <a:r>
              <a:rPr lang="en-US" dirty="0"/>
              <a:t>Patching:</a:t>
            </a:r>
          </a:p>
          <a:p>
            <a:pPr lvl="1"/>
            <a:r>
              <a:rPr lang="en-US" dirty="0"/>
              <a:t>Must be </a:t>
            </a:r>
            <a:r>
              <a:rPr lang="en-US" b="1" i="1" u="sng" dirty="0">
                <a:solidFill>
                  <a:schemeClr val="bg1"/>
                </a:solidFill>
                <a:highlight>
                  <a:srgbClr val="FFFF00"/>
                </a:highlight>
              </a:rPr>
              <a:t>Ongoing</a:t>
            </a:r>
          </a:p>
          <a:p>
            <a:pPr lvl="1"/>
            <a:r>
              <a:rPr lang="en-US" dirty="0"/>
              <a:t>Should </a:t>
            </a:r>
            <a:r>
              <a:rPr lang="en-US" b="1" i="1" u="sng" dirty="0">
                <a:solidFill>
                  <a:srgbClr val="92D050"/>
                </a:solidFill>
              </a:rPr>
              <a:t>Not Interrupt </a:t>
            </a:r>
            <a:r>
              <a:rPr lang="en-US" dirty="0"/>
              <a:t>Normal Operation, where at all possible</a:t>
            </a:r>
          </a:p>
        </p:txBody>
      </p:sp>
    </p:spTree>
    <p:extLst>
      <p:ext uri="{BB962C8B-B14F-4D97-AF65-F5344CB8AC3E}">
        <p14:creationId xmlns:p14="http://schemas.microsoft.com/office/powerpoint/2010/main" val="3359511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9847-364A-46BB-9355-B085CAC4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&amp; Patch management…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2D516C-60DD-4769-BA0A-F8BA5864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EEA74-06F1-4E3A-BFB1-2E9238F920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66FFCC"/>
                </a:solidFill>
              </a:rPr>
              <a:t>Categories</a:t>
            </a:r>
            <a:r>
              <a:rPr lang="en-US" dirty="0"/>
              <a:t> of SW Changes (most of which relate to Threat Mitigation)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Full Update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 Properly &amp; Securely Packaged &amp; Distributed Collection of individual Patches or Hotfixes</a:t>
            </a:r>
          </a:p>
          <a:p>
            <a:pPr lvl="2"/>
            <a:r>
              <a:rPr lang="en-US" dirty="0"/>
              <a:t>Is an automated process, once started (it works to completion)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Patch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Represents a focused, Automated, Packaged, Individual Fix for a specific Issue</a:t>
            </a:r>
          </a:p>
          <a:p>
            <a:pPr lvl="2"/>
            <a:r>
              <a:rPr lang="en-US" dirty="0"/>
              <a:t>Usually, these are the newly-discovered issues that have NOT YET MADE IT INTO a Full Update Distribution Package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Hotfix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 (most-usually) Manual set of Instructions along with the various SW Changes to address a single issue.</a:t>
            </a:r>
          </a:p>
          <a:p>
            <a:pPr lvl="2"/>
            <a:r>
              <a:rPr lang="en-US" dirty="0"/>
              <a:t>Are not yet part of an Automated &amp; Packaged Patch </a:t>
            </a:r>
          </a:p>
          <a:p>
            <a:pPr lvl="3"/>
            <a:r>
              <a:rPr lang="en-US" dirty="0"/>
              <a:t>May represent merely “something to try”, meaning, very little Testing has occurred (as happens when the changes are properly Packaged for Distribution)</a:t>
            </a:r>
          </a:p>
        </p:txBody>
      </p:sp>
    </p:spTree>
    <p:extLst>
      <p:ext uri="{BB962C8B-B14F-4D97-AF65-F5344CB8AC3E}">
        <p14:creationId xmlns:p14="http://schemas.microsoft.com/office/powerpoint/2010/main" val="1294935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C034-6BD6-4D53-BA24-A9F219C2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– RULE #1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A4066-96C8-45EF-94A0-EF708486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8376A-FB91-4CA0-AC65-7A71834BE2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Least Privilege </a:t>
            </a:r>
          </a:p>
          <a:p>
            <a:pPr lvl="1"/>
            <a:r>
              <a:rPr lang="en-US" dirty="0"/>
              <a:t>NO EXCEPTIONS</a:t>
            </a:r>
          </a:p>
          <a:p>
            <a:pPr lvl="1"/>
            <a:r>
              <a:rPr lang="en-US" dirty="0"/>
              <a:t>Full Documentation</a:t>
            </a:r>
          </a:p>
          <a:p>
            <a:pPr lvl="2"/>
            <a:r>
              <a:rPr lang="en-US" dirty="0"/>
              <a:t>Usually your Access Control Services provide the necessary:</a:t>
            </a:r>
          </a:p>
          <a:p>
            <a:pPr lvl="3"/>
            <a:r>
              <a:rPr lang="en-US" dirty="0"/>
              <a:t>P &amp; P Documentation and </a:t>
            </a:r>
          </a:p>
          <a:p>
            <a:pPr lvl="3"/>
            <a:r>
              <a:rPr lang="en-US" dirty="0"/>
              <a:t>Logging of changes</a:t>
            </a:r>
          </a:p>
        </p:txBody>
      </p:sp>
    </p:spTree>
    <p:extLst>
      <p:ext uri="{BB962C8B-B14F-4D97-AF65-F5344CB8AC3E}">
        <p14:creationId xmlns:p14="http://schemas.microsoft.com/office/powerpoint/2010/main" val="1685317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8C4-5949-43D7-9F4F-14F95E3F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Rule #2-“</a:t>
            </a:r>
            <a:r>
              <a:rPr lang="en-US" dirty="0">
                <a:solidFill>
                  <a:srgbClr val="00FF00"/>
                </a:solidFill>
              </a:rPr>
              <a:t>defense in depth</a:t>
            </a:r>
            <a:r>
              <a:rPr lang="en-US" u="none" dirty="0"/>
              <a:t>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546B0-85EB-4E25-8AB2-48522568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1ECB9-E429-4B29-91B9-7E391C1BFA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990600"/>
            <a:ext cx="8686800" cy="15240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Point:</a:t>
            </a:r>
          </a:p>
          <a:p>
            <a:pPr lvl="1"/>
            <a:r>
              <a:rPr lang="en-US" sz="2000" b="1" i="1" u="sng" dirty="0">
                <a:solidFill>
                  <a:srgbClr val="FF3399"/>
                </a:solidFill>
              </a:rPr>
              <a:t>Don’t rely on a Single Access Control</a:t>
            </a:r>
          </a:p>
          <a:p>
            <a:pPr lvl="1"/>
            <a:r>
              <a:rPr lang="en-US" sz="2000" dirty="0"/>
              <a:t>Plan Security to be:</a:t>
            </a:r>
          </a:p>
          <a:p>
            <a:pPr lvl="2"/>
            <a:r>
              <a:rPr lang="en-US" sz="1800" dirty="0"/>
              <a:t>An Inter-related Combination of Access Controls that OVERLAP</a:t>
            </a:r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E86D51B6-0669-46E9-8167-521BDF1C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004" y="2514600"/>
            <a:ext cx="7231327" cy="410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461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437A-E608-47C4-B8A4-6ABF01B6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Rule #3-“Defense By </a:t>
            </a:r>
            <a:r>
              <a:rPr lang="en-US" i="1" dirty="0">
                <a:solidFill>
                  <a:srgbClr val="FF6600"/>
                </a:solidFill>
              </a:rPr>
              <a:t>Design</a:t>
            </a:r>
            <a:r>
              <a:rPr lang="en-US" u="none" dirty="0"/>
              <a:t>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EC178-5B08-489E-A9FF-DDF3E91F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230B4-85A6-4CC0-BB3E-B8B68FF6E3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FF00"/>
                </a:solidFill>
              </a:rPr>
              <a:t>Best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90000"/>
                </a:solidFill>
              </a:rPr>
              <a:t>Systems</a:t>
            </a:r>
            <a:r>
              <a:rPr lang="en-US" dirty="0"/>
              <a:t> / SW </a:t>
            </a:r>
            <a:r>
              <a:rPr lang="en-US" dirty="0">
                <a:solidFill>
                  <a:srgbClr val="FFFF00"/>
                </a:solidFill>
              </a:rPr>
              <a:t>are those where </a:t>
            </a:r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dirty="0"/>
              <a:t> was “</a:t>
            </a:r>
            <a:r>
              <a:rPr lang="en-US" b="1" i="1" u="sng" dirty="0">
                <a:solidFill>
                  <a:srgbClr val="FF6600"/>
                </a:solidFill>
              </a:rPr>
              <a:t>Designed-in</a:t>
            </a:r>
            <a:r>
              <a:rPr lang="en-US" dirty="0"/>
              <a:t>” </a:t>
            </a:r>
            <a:r>
              <a:rPr lang="en-US" b="1" i="1" u="sng" dirty="0">
                <a:solidFill>
                  <a:srgbClr val="99FF99"/>
                </a:solidFill>
              </a:rPr>
              <a:t>from the beginning</a:t>
            </a:r>
            <a:r>
              <a:rPr lang="en-US" dirty="0"/>
              <a:t>, using </a:t>
            </a:r>
            <a:r>
              <a:rPr lang="en-US" dirty="0" err="1"/>
              <a:t>DiD</a:t>
            </a:r>
            <a:endParaRPr lang="en-US" dirty="0"/>
          </a:p>
          <a:p>
            <a:r>
              <a:rPr lang="en-US" b="1" i="1" u="sng" dirty="0">
                <a:solidFill>
                  <a:srgbClr val="FFFF00"/>
                </a:solidFill>
              </a:rPr>
              <a:t>FACT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</a:t>
            </a:r>
            <a:r>
              <a:rPr lang="en-US" b="1" i="1" u="sng" dirty="0" err="1">
                <a:solidFill>
                  <a:srgbClr val="92D050"/>
                </a:solidFill>
              </a:rPr>
              <a:t>Bandaid-ing</a:t>
            </a:r>
            <a:r>
              <a:rPr lang="en-US" dirty="0"/>
              <a:t>” or “</a:t>
            </a:r>
            <a:r>
              <a:rPr lang="en-US" b="1" i="1" u="sng" dirty="0">
                <a:solidFill>
                  <a:srgbClr val="92D050"/>
                </a:solidFill>
              </a:rPr>
              <a:t>Retrofitting</a:t>
            </a:r>
            <a:r>
              <a:rPr lang="en-US" dirty="0"/>
              <a:t>” </a:t>
            </a:r>
            <a:r>
              <a:rPr lang="en-US" b="1" i="1" u="sng" dirty="0">
                <a:solidFill>
                  <a:srgbClr val="FF0000"/>
                </a:solidFill>
              </a:rPr>
              <a:t>Security</a:t>
            </a:r>
            <a:r>
              <a:rPr lang="en-US" dirty="0"/>
              <a:t> to a </a:t>
            </a:r>
            <a:r>
              <a:rPr lang="en-US" b="1" i="1" u="sng" dirty="0">
                <a:solidFill>
                  <a:srgbClr val="990000"/>
                </a:solidFill>
              </a:rPr>
              <a:t>System</a:t>
            </a:r>
            <a:r>
              <a:rPr lang="en-US" dirty="0"/>
              <a:t> that did not consider modern Security Issues (Threats) is </a:t>
            </a:r>
            <a:r>
              <a:rPr lang="en-US" b="1" i="1" u="sng" dirty="0">
                <a:solidFill>
                  <a:srgbClr val="92D050"/>
                </a:solidFill>
              </a:rPr>
              <a:t>FAR LESS DESIRABLE </a:t>
            </a:r>
            <a:r>
              <a:rPr lang="en-US" dirty="0"/>
              <a:t>and </a:t>
            </a:r>
            <a:r>
              <a:rPr lang="en-US" b="1" i="1" u="sng" dirty="0">
                <a:solidFill>
                  <a:srgbClr val="92D050"/>
                </a:solidFill>
              </a:rPr>
              <a:t>MUCH HARDER TO MAINTAIN</a:t>
            </a:r>
          </a:p>
        </p:txBody>
      </p:sp>
    </p:spTree>
    <p:extLst>
      <p:ext uri="{BB962C8B-B14F-4D97-AF65-F5344CB8AC3E}">
        <p14:creationId xmlns:p14="http://schemas.microsoft.com/office/powerpoint/2010/main" val="1685063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D2B2-9B98-4AAD-B4EC-20D0FB1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events &amp; incidents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E109A3-D1E4-4987-AC5C-1586A38C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63849-96BD-423C-86D9-4742D02D2A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sz="3500" b="1" i="1" u="sng" dirty="0">
                <a:solidFill>
                  <a:srgbClr val="FFC000"/>
                </a:solidFill>
              </a:rPr>
              <a:t>Event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Any Meaningful Change in a Systems Normal (Operational) State</a:t>
            </a:r>
          </a:p>
          <a:p>
            <a:pPr lvl="1"/>
            <a:r>
              <a:rPr lang="en-US" dirty="0"/>
              <a:t>Must indicate potential for a problem and…</a:t>
            </a:r>
          </a:p>
          <a:p>
            <a:pPr lvl="2"/>
            <a:r>
              <a:rPr lang="en-US" dirty="0"/>
              <a:t>That it occurred at a Specific Time</a:t>
            </a:r>
          </a:p>
          <a:p>
            <a:pPr lvl="1"/>
            <a:r>
              <a:rPr lang="en-US" dirty="0"/>
              <a:t>Are neither Good nor Bad, but must ALWAYS BE LOGGED  (for later Analysis)</a:t>
            </a:r>
          </a:p>
          <a:p>
            <a:r>
              <a:rPr lang="en-US" sz="3500" b="1" i="1" u="sng" dirty="0">
                <a:solidFill>
                  <a:srgbClr val="FFC000"/>
                </a:solidFill>
              </a:rPr>
              <a:t>Incident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Unexpected, Unusual Events </a:t>
            </a:r>
            <a:r>
              <a:rPr lang="en-US" i="1" u="sng" dirty="0"/>
              <a:t>that Pose a Meaningful Threat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Include:</a:t>
            </a:r>
          </a:p>
          <a:p>
            <a:pPr lvl="2"/>
            <a:r>
              <a:rPr lang="en-US" dirty="0"/>
              <a:t>Attacks / Breaches, Disasters, Policy Violations, Misuse of Assets</a:t>
            </a:r>
          </a:p>
          <a:p>
            <a:pPr lvl="1"/>
            <a:r>
              <a:rPr lang="en-US" sz="3000" b="1" i="1" u="sng" dirty="0">
                <a:solidFill>
                  <a:srgbClr val="FFC000"/>
                </a:solidFill>
              </a:rPr>
              <a:t>Alerts</a:t>
            </a:r>
            <a:r>
              <a:rPr lang="en-US" dirty="0"/>
              <a:t> are generated in an effort to Evoke Near Real-Time Response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461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8A8F-BE11-42AA-B931-627446EE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events &amp; incidents…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A0EA0-E87C-47C0-83FC-9A65068D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16F75-F87D-438D-AEF7-00F849563E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Determining if an Event is truly an Incident: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True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Positive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Problem DID Occur</a:t>
            </a:r>
          </a:p>
          <a:p>
            <a:pPr lvl="2"/>
            <a:r>
              <a:rPr lang="en-US" dirty="0"/>
              <a:t>Problem was Properly Detected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True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Negative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No Problem Actually occurred</a:t>
            </a:r>
          </a:p>
          <a:p>
            <a:pPr lvl="2"/>
            <a:r>
              <a:rPr lang="en-US" dirty="0"/>
              <a:t>No Alert was generated (therefore, no problem Detected)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False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Positive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Alert Generated (as though something Negative may have occurred) </a:t>
            </a:r>
          </a:p>
          <a:p>
            <a:pPr lvl="2"/>
            <a:r>
              <a:rPr lang="en-US" dirty="0"/>
              <a:t>Actual cause was Benign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</a:rPr>
              <a:t>False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Negative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 Real Problem Existed in the System</a:t>
            </a:r>
          </a:p>
          <a:p>
            <a:pPr lvl="2"/>
            <a:r>
              <a:rPr lang="en-US" dirty="0"/>
              <a:t>But went UNDETECTED</a:t>
            </a:r>
          </a:p>
        </p:txBody>
      </p:sp>
    </p:spTree>
    <p:extLst>
      <p:ext uri="{BB962C8B-B14F-4D97-AF65-F5344CB8AC3E}">
        <p14:creationId xmlns:p14="http://schemas.microsoft.com/office/powerpoint/2010/main" val="2738465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 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361D-460A-43E8-BEEA-4C966CB66904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Soul versus Spirit</Template>
  <TotalTime>5454</TotalTime>
  <Words>2609</Words>
  <Application>Microsoft Office PowerPoint</Application>
  <PresentationFormat>On-screen Show (4:3)</PresentationFormat>
  <Paragraphs>406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Arial Narrow</vt:lpstr>
      <vt:lpstr>Calibri</vt:lpstr>
      <vt:lpstr>Horizon</vt:lpstr>
      <vt:lpstr>Comptia security  Plus </vt:lpstr>
      <vt:lpstr>Color Code…</vt:lpstr>
      <vt:lpstr>topics</vt:lpstr>
      <vt:lpstr>CIA Triad</vt:lpstr>
      <vt:lpstr>CIA Triad</vt:lpstr>
      <vt:lpstr>CIA triad</vt:lpstr>
      <vt:lpstr>A starting point – what are assets</vt:lpstr>
      <vt:lpstr>Info. Security Terms </vt:lpstr>
      <vt:lpstr>Info. Security Terms </vt:lpstr>
      <vt:lpstr>Risk, threat and vulnerability relationships…</vt:lpstr>
      <vt:lpstr>Threat Terms</vt:lpstr>
      <vt:lpstr>Threat Terms…</vt:lpstr>
      <vt:lpstr>Threat Terms…</vt:lpstr>
      <vt:lpstr>Reference-Standards Organizations</vt:lpstr>
      <vt:lpstr>Some Research Websites</vt:lpstr>
      <vt:lpstr>controls</vt:lpstr>
      <vt:lpstr>Controls…</vt:lpstr>
      <vt:lpstr>Identification, Authentication</vt:lpstr>
      <vt:lpstr>Authorization, Guaranteed ID</vt:lpstr>
      <vt:lpstr>Non-Repudiation and “Login” </vt:lpstr>
      <vt:lpstr>integrity</vt:lpstr>
      <vt:lpstr>Authentication System Types {How we Login}</vt:lpstr>
      <vt:lpstr>Access Restriction Methods</vt:lpstr>
      <vt:lpstr>Single-Point-of-failure </vt:lpstr>
      <vt:lpstr>Availability Ratings for Sys/ Svc / app:</vt:lpstr>
      <vt:lpstr>Increasing Availability</vt:lpstr>
      <vt:lpstr>Fault tolerance implementation-examples</vt:lpstr>
      <vt:lpstr>Update &amp; Patch management</vt:lpstr>
      <vt:lpstr>Update &amp; Patch management…</vt:lpstr>
      <vt:lpstr>Security – RULE #1</vt:lpstr>
      <vt:lpstr>Security Rule #2-“defense in depth”</vt:lpstr>
      <vt:lpstr>Security Rule #3-“Defense By Design”</vt:lpstr>
      <vt:lpstr>Security events &amp; incidents</vt:lpstr>
      <vt:lpstr>Security events &amp; incidents…</vt:lpstr>
      <vt:lpstr>Questions ?</vt:lpstr>
    </vt:vector>
  </TitlesOfParts>
  <Company>Certification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Analysis and Design</dc:title>
  <dc:creator>Rick Gibson</dc:creator>
  <cp:lastModifiedBy>Ricky Gibson</cp:lastModifiedBy>
  <cp:revision>421</cp:revision>
  <cp:lastPrinted>1601-01-01T00:00:00Z</cp:lastPrinted>
  <dcterms:created xsi:type="dcterms:W3CDTF">2000-11-13T23:16:30Z</dcterms:created>
  <dcterms:modified xsi:type="dcterms:W3CDTF">2020-04-06T18:00:35Z</dcterms:modified>
</cp:coreProperties>
</file>