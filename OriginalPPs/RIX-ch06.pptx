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9" r:id="rId3"/>
    <p:sldId id="260" r:id="rId4"/>
    <p:sldId id="261" r:id="rId5"/>
    <p:sldId id="262" r:id="rId6"/>
    <p:sldId id="266" r:id="rId7"/>
    <p:sldId id="267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00FF00"/>
    <a:srgbClr val="FF6699"/>
    <a:srgbClr val="00FF99"/>
    <a:srgbClr val="FF33CC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829DFB-8D26-4844-B761-9A83CCCD517D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392E8-DB5F-4093-87AA-13E9C64CD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32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fld id="{7A926AE3-2C7E-41D7-A23C-5AF3C4583FD1}" type="slidenum">
              <a:rPr lang="en-US" altLang="en-US" sz="1200" smtClean="0"/>
              <a:pPr>
                <a:defRPr/>
              </a:pPr>
              <a:t>1</a:t>
            </a:fld>
            <a:endParaRPr lang="en-US" altLang="en-US" sz="120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513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fld id="{30889014-940B-43FE-B1B9-F40209FD345A}" type="slidenum">
              <a:rPr lang="en-US" altLang="en-US" sz="1200" smtClean="0"/>
              <a:pPr>
                <a:defRPr/>
              </a:pPr>
              <a:t>2</a:t>
            </a:fld>
            <a:endParaRPr lang="en-US" altLang="en-US" sz="12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059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-9525" y="0"/>
            <a:ext cx="9144000" cy="685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5088"/>
            <a:ext cx="1676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0"/>
            <a:ext cx="1820863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73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400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3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9" y="4406900"/>
            <a:ext cx="62087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5999" y="2906713"/>
            <a:ext cx="62087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68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2200" y="1586816"/>
            <a:ext cx="2895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1600200"/>
            <a:ext cx="3200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92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1535113"/>
            <a:ext cx="2895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0" y="2209800"/>
            <a:ext cx="2897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0200" y="1535113"/>
            <a:ext cx="3276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0200" y="2174874"/>
            <a:ext cx="32766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67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38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66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3050"/>
            <a:ext cx="220980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273050"/>
            <a:ext cx="41910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9800" y="1430860"/>
            <a:ext cx="220980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7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67000" y="609600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000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5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0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CompTIA Security+ Study Guide (SY0-501)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Chapter 6:</a:t>
            </a:r>
          </a:p>
          <a:p>
            <a:r>
              <a:rPr lang="en-US" altLang="en-US" dirty="0"/>
              <a:t>Securing the Cloud</a:t>
            </a:r>
          </a:p>
        </p:txBody>
      </p:sp>
    </p:spTree>
    <p:extLst>
      <p:ext uri="{BB962C8B-B14F-4D97-AF65-F5344CB8AC3E}">
        <p14:creationId xmlns:p14="http://schemas.microsoft.com/office/powerpoint/2010/main" val="58352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457200"/>
            <a:ext cx="71628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Chapter 6: Securing the Cloud</a:t>
            </a:r>
          </a:p>
        </p:txBody>
      </p:sp>
      <p:sp>
        <p:nvSpPr>
          <p:cNvPr id="307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Summarize cloud and virtualization concepts</a:t>
            </a:r>
          </a:p>
        </p:txBody>
      </p:sp>
    </p:spTree>
    <p:extLst>
      <p:ext uri="{BB962C8B-B14F-4D97-AF65-F5344CB8AC3E}">
        <p14:creationId xmlns:p14="http://schemas.microsoft.com/office/powerpoint/2010/main" val="2146377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1600200" y="274638"/>
            <a:ext cx="70866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	Cloud Computing Service Models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Software as a Service (</a:t>
            </a:r>
            <a:r>
              <a:rPr lang="en-US" altLang="en-US" b="1" i="1" u="sng" dirty="0">
                <a:solidFill>
                  <a:srgbClr val="0070C0"/>
                </a:solidFill>
              </a:rPr>
              <a:t>SaaS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Platform as a Service (</a:t>
            </a:r>
            <a:r>
              <a:rPr lang="en-US" altLang="en-US" b="1" i="1" u="sng" dirty="0" err="1">
                <a:solidFill>
                  <a:srgbClr val="0070C0"/>
                </a:solidFill>
              </a:rPr>
              <a:t>PaaS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Infrastructure as a Service (</a:t>
            </a:r>
            <a:r>
              <a:rPr lang="en-US" altLang="en-US" b="1" i="1" u="sng" dirty="0">
                <a:solidFill>
                  <a:srgbClr val="0070C0"/>
                </a:solidFill>
              </a:rPr>
              <a:t>IaaS</a:t>
            </a:r>
            <a:r>
              <a:rPr lang="en-US" altLang="en-US" dirty="0"/>
              <a:t>)</a:t>
            </a:r>
          </a:p>
          <a:p>
            <a:r>
              <a:rPr lang="en-US" alt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{{Run Through examples of each}}</a:t>
            </a:r>
          </a:p>
        </p:txBody>
      </p:sp>
    </p:spTree>
    <p:extLst>
      <p:ext uri="{BB962C8B-B14F-4D97-AF65-F5344CB8AC3E}">
        <p14:creationId xmlns:p14="http://schemas.microsoft.com/office/powerpoint/2010/main" val="1609472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Cloud Delivery Models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Private</a:t>
            </a:r>
          </a:p>
          <a:p>
            <a:r>
              <a:rPr lang="en-US" altLang="en-US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</a:t>
            </a:r>
          </a:p>
          <a:p>
            <a:r>
              <a:rPr lang="en-US" altLang="en-US" b="1" i="1" u="sng" dirty="0">
                <a:solidFill>
                  <a:srgbClr val="00FF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Community</a:t>
            </a:r>
          </a:p>
          <a:p>
            <a:r>
              <a:rPr lang="en-US" alt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Hybrid</a:t>
            </a:r>
          </a:p>
        </p:txBody>
      </p:sp>
    </p:spTree>
    <p:extLst>
      <p:ext uri="{BB962C8B-B14F-4D97-AF65-F5344CB8AC3E}">
        <p14:creationId xmlns:p14="http://schemas.microsoft.com/office/powerpoint/2010/main" val="659580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5635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Virtualization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2286000" y="990600"/>
            <a:ext cx="6400800" cy="5135563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dirty="0"/>
              <a:t>Technique to create </a:t>
            </a:r>
            <a:r>
              <a:rPr lang="en-US" alt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Common</a:t>
            </a:r>
            <a:r>
              <a:rPr lang="en-US" altLang="en-US" dirty="0"/>
              <a:t> </a:t>
            </a:r>
            <a:r>
              <a:rPr lang="en-US" alt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Generic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Virtual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HW Objects</a:t>
            </a:r>
          </a:p>
          <a:p>
            <a:pPr lvl="1"/>
            <a:r>
              <a:rPr lang="en-US" altLang="en-US" dirty="0"/>
              <a:t>Virtual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 Objects</a:t>
            </a:r>
          </a:p>
          <a:p>
            <a:pPr lvl="2"/>
            <a:r>
              <a:rPr lang="en-US" altLang="en-US" dirty="0"/>
              <a:t>Uses and </a:t>
            </a:r>
            <a:r>
              <a:rPr lang="en-US" altLang="en-US" b="1" i="1" u="sng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Emulation</a:t>
            </a:r>
            <a:r>
              <a:rPr lang="en-US" altLang="en-US" dirty="0"/>
              <a:t> Technique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I</a:t>
            </a:r>
            <a:r>
              <a:rPr lang="en-US" altLang="en-US" dirty="0"/>
              <a:t> model is known as “bare metal.”</a:t>
            </a:r>
          </a:p>
          <a:p>
            <a:pPr lvl="1"/>
            <a:r>
              <a:rPr lang="en-US" altLang="en-US" dirty="0"/>
              <a:t>Can boot without an under-lying operating system</a:t>
            </a:r>
          </a:p>
          <a:p>
            <a:pPr lvl="1"/>
            <a:r>
              <a:rPr lang="en-US" altLang="en-US" dirty="0"/>
              <a:t>“IS” the OS and the Virtualization Control Code all in one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II </a:t>
            </a:r>
            <a:r>
              <a:rPr lang="en-US" altLang="en-US" dirty="0"/>
              <a:t>model is known as “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Hosted</a:t>
            </a:r>
            <a:r>
              <a:rPr lang="en-US" altLang="en-US" dirty="0"/>
              <a:t>.”</a:t>
            </a:r>
          </a:p>
          <a:p>
            <a:pPr lvl="1"/>
            <a:r>
              <a:rPr lang="en-US" altLang="en-US" dirty="0"/>
              <a:t>Requires the operating system and is dependent on it</a:t>
            </a:r>
          </a:p>
          <a:p>
            <a:pPr lvl="1"/>
            <a:r>
              <a:rPr lang="en-US" altLang="en-US" dirty="0"/>
              <a:t>All Desktop Virtualization Tools are Type II:</a:t>
            </a:r>
          </a:p>
          <a:p>
            <a:pPr lvl="2"/>
            <a:r>
              <a:rPr lang="en-US" altLang="en-US" dirty="0"/>
              <a:t>Oracle VirtualBox</a:t>
            </a:r>
          </a:p>
          <a:p>
            <a:pPr lvl="2"/>
            <a:r>
              <a:rPr lang="en-US" altLang="en-US" dirty="0"/>
              <a:t>Microsoft Desktop Virtualization </a:t>
            </a:r>
          </a:p>
          <a:p>
            <a:pPr lvl="2"/>
            <a:r>
              <a:rPr lang="en-US" altLang="en-US" dirty="0"/>
              <a:t>VMware Workstation</a:t>
            </a:r>
          </a:p>
        </p:txBody>
      </p:sp>
    </p:spTree>
    <p:extLst>
      <p:ext uri="{BB962C8B-B14F-4D97-AF65-F5344CB8AC3E}">
        <p14:creationId xmlns:p14="http://schemas.microsoft.com/office/powerpoint/2010/main" val="358962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295400"/>
            <a:ext cx="67056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Containers</a:t>
            </a:r>
            <a:r>
              <a:rPr lang="en-US" dirty="0"/>
              <a:t> and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Cells</a:t>
            </a:r>
          </a:p>
          <a:p>
            <a:pPr lvl="1"/>
            <a:r>
              <a:rPr lang="en-US" dirty="0"/>
              <a:t>Alternative to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Hypervisor-Generated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“full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 VM’s</a:t>
            </a:r>
            <a:r>
              <a:rPr lang="en-US" dirty="0">
                <a:solidFill>
                  <a:srgbClr val="0070C0"/>
                </a:solidFill>
              </a:rPr>
              <a:t>;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sometimes referred to as “</a:t>
            </a:r>
            <a:r>
              <a:rPr lang="en-US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 Containers</a:t>
            </a:r>
            <a:r>
              <a:rPr lang="en-US" dirty="0"/>
              <a:t>.” </a:t>
            </a:r>
          </a:p>
          <a:p>
            <a:pPr lvl="1"/>
            <a:r>
              <a:rPr lang="en-US" dirty="0"/>
              <a:t>A piece of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  <a:r>
              <a:rPr lang="en-US" dirty="0"/>
              <a:t> is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Bundled</a:t>
            </a:r>
            <a:r>
              <a:rPr lang="en-US" dirty="0"/>
              <a:t> with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everything that it needs </a:t>
            </a:r>
            <a:r>
              <a:rPr lang="en-US" dirty="0"/>
              <a:t>to </a:t>
            </a:r>
            <a:r>
              <a:rPr lang="en-US" b="1" i="1" u="sng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Run</a:t>
            </a:r>
            <a:r>
              <a:rPr lang="en-US" dirty="0"/>
              <a:t> and </a:t>
            </a:r>
            <a:r>
              <a:rPr lang="en-US" b="1" i="1" u="sng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Deploy</a:t>
            </a:r>
            <a:r>
              <a:rPr lang="en-US" dirty="0"/>
              <a:t>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without the need </a:t>
            </a:r>
            <a:r>
              <a:rPr lang="en-US" dirty="0"/>
              <a:t>to launch an entire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VM</a:t>
            </a:r>
            <a:r>
              <a:rPr lang="en-US" dirty="0"/>
              <a:t> for each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Containers are an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Operating System–Level Virtualization Method </a:t>
            </a:r>
            <a:r>
              <a:rPr lang="en-US" dirty="0"/>
              <a:t>for running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Multiple</a:t>
            </a:r>
            <a:r>
              <a:rPr lang="en-US" dirty="0"/>
              <a:t> isolated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</a:t>
            </a:r>
            <a:r>
              <a:rPr lang="en-US" dirty="0"/>
              <a:t> on a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Host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</a:t>
            </a:r>
            <a:r>
              <a:rPr lang="en-US" dirty="0"/>
              <a:t> a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Single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Kernel</a:t>
            </a:r>
          </a:p>
          <a:p>
            <a:pPr lvl="2"/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Usually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Linux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Linux-Based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Benefit</a:t>
            </a:r>
            <a:r>
              <a:rPr lang="en-US" b="1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Much Lighter-Weight than Full VM’s</a:t>
            </a:r>
            <a:endParaRPr lang="en-US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00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Feature and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VDI</a:t>
            </a:r>
            <a:r>
              <a:rPr lang="en-US" dirty="0"/>
              <a:t>/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VDE</a:t>
            </a:r>
          </a:p>
          <a:p>
            <a:pPr lvl="1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Desktop Virtualization Tools</a:t>
            </a:r>
            <a:endParaRPr lang="en-US" dirty="0"/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On-Premise</a:t>
            </a:r>
            <a:r>
              <a:rPr lang="en-US" dirty="0"/>
              <a:t> vs.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Hosted</a:t>
            </a:r>
            <a:r>
              <a:rPr lang="en-US" dirty="0"/>
              <a:t> vs.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</a:t>
            </a:r>
          </a:p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VM Escape </a:t>
            </a:r>
            <a:r>
              <a:rPr lang="en-US" dirty="0"/>
              <a:t>protection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Hypervisor</a:t>
            </a:r>
            <a:r>
              <a:rPr lang="en-US" dirty="0"/>
              <a:t> Attacks</a:t>
            </a:r>
          </a:p>
          <a:p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VM Sprawl </a:t>
            </a:r>
            <a:r>
              <a:rPr lang="en-US" dirty="0"/>
              <a:t>avoidance</a:t>
            </a:r>
          </a:p>
          <a:p>
            <a:pPr lvl="1"/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Phenomenon</a:t>
            </a:r>
            <a:r>
              <a:rPr lang="en-US" dirty="0"/>
              <a:t> that occurs when the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Number</a:t>
            </a:r>
            <a:r>
              <a:rPr lang="en-US" dirty="0"/>
              <a:t> of virtual machines (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VMs</a:t>
            </a:r>
            <a:r>
              <a:rPr lang="en-US" dirty="0"/>
              <a:t>) on a network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Reaches the Point </a:t>
            </a:r>
            <a:r>
              <a:rPr lang="en-US" dirty="0"/>
              <a:t>where the </a:t>
            </a:r>
            <a:r>
              <a:rPr lang="en-US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Administrator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 no longer manage them effectively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133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Security and the Cloud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Cloud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Security Brokers</a:t>
            </a:r>
          </a:p>
          <a:p>
            <a:r>
              <a:rPr lang="en-US" altLang="en-US" dirty="0"/>
              <a:t>Cloud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Storage</a:t>
            </a:r>
          </a:p>
          <a:p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as a Service </a:t>
            </a:r>
            <a:r>
              <a:rPr lang="en-US" altLang="en-US" dirty="0"/>
              <a:t>(</a:t>
            </a:r>
            <a:r>
              <a:rPr lang="en-US" altLang="en-US" b="1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SECaas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{Discuss </a:t>
            </a:r>
            <a:r>
              <a:rPr lang="en-US" alt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</a:t>
            </a:r>
            <a:r>
              <a:rPr lang="en-US" alt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alt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Azure</a:t>
            </a:r>
            <a:r>
              <a:rPr lang="en-US" alt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Limited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SDN</a:t>
            </a:r>
            <a:r>
              <a:rPr lang="en-US" alt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Customizations}</a:t>
            </a:r>
          </a:p>
        </p:txBody>
      </p:sp>
    </p:spTree>
    <p:extLst>
      <p:ext uri="{BB962C8B-B14F-4D97-AF65-F5344CB8AC3E}">
        <p14:creationId xmlns:p14="http://schemas.microsoft.com/office/powerpoint/2010/main" val="4219740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2042</TotalTime>
  <Words>308</Words>
  <Application>Microsoft Office PowerPoint</Application>
  <PresentationFormat>On-screen Show (4:3)</PresentationFormat>
  <Paragraphs>52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CompTIA Security+ Study Guide (SY0-501)</vt:lpstr>
      <vt:lpstr>Chapter 6: Securing the Cloud</vt:lpstr>
      <vt:lpstr> Cloud Computing Service Models</vt:lpstr>
      <vt:lpstr>Cloud Delivery Models</vt:lpstr>
      <vt:lpstr>Virtualization</vt:lpstr>
      <vt:lpstr>Virtualization Continued</vt:lpstr>
      <vt:lpstr>Cloud Feature and Options</vt:lpstr>
      <vt:lpstr>Security and the Cloud</vt:lpstr>
    </vt:vector>
  </TitlesOfParts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O'Brien, Connor - San Francisco</dc:creator>
  <cp:lastModifiedBy>Ricky Gibson</cp:lastModifiedBy>
  <cp:revision>13</cp:revision>
  <dcterms:created xsi:type="dcterms:W3CDTF">2013-06-05T20:52:46Z</dcterms:created>
  <dcterms:modified xsi:type="dcterms:W3CDTF">2020-03-02T15:07:57Z</dcterms:modified>
</cp:coreProperties>
</file>