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8" r:id="rId2"/>
    <p:sldId id="259" r:id="rId3"/>
    <p:sldId id="268" r:id="rId4"/>
    <p:sldId id="271" r:id="rId5"/>
    <p:sldId id="272" r:id="rId6"/>
    <p:sldId id="273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517F03-8075-4C5E-A16E-7B45E25F6299}" type="datetimeFigureOut">
              <a:rPr lang="en-US" smtClean="0"/>
              <a:t>3/2/2020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154CF7-DE49-4647-8112-38CE16D83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141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E7DE7A27-DF93-42D0-9364-19814A19707C}" type="slidenum">
              <a:rPr lang="en-US" altLang="en-US" sz="1200" smtClean="0"/>
              <a:pPr/>
              <a:t>1</a:t>
            </a:fld>
            <a:endParaRPr lang="en-US" altLang="en-US" sz="1200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83256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3E415CBC-D14C-4B1F-913B-F6C166D5797A}" type="slidenum">
              <a:rPr lang="en-US" altLang="en-US" sz="1200" smtClean="0"/>
              <a:pPr/>
              <a:t>2</a:t>
            </a:fld>
            <a:endParaRPr lang="en-US" alt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6928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5"/>
          <p:cNvSpPr>
            <a:spLocks noChangeArrowheads="1"/>
          </p:cNvSpPr>
          <p:nvPr userDrawn="1"/>
        </p:nvSpPr>
        <p:spPr bwMode="auto">
          <a:xfrm>
            <a:off x="-9525" y="0"/>
            <a:ext cx="9144000" cy="6858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8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65088"/>
            <a:ext cx="1676400" cy="61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8" y="0"/>
            <a:ext cx="1820863" cy="674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8738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0" y="1600200"/>
            <a:ext cx="6400800" cy="4525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132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5999" y="4406900"/>
            <a:ext cx="6208713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5999" y="2906713"/>
            <a:ext cx="6208713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7689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62200" y="1586816"/>
            <a:ext cx="2895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6400" y="1600200"/>
            <a:ext cx="32004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8925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1535113"/>
            <a:ext cx="289560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86000" y="2209800"/>
            <a:ext cx="2897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0200" y="1535113"/>
            <a:ext cx="327660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0200" y="2174874"/>
            <a:ext cx="3276600" cy="399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Rectangle 11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5679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7382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6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8663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273050"/>
            <a:ext cx="2209800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5800" y="273050"/>
            <a:ext cx="41910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9800" y="1430860"/>
            <a:ext cx="2209800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479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0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667000" y="609600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67000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3054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50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861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9D81E-C9EA-4359-B926-F4C2977B0011}" type="datetimeFigureOut">
              <a:rPr lang="en-US" smtClean="0"/>
              <a:t>3/2/2020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524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b="1" dirty="0"/>
              <a:t>CompTIA Security+ Study Guide (SY0-501)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Chapter 5:</a:t>
            </a:r>
          </a:p>
          <a:p>
            <a:r>
              <a:rPr lang="en-US" altLang="en-US" dirty="0"/>
              <a:t>Wireless Network Threats</a:t>
            </a:r>
          </a:p>
        </p:txBody>
      </p:sp>
    </p:spTree>
    <p:extLst>
      <p:ext uri="{BB962C8B-B14F-4D97-AF65-F5344CB8AC3E}">
        <p14:creationId xmlns:p14="http://schemas.microsoft.com/office/powerpoint/2010/main" val="3043758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4"/>
          <p:cNvSpPr>
            <a:spLocks noGrp="1"/>
          </p:cNvSpPr>
          <p:nvPr>
            <p:ph type="title"/>
          </p:nvPr>
        </p:nvSpPr>
        <p:spPr>
          <a:xfrm>
            <a:off x="2133600" y="457200"/>
            <a:ext cx="6781800" cy="1447800"/>
          </a:xfrm>
        </p:spPr>
        <p:txBody>
          <a:bodyPr>
            <a:normAutofit/>
          </a:bodyPr>
          <a:lstStyle/>
          <a:p>
            <a:r>
              <a:rPr lang="en-US" altLang="en-US" dirty="0"/>
              <a:t>Chapter 5:</a:t>
            </a:r>
            <a:br>
              <a:rPr lang="en-US" altLang="en-US" dirty="0"/>
            </a:br>
            <a:r>
              <a:rPr lang="en-US" altLang="en-US" dirty="0"/>
              <a:t>Wireless Network Threats</a:t>
            </a:r>
          </a:p>
        </p:txBody>
      </p:sp>
      <p:sp>
        <p:nvSpPr>
          <p:cNvPr id="3075" name="Content Placeholder 3"/>
          <p:cNvSpPr>
            <a:spLocks noGrp="1"/>
          </p:cNvSpPr>
          <p:nvPr>
            <p:ph idx="1"/>
          </p:nvPr>
        </p:nvSpPr>
        <p:spPr>
          <a:xfrm>
            <a:off x="2362200" y="2133600"/>
            <a:ext cx="6172200" cy="4525963"/>
          </a:xfrm>
        </p:spPr>
        <p:txBody>
          <a:bodyPr/>
          <a:lstStyle/>
          <a:p>
            <a:r>
              <a:rPr lang="en-US" altLang="en-US" sz="2800" dirty="0"/>
              <a:t>Compare and contrast types of attacks</a:t>
            </a:r>
          </a:p>
          <a:p>
            <a:pPr marL="0" indent="0">
              <a:buNone/>
            </a:pPr>
            <a:endParaRPr lang="en-US" altLang="en-US" sz="2800" dirty="0"/>
          </a:p>
          <a:p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611032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Wireless Vulnerabilities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800" dirty="0"/>
              <a:t>Wireless systems are </a:t>
            </a:r>
            <a:r>
              <a:rPr lang="en-US" altLang="en-US" sz="2800" b="1" i="1" u="sng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Vulnerable</a:t>
            </a:r>
            <a:r>
              <a:rPr lang="en-US" altLang="en-US" sz="2800" dirty="0"/>
              <a:t> to all the same attacks that wired networks are vulnerable to PLUS attacks unique to Wireless</a:t>
            </a:r>
          </a:p>
          <a:p>
            <a:r>
              <a:rPr lang="en-US" altLang="en-US" sz="28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All</a:t>
            </a:r>
            <a:r>
              <a:rPr lang="en-US" altLang="en-US" sz="2800" dirty="0"/>
              <a:t> </a:t>
            </a:r>
            <a:r>
              <a:rPr lang="en-US" altLang="en-US" sz="28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Radio Frequency Signals </a:t>
            </a:r>
            <a:r>
              <a:rPr lang="en-US" altLang="en-US" sz="2800" dirty="0"/>
              <a:t>can be More </a:t>
            </a:r>
            <a:r>
              <a:rPr lang="en-US" altLang="en-US" sz="28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Easily Intercepted </a:t>
            </a:r>
            <a:r>
              <a:rPr lang="en-US" altLang="en-US" sz="2800" dirty="0"/>
              <a:t>than “Wired”</a:t>
            </a:r>
          </a:p>
        </p:txBody>
      </p:sp>
    </p:spTree>
    <p:extLst>
      <p:ext uri="{BB962C8B-B14F-4D97-AF65-F5344CB8AC3E}">
        <p14:creationId xmlns:p14="http://schemas.microsoft.com/office/powerpoint/2010/main" val="383699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Wireless Vulnerabilities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0" y="1219200"/>
            <a:ext cx="6400800" cy="4906963"/>
          </a:xfrm>
        </p:spPr>
        <p:txBody>
          <a:bodyPr>
            <a:normAutofit fontScale="77500" lnSpcReduction="20000"/>
          </a:bodyPr>
          <a:lstStyle/>
          <a:p>
            <a:r>
              <a:rPr lang="en-US" b="1" i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Replay</a:t>
            </a:r>
          </a:p>
          <a:p>
            <a:pPr lvl="1"/>
            <a:r>
              <a:rPr lang="en-US" dirty="0"/>
              <a:t> “</a:t>
            </a:r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Sniff</a:t>
            </a:r>
            <a:r>
              <a:rPr lang="en-US" dirty="0"/>
              <a:t>” and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Retransmit</a:t>
            </a:r>
            <a:r>
              <a:rPr lang="en-US" dirty="0"/>
              <a:t>, thus leading to some 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delay</a:t>
            </a:r>
            <a:r>
              <a:rPr lang="en-US" dirty="0"/>
              <a:t> in the data transmission</a:t>
            </a:r>
          </a:p>
          <a:p>
            <a:pPr lvl="1"/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Attacker</a:t>
            </a:r>
            <a:r>
              <a:rPr lang="en-US" dirty="0"/>
              <a:t> tries to </a:t>
            </a:r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fool around with </a:t>
            </a:r>
            <a:r>
              <a:rPr lang="en-US" dirty="0"/>
              <a:t>the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Target</a:t>
            </a:r>
            <a:r>
              <a:rPr lang="en-US" dirty="0"/>
              <a:t> so as to gain access to it without detection</a:t>
            </a:r>
          </a:p>
          <a:p>
            <a:pPr lvl="1"/>
            <a:r>
              <a:rPr lang="en-US" dirty="0"/>
              <a:t>Usually attempts to 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Fool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Target</a:t>
            </a:r>
            <a:r>
              <a:rPr lang="en-US" dirty="0"/>
              <a:t> into sharing an </a:t>
            </a:r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Encryption Key </a:t>
            </a:r>
            <a:r>
              <a:rPr lang="en-US" dirty="0"/>
              <a:t>which he or she can later use in the replay attack to prove his identity and authentication</a:t>
            </a:r>
          </a:p>
          <a:p>
            <a:r>
              <a:rPr lang="en-US" altLang="en-US" b="1" i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Rogue access points</a:t>
            </a:r>
          </a:p>
          <a:p>
            <a:pPr lvl="1"/>
            <a:r>
              <a:rPr lang="en-US" altLang="en-US" sz="2000" dirty="0"/>
              <a:t>Any </a:t>
            </a:r>
            <a:r>
              <a:rPr lang="en-US" altLang="en-US" sz="31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Wireless Access Point </a:t>
            </a:r>
            <a:r>
              <a:rPr lang="en-US" altLang="en-US" sz="2000" dirty="0"/>
              <a:t>added to your network that has </a:t>
            </a:r>
            <a:r>
              <a:rPr lang="en-US" altLang="en-US" sz="20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 Been Authorized </a:t>
            </a:r>
            <a:r>
              <a:rPr lang="en-US" altLang="en-US" sz="2000" dirty="0"/>
              <a:t>is considered a rogue.</a:t>
            </a:r>
            <a:endParaRPr lang="en-US" altLang="en-US" sz="2000" i="1" dirty="0"/>
          </a:p>
          <a:p>
            <a:r>
              <a:rPr lang="en-US" altLang="en-US" b="1" i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Evil twin attack</a:t>
            </a:r>
          </a:p>
          <a:p>
            <a:pPr lvl="1"/>
            <a:r>
              <a:rPr lang="en-US" altLang="en-US" sz="2000" dirty="0"/>
              <a:t>This is one in which a </a:t>
            </a:r>
            <a:r>
              <a:rPr lang="en-US" altLang="en-US" sz="20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Rogue</a:t>
            </a:r>
            <a:r>
              <a:rPr lang="en-US" altLang="en-US" sz="2000" dirty="0"/>
              <a:t> wireless access point </a:t>
            </a:r>
            <a:r>
              <a:rPr lang="en-US" altLang="en-US" sz="20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Poses</a:t>
            </a:r>
            <a:r>
              <a:rPr lang="en-US" altLang="en-US" sz="2000" dirty="0"/>
              <a:t> as a </a:t>
            </a:r>
            <a:r>
              <a:rPr lang="en-US" altLang="en-US" sz="20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Legitimate Wireless Service Provider </a:t>
            </a:r>
            <a:r>
              <a:rPr lang="en-US" altLang="en-US" sz="2000" dirty="0"/>
              <a:t>to </a:t>
            </a:r>
            <a:r>
              <a:rPr lang="en-US" altLang="en-US" sz="26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Intercept Information </a:t>
            </a:r>
            <a:r>
              <a:rPr lang="en-US" altLang="en-US" sz="2000" dirty="0"/>
              <a:t>users transmit.</a:t>
            </a:r>
            <a:endParaRPr lang="en-US" altLang="en-US" sz="2000" i="1" dirty="0"/>
          </a:p>
        </p:txBody>
      </p:sp>
    </p:spTree>
    <p:extLst>
      <p:ext uri="{BB962C8B-B14F-4D97-AF65-F5344CB8AC3E}">
        <p14:creationId xmlns:p14="http://schemas.microsoft.com/office/powerpoint/2010/main" val="2206424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Wireless Vulnerabilities 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i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Jamming</a:t>
            </a:r>
            <a:r>
              <a:rPr lang="en-US" dirty="0"/>
              <a:t> – DOS</a:t>
            </a:r>
          </a:p>
          <a:p>
            <a:r>
              <a:rPr lang="en-US" b="1" i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WPS</a:t>
            </a:r>
          </a:p>
          <a:p>
            <a:pPr lvl="1"/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Network Security Standard </a:t>
            </a:r>
            <a:r>
              <a:rPr lang="en-US" dirty="0"/>
              <a:t>to </a:t>
            </a:r>
            <a:r>
              <a:rPr 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Create</a:t>
            </a:r>
            <a:r>
              <a:rPr lang="en-US" dirty="0"/>
              <a:t> a </a:t>
            </a:r>
            <a:r>
              <a:rPr lang="en-US" b="1" i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Secure</a:t>
            </a:r>
            <a:r>
              <a:rPr lang="en-US" dirty="0"/>
              <a:t> wireless home network</a:t>
            </a:r>
          </a:p>
          <a:p>
            <a:pPr lvl="1"/>
            <a:r>
              <a:rPr 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Short Cut:</a:t>
            </a:r>
          </a:p>
          <a:p>
            <a:pPr lvl="2"/>
            <a:r>
              <a:rPr lang="en-US" dirty="0"/>
              <a:t>Router has 8-digit PIN (for the router)</a:t>
            </a:r>
          </a:p>
          <a:p>
            <a:pPr lvl="2"/>
            <a:r>
              <a:rPr lang="en-US" dirty="0"/>
              <a:t>WPS only checks 4/8 on initial connection checks (short cut)</a:t>
            </a:r>
          </a:p>
          <a:p>
            <a:pPr lvl="3"/>
            <a:r>
              <a:rPr lang="en-US" dirty="0"/>
              <a:t>Only 11K possible choices, making it easy to Hack </a:t>
            </a:r>
          </a:p>
          <a:p>
            <a:r>
              <a:rPr lang="en-US" altLang="en-US" b="1" i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Bluejacking</a:t>
            </a:r>
          </a:p>
          <a:p>
            <a:pPr lvl="1"/>
            <a:r>
              <a:rPr lang="en-US" altLang="en-US" sz="2000" dirty="0"/>
              <a:t>The sending of unsolicited messages (think </a:t>
            </a:r>
            <a:r>
              <a:rPr lang="en-US" altLang="en-US" sz="2000" b="1" i="1" u="sng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Spam</a:t>
            </a:r>
            <a:r>
              <a:rPr lang="en-US" altLang="en-US" sz="2000" dirty="0"/>
              <a:t>) over the Bluetooth connection</a:t>
            </a:r>
            <a:endParaRPr lang="en-US" altLang="en-US" sz="2000" i="1" dirty="0"/>
          </a:p>
          <a:p>
            <a:r>
              <a:rPr lang="en-US" altLang="en-US" b="1" i="1" u="sng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Bluesnarfing</a:t>
            </a:r>
            <a:endParaRPr lang="en-US" altLang="en-US" b="1" i="1" u="sng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altLang="en-US" sz="2000" dirty="0"/>
              <a:t>The gaining of unauthorized access through a Bluetooth connection</a:t>
            </a:r>
            <a:endParaRPr lang="en-US" altLang="en-US" sz="2000" i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541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Wireless Vulnerabilities 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0" y="1600200"/>
            <a:ext cx="6400800" cy="4983162"/>
          </a:xfrm>
        </p:spPr>
        <p:txBody>
          <a:bodyPr>
            <a:normAutofit fontScale="77500" lnSpcReduction="20000"/>
          </a:bodyPr>
          <a:lstStyle/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NFC</a:t>
            </a:r>
            <a:r>
              <a:rPr lang="en-US" dirty="0"/>
              <a:t> – Near Field Communication:</a:t>
            </a:r>
          </a:p>
          <a:p>
            <a:pPr lvl="1"/>
            <a:r>
              <a:rPr lang="en-US" dirty="0"/>
              <a:t>Tap and Go (in Smart Phones)</a:t>
            </a:r>
          </a:p>
          <a:p>
            <a:pPr lvl="1"/>
            <a:r>
              <a:rPr lang="en-US" dirty="0"/>
              <a:t>Evolved from RFID</a:t>
            </a:r>
          </a:p>
          <a:p>
            <a:pPr lvl="1"/>
            <a:r>
              <a:rPr lang="en-US" dirty="0"/>
              <a:t>Communicate within short (cm) distances</a:t>
            </a:r>
          </a:p>
          <a:p>
            <a:pPr lvl="1"/>
            <a:r>
              <a:rPr lang="en-US" dirty="0"/>
              <a:t>Involves special ID HW (built into Phone)</a:t>
            </a:r>
          </a:p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RFID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Uses RF to automatically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Identify</a:t>
            </a:r>
            <a:r>
              <a:rPr lang="en-US" dirty="0"/>
              <a:t> and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Track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Tags</a:t>
            </a:r>
            <a:r>
              <a:rPr lang="en-US" dirty="0"/>
              <a:t> attached to objects</a:t>
            </a:r>
          </a:p>
          <a:p>
            <a:pPr lvl="1"/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Tags</a:t>
            </a:r>
            <a:r>
              <a:rPr lang="en-US" dirty="0"/>
              <a:t> contain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Electronically-Stored Information</a:t>
            </a:r>
            <a:r>
              <a:rPr lang="en-US" dirty="0"/>
              <a:t> </a:t>
            </a:r>
          </a:p>
          <a:p>
            <a:pPr lvl="1"/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Passive Tags </a:t>
            </a:r>
            <a:r>
              <a:rPr lang="en-US" dirty="0"/>
              <a:t>collect energy from a nearby RFID reader's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Interrogating Radio Wave</a:t>
            </a:r>
          </a:p>
          <a:p>
            <a:r>
              <a:rPr lang="en-US" b="1" i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Disassociation</a:t>
            </a:r>
          </a:p>
          <a:p>
            <a:pPr lvl="1"/>
            <a:r>
              <a:rPr lang="en-US" sz="2300" dirty="0"/>
              <a:t>The intruder sends a frame to the AP with a </a:t>
            </a:r>
            <a:r>
              <a:rPr lang="en-US" sz="23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Spoofed Address </a:t>
            </a:r>
            <a:r>
              <a:rPr lang="en-US" sz="2300" dirty="0"/>
              <a:t>to make it look like it came from the victim and </a:t>
            </a:r>
            <a:r>
              <a:rPr lang="en-US" sz="23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Disconnects Them From The Network.</a:t>
            </a:r>
          </a:p>
        </p:txBody>
      </p:sp>
    </p:spTree>
    <p:extLst>
      <p:ext uri="{BB962C8B-B14F-4D97-AF65-F5344CB8AC3E}">
        <p14:creationId xmlns:p14="http://schemas.microsoft.com/office/powerpoint/2010/main" val="1170920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1831</TotalTime>
  <Words>344</Words>
  <Application>Microsoft Office PowerPoint</Application>
  <PresentationFormat>On-screen Show (4:3)</PresentationFormat>
  <Paragraphs>43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 New Roman</vt:lpstr>
      <vt:lpstr>Office Theme</vt:lpstr>
      <vt:lpstr>CompTIA Security+ Study Guide (SY0-501)</vt:lpstr>
      <vt:lpstr>Chapter 5: Wireless Network Threats</vt:lpstr>
      <vt:lpstr>Wireless Vulnerabilities</vt:lpstr>
      <vt:lpstr>Wireless Vulnerabilities</vt:lpstr>
      <vt:lpstr>Wireless Vulnerabilities Continued</vt:lpstr>
      <vt:lpstr>Wireless Vulnerabilities Continued</vt:lpstr>
    </vt:vector>
  </TitlesOfParts>
  <Company>John Wiley and Sons,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O'Brien, Connor - San Francisco</dc:creator>
  <cp:lastModifiedBy>Ricky Gibson</cp:lastModifiedBy>
  <cp:revision>15</cp:revision>
  <dcterms:created xsi:type="dcterms:W3CDTF">2013-06-05T20:52:46Z</dcterms:created>
  <dcterms:modified xsi:type="dcterms:W3CDTF">2020-03-02T14:55:05Z</dcterms:modified>
</cp:coreProperties>
</file>