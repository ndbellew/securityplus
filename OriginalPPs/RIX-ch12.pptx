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9" r:id="rId3"/>
    <p:sldId id="273" r:id="rId4"/>
    <p:sldId id="275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660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469F8-9823-4229-9B99-8ADA6B16655E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1C71B-25FA-42AD-AD17-CFEDF8AA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97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CEBD4F50-51FC-425B-BBAF-5329A709F7E8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6396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9109E99-9E73-499C-9960-63F529C1AAAD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3333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886200"/>
            <a:ext cx="9144000" cy="1752600"/>
          </a:xfrm>
        </p:spPr>
        <p:txBody>
          <a:bodyPr/>
          <a:lstStyle/>
          <a:p>
            <a:r>
              <a:rPr lang="en-US" altLang="en-US" dirty="0"/>
              <a:t>Chapter 12:</a:t>
            </a:r>
          </a:p>
          <a:p>
            <a:r>
              <a:rPr lang="en-US" altLang="en-US" dirty="0"/>
              <a:t>Disaster Recovery and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281467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Explain penetration testing concepts</a:t>
            </a:r>
          </a:p>
          <a:p>
            <a:r>
              <a:rPr lang="en-US" altLang="en-US" dirty="0"/>
              <a:t>Explain vulnerability scanning concepts</a:t>
            </a:r>
          </a:p>
          <a:p>
            <a:r>
              <a:rPr lang="en-US" altLang="en-US" dirty="0"/>
              <a:t>Given a scenario, follow incident response procedures</a:t>
            </a:r>
          </a:p>
          <a:p>
            <a:r>
              <a:rPr lang="en-US" altLang="en-US" dirty="0"/>
              <a:t>Summarize basic concepts of forensics</a:t>
            </a:r>
          </a:p>
          <a:p>
            <a:r>
              <a:rPr lang="en-US" altLang="en-US" dirty="0"/>
              <a:t>Explain disaster recovery and continuity of operation concepts</a:t>
            </a:r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307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12: Disaster Recovery and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3388267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Penetration Testing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Penetration Testing</a:t>
            </a:r>
          </a:p>
          <a:p>
            <a:pPr lvl="1"/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</a:t>
            </a:r>
            <a:r>
              <a:rPr lang="en-US" altLang="en-US" dirty="0"/>
              <a:t>: to simulate an attack and look for holes that exist in order to be able to fix them</a:t>
            </a:r>
          </a:p>
          <a:p>
            <a:r>
              <a:rPr lang="en-US" altLang="en-US" dirty="0"/>
              <a:t>Steps in penetration testing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Verify</a:t>
            </a:r>
            <a:r>
              <a:rPr lang="en-US" altLang="en-US" dirty="0"/>
              <a:t> a </a:t>
            </a:r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</a:t>
            </a:r>
            <a:r>
              <a:rPr lang="en-US" altLang="en-US" dirty="0"/>
              <a:t> exists</a:t>
            </a:r>
          </a:p>
          <a:p>
            <a:pPr lvl="1"/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Bypass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Actively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</a:t>
            </a:r>
            <a:r>
              <a:rPr lang="en-US" altLang="en-US" dirty="0"/>
              <a:t> security controls</a:t>
            </a:r>
          </a:p>
          <a:p>
            <a:pPr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5068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Vulnerability Scanning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2286000" y="1295400"/>
            <a:ext cx="6705600" cy="5287962"/>
          </a:xfrm>
        </p:spPr>
        <p:txBody>
          <a:bodyPr>
            <a:normAutofit/>
          </a:bodyPr>
          <a:lstStyle/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Vulnerability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Scanning</a:t>
            </a:r>
          </a:p>
          <a:p>
            <a:pPr lvl="1"/>
            <a:r>
              <a:rPr lang="en-US" altLang="en-US" dirty="0"/>
              <a:t>Involves looking for weaknesses in networks, computers, or even applications</a:t>
            </a:r>
            <a:endParaRPr lang="en-US" altLang="en-US" i="1" dirty="0"/>
          </a:p>
          <a:p>
            <a:r>
              <a:rPr lang="en-US" altLang="en-US" dirty="0"/>
              <a:t>Five major tasks </a:t>
            </a:r>
            <a:r>
              <a:rPr lang="en-US" altLang="en-US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{Review}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Passively testing security controls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Interpreting results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Identifying vulnerability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Identifying lack of security controls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Identifying common misconfigurations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25470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3"/>
          <p:cNvSpPr>
            <a:spLocks noGrp="1"/>
          </p:cNvSpPr>
          <p:nvPr>
            <p:ph idx="1"/>
          </p:nvPr>
        </p:nvSpPr>
        <p:spPr>
          <a:xfrm>
            <a:off x="2286000" y="1600200"/>
            <a:ext cx="6705600" cy="5029200"/>
          </a:xfrm>
        </p:spPr>
        <p:txBody>
          <a:bodyPr>
            <a:normAutofit/>
          </a:bodyPr>
          <a:lstStyle/>
          <a:p>
            <a:r>
              <a:rPr lang="en-US" altLang="en-US" sz="2800" i="1" dirty="0"/>
              <a:t>Business continuity planning 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BCP</a:t>
            </a:r>
            <a:r>
              <a:rPr lang="en-US" altLang="en-US" sz="2800" i="1" dirty="0"/>
              <a:t>)</a:t>
            </a:r>
          </a:p>
          <a:p>
            <a:pPr lvl="1"/>
            <a:r>
              <a:rPr lang="en-US" altLang="en-US" dirty="0"/>
              <a:t>The process of implementing policies, controls and procedures to counteract the effects of losses, outages, or failures of critical business processes</a:t>
            </a:r>
          </a:p>
          <a:p>
            <a:r>
              <a:rPr lang="en-US" altLang="en-US" sz="2800" i="1" dirty="0"/>
              <a:t>Critical business functions 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CBFs</a:t>
            </a:r>
            <a:r>
              <a:rPr lang="en-US" altLang="en-US" sz="2800" i="1" dirty="0"/>
              <a:t>)</a:t>
            </a:r>
          </a:p>
          <a:p>
            <a:r>
              <a:rPr lang="en-US" altLang="en-US" sz="2800" i="1" dirty="0"/>
              <a:t>Two key components of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BCP</a:t>
            </a:r>
          </a:p>
          <a:p>
            <a:pPr lvl="1"/>
            <a:r>
              <a:rPr lang="en-US" altLang="en-US" i="1" dirty="0"/>
              <a:t>Business impact analysis (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BIA</a:t>
            </a:r>
            <a:r>
              <a:rPr lang="en-US" altLang="en-US" i="1" dirty="0"/>
              <a:t>)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Assessment</a:t>
            </a:r>
          </a:p>
        </p:txBody>
      </p:sp>
      <p:sp>
        <p:nvSpPr>
          <p:cNvPr id="4099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Business Continuity</a:t>
            </a:r>
          </a:p>
        </p:txBody>
      </p:sp>
    </p:spTree>
    <p:extLst>
      <p:ext uri="{BB962C8B-B14F-4D97-AF65-F5344CB8AC3E}">
        <p14:creationId xmlns:p14="http://schemas.microsoft.com/office/powerpoint/2010/main" val="97957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Storage Mechanisms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Working Copy Backups</a:t>
            </a:r>
          </a:p>
          <a:p>
            <a:pPr lvl="1"/>
            <a:r>
              <a:rPr lang="en-US" altLang="en-US" dirty="0"/>
              <a:t>Are partial or full backups that are kept at the computer center for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Immediate Recovery </a:t>
            </a:r>
            <a:r>
              <a:rPr lang="en-US" altLang="en-US" dirty="0"/>
              <a:t>purposes</a:t>
            </a:r>
            <a:endParaRPr lang="en-US" altLang="en-US" i="1" dirty="0"/>
          </a:p>
          <a:p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On-site storage</a:t>
            </a:r>
          </a:p>
          <a:p>
            <a:pPr lvl="1"/>
            <a:r>
              <a:rPr lang="en-US" altLang="en-US" dirty="0"/>
              <a:t>Usually refers to a location on the site of the computer center that is used to store information locally</a:t>
            </a:r>
          </a:p>
          <a:p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Off-Site Storage </a:t>
            </a:r>
            <a:r>
              <a:rPr lang="en-US" altLang="en-US" i="1" dirty="0"/>
              <a:t>(</a:t>
            </a:r>
            <a:r>
              <a:rPr lang="en-US" alt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Escrow</a:t>
            </a:r>
            <a:r>
              <a:rPr lang="en-US" altLang="en-US" i="1" dirty="0"/>
              <a:t>)</a:t>
            </a:r>
          </a:p>
          <a:p>
            <a:pPr>
              <a:buFontTx/>
              <a:buNone/>
            </a:pP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191993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12: Disaster Recovery and Incident Response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4983162"/>
          </a:xfrm>
        </p:spPr>
        <p:txBody>
          <a:bodyPr/>
          <a:lstStyle/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Disaster Recovery</a:t>
            </a:r>
          </a:p>
          <a:p>
            <a:pPr lvl="1"/>
            <a:r>
              <a:rPr lang="en-US" altLang="en-US" dirty="0"/>
              <a:t>The ability to recover system operations after a disaster</a:t>
            </a:r>
            <a:endParaRPr lang="en-US" altLang="en-US" i="1" dirty="0"/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Backups</a:t>
            </a:r>
          </a:p>
          <a:p>
            <a:pPr lvl="1"/>
            <a:r>
              <a:rPr lang="en-US" altLang="en-US" dirty="0"/>
              <a:t>Are duplicate copies of key information, ideally stored in a location other than the one where the information is currently stored</a:t>
            </a:r>
          </a:p>
          <a:p>
            <a:pPr lvl="1"/>
            <a:endParaRPr lang="en-US" altLang="en-US" i="1" dirty="0"/>
          </a:p>
          <a:p>
            <a:pPr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47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Backup Plan Issues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i="1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Disaster-Recovery Plan</a:t>
            </a:r>
          </a:p>
          <a:p>
            <a:pPr lvl="1"/>
            <a:r>
              <a:rPr lang="en-US" altLang="en-US" dirty="0"/>
              <a:t>Helps an organization respond effectively when a disaster occurs</a:t>
            </a:r>
            <a:endParaRPr lang="en-US" altLang="en-US" i="1" dirty="0"/>
          </a:p>
          <a:p>
            <a:r>
              <a:rPr lang="en-US" altLang="en-US" dirty="0"/>
              <a:t>Understanding backup plan issues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Systems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Files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</a:p>
          <a:p>
            <a:pPr>
              <a:buFontTx/>
              <a:buNone/>
            </a:pP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1664862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Knowing Backup Types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2286000" y="1295400"/>
            <a:ext cx="6705600" cy="5287962"/>
          </a:xfrm>
        </p:spPr>
        <p:txBody>
          <a:bodyPr/>
          <a:lstStyle/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</a:t>
            </a:r>
            <a:r>
              <a:rPr lang="en-US" altLang="en-US" sz="2000" dirty="0"/>
              <a:t> backup</a:t>
            </a:r>
          </a:p>
          <a:p>
            <a:pPr lvl="1"/>
            <a:r>
              <a:rPr lang="en-US" altLang="en-US" sz="2000" dirty="0"/>
              <a:t>A complete, comprehensive backup of all files on a disk or server</a:t>
            </a:r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Incremental</a:t>
            </a:r>
            <a:r>
              <a:rPr lang="en-US" altLang="en-US" sz="2000" dirty="0"/>
              <a:t> backup</a:t>
            </a:r>
          </a:p>
          <a:p>
            <a:pPr lvl="1"/>
            <a:r>
              <a:rPr lang="en-US" altLang="en-US" sz="2000" dirty="0"/>
              <a:t>A partial backup that stores only the information that has been changed since the last full or the last incremental backup</a:t>
            </a:r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Differential</a:t>
            </a:r>
            <a:r>
              <a:rPr lang="en-US" altLang="en-US" sz="2000" dirty="0"/>
              <a:t> backup</a:t>
            </a:r>
          </a:p>
          <a:p>
            <a:pPr lvl="1"/>
            <a:r>
              <a:rPr lang="en-US" altLang="en-US" sz="2000" dirty="0"/>
              <a:t>Backs up any files that have been altered since the last full backup; it makes duplicate copies of files that haven’t changed since the last differential backup</a:t>
            </a:r>
          </a:p>
        </p:txBody>
      </p:sp>
    </p:spTree>
    <p:extLst>
      <p:ext uri="{BB962C8B-B14F-4D97-AF65-F5344CB8AC3E}">
        <p14:creationId xmlns:p14="http://schemas.microsoft.com/office/powerpoint/2010/main" val="77076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Developing a Backup Plan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4983162"/>
          </a:xfrm>
        </p:spPr>
        <p:txBody>
          <a:bodyPr>
            <a:normAutofit/>
          </a:bodyPr>
          <a:lstStyle/>
          <a:p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Grandfather</a:t>
            </a:r>
            <a:r>
              <a:rPr lang="en-US" altLang="en-US" sz="2400" dirty="0"/>
              <a:t>,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Father</a:t>
            </a:r>
            <a:r>
              <a:rPr lang="en-US" altLang="en-US" sz="2400" dirty="0"/>
              <a:t>, </a:t>
            </a:r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Son</a:t>
            </a:r>
            <a:r>
              <a:rPr lang="en-US" altLang="en-US" sz="2400" dirty="0"/>
              <a:t> method</a:t>
            </a:r>
          </a:p>
          <a:p>
            <a:pPr lvl="1"/>
            <a:r>
              <a:rPr lang="en-US" altLang="en-US" sz="2400" dirty="0"/>
              <a:t>Based on the philosophy that a full backup should occur at regular intervals, such as monthly or weekly</a:t>
            </a:r>
          </a:p>
          <a:p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 Archival </a:t>
            </a:r>
            <a:r>
              <a:rPr lang="en-US" altLang="en-US" sz="2400" dirty="0"/>
              <a:t>method</a:t>
            </a:r>
          </a:p>
          <a:p>
            <a:pPr lvl="1"/>
            <a:r>
              <a:rPr lang="en-US" altLang="en-US" sz="2400" dirty="0"/>
              <a:t>Works on the assumption that any information created on any system is stored forever</a:t>
            </a:r>
          </a:p>
          <a:p>
            <a:r>
              <a:rPr lang="en-US" alt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Backup Server </a:t>
            </a:r>
            <a:r>
              <a:rPr lang="en-US" altLang="en-US" sz="2400" dirty="0"/>
              <a:t>method</a:t>
            </a:r>
          </a:p>
          <a:p>
            <a:pPr lvl="1"/>
            <a:r>
              <a:rPr lang="en-US" altLang="en-US" sz="2400" dirty="0"/>
              <a:t>Establishes a server with large amounts of disk space whose sole purpose is to back up data</a:t>
            </a:r>
          </a:p>
          <a:p>
            <a:pPr>
              <a:buFontTx/>
              <a:buNone/>
            </a:pPr>
            <a:endParaRPr lang="en-US" altLang="en-US" i="1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2357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12: Disaster Recovery and Incident Response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Recovering a system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Backout</a:t>
            </a:r>
            <a:r>
              <a:rPr lang="en-US" altLang="en-US" dirty="0"/>
              <a:t> vs.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Backup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Alternate</a:t>
            </a:r>
            <a:r>
              <a:rPr lang="en-US" altLang="en-US" dirty="0"/>
              <a:t> or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Backup Sites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Hot Site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Warm Site</a:t>
            </a:r>
          </a:p>
          <a:p>
            <a:endParaRPr lang="en-US" altLang="en-US" i="1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282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12: Disaster Recovery and Incident Response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2286000" y="1447800"/>
            <a:ext cx="6629400" cy="5135562"/>
          </a:xfrm>
        </p:spPr>
        <p:txBody>
          <a:bodyPr>
            <a:normAutofit/>
          </a:bodyPr>
          <a:lstStyle/>
          <a:p>
            <a:r>
              <a:rPr lang="en-US" altLang="en-US" sz="2400" i="1" dirty="0"/>
              <a:t>Incident response plan 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IRP</a:t>
            </a:r>
            <a:r>
              <a:rPr lang="en-US" altLang="en-US" sz="2400" i="1" dirty="0"/>
              <a:t>)</a:t>
            </a:r>
          </a:p>
          <a:p>
            <a:pPr lvl="1"/>
            <a:r>
              <a:rPr lang="en-US" altLang="en-US" sz="2400" dirty="0"/>
              <a:t>Outlines what steps are needed and who is responsible for deciding how to handle a situation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Incident</a:t>
            </a:r>
          </a:p>
          <a:p>
            <a:pPr lvl="1"/>
            <a:r>
              <a:rPr lang="en-US" altLang="en-US" sz="2400" dirty="0"/>
              <a:t>Is the occurrence of any event that endangers a system or network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Incident Response</a:t>
            </a:r>
          </a:p>
          <a:p>
            <a:pPr lvl="1"/>
            <a:r>
              <a:rPr lang="en-US" altLang="en-US" sz="2400" dirty="0"/>
              <a:t>Encompasses forensics and refers to the process of identifying, investigating, repairing, documenting, and adjusting procedures to prevent another inci</a:t>
            </a:r>
            <a:r>
              <a:rPr lang="en-US" altLang="en-US" sz="2000" dirty="0"/>
              <a:t>dent</a:t>
            </a:r>
            <a:endParaRPr lang="en-US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1961296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Incident Response Process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400800" cy="4906963"/>
          </a:xfrm>
        </p:spPr>
        <p:txBody>
          <a:bodyPr>
            <a:normAutofit/>
          </a:bodyPr>
          <a:lstStyle/>
          <a:p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1</a:t>
            </a:r>
            <a:r>
              <a:rPr lang="en-US" altLang="en-US" sz="3600" dirty="0"/>
              <a:t>: </a:t>
            </a:r>
            <a:r>
              <a:rPr lang="en-US" altLang="en-US" sz="36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Identifying</a:t>
            </a:r>
            <a:r>
              <a:rPr lang="en-US" altLang="en-US" sz="3600" b="0" dirty="0"/>
              <a:t> the </a:t>
            </a:r>
            <a:r>
              <a:rPr lang="en-US" altLang="en-US" sz="3600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Incident</a:t>
            </a:r>
          </a:p>
          <a:p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2</a:t>
            </a:r>
            <a:r>
              <a:rPr lang="en-US" altLang="en-US" sz="3600" dirty="0"/>
              <a:t>: </a:t>
            </a:r>
            <a:r>
              <a:rPr lang="en-US" altLang="en-US" sz="36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Investigating</a:t>
            </a:r>
            <a:r>
              <a:rPr lang="en-US" altLang="en-US" sz="3600" b="0" dirty="0"/>
              <a:t> the </a:t>
            </a:r>
            <a:r>
              <a:rPr lang="en-US" altLang="en-US" sz="3600" b="1" i="1" u="sng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Incident</a:t>
            </a:r>
          </a:p>
          <a:p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3</a:t>
            </a:r>
            <a:r>
              <a:rPr lang="en-US" altLang="en-US" sz="3600" dirty="0"/>
              <a:t>: </a:t>
            </a:r>
            <a:r>
              <a:rPr lang="en-US" altLang="en-US" sz="3600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Repairing</a:t>
            </a:r>
            <a:r>
              <a:rPr lang="en-US" altLang="en-US" sz="3600" b="0" dirty="0"/>
              <a:t> the </a:t>
            </a:r>
            <a:r>
              <a:rPr lang="en-US" altLang="en-US" sz="36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Damage</a:t>
            </a:r>
          </a:p>
          <a:p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4</a:t>
            </a:r>
            <a:r>
              <a:rPr lang="en-US" altLang="en-US" sz="3600" dirty="0"/>
              <a:t>: </a:t>
            </a:r>
            <a:r>
              <a:rPr lang="en-US" altLang="en-US" sz="3600" b="1" i="1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Documenting</a:t>
            </a:r>
            <a:r>
              <a:rPr lang="en-US" altLang="en-US" sz="3600" b="0" dirty="0"/>
              <a:t> and </a:t>
            </a:r>
            <a:r>
              <a:rPr lang="en-US" altLang="en-US" sz="3600" b="1" i="1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Reporting</a:t>
            </a:r>
            <a:r>
              <a:rPr lang="en-US" altLang="en-US" sz="3600" b="0" dirty="0"/>
              <a:t> the </a:t>
            </a:r>
            <a:r>
              <a:rPr lang="en-US" altLang="en-US" sz="3600" b="1" i="1" u="sng" dirty="0">
                <a:solidFill>
                  <a:srgbClr val="FF99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</a:t>
            </a:r>
          </a:p>
          <a:p>
            <a:r>
              <a:rPr lang="en-US" altLang="en-US" sz="3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5</a:t>
            </a:r>
            <a:r>
              <a:rPr lang="en-US" altLang="en-US" sz="3600" dirty="0"/>
              <a:t>: </a:t>
            </a:r>
            <a:r>
              <a:rPr lang="en-US" altLang="en-US" sz="3600" b="1" i="1" u="sng" dirty="0">
                <a:solidFill>
                  <a:srgbClr val="FF99CC"/>
                </a:solidFill>
              </a:rPr>
              <a:t>Adjusting</a:t>
            </a:r>
            <a:r>
              <a:rPr lang="en-US" altLang="en-US" sz="3600" b="0" dirty="0"/>
              <a:t> </a:t>
            </a:r>
            <a:r>
              <a:rPr lang="en-US" altLang="en-US" sz="3600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Procedures</a:t>
            </a:r>
          </a:p>
        </p:txBody>
      </p:sp>
    </p:spTree>
    <p:extLst>
      <p:ext uri="{BB962C8B-B14F-4D97-AF65-F5344CB8AC3E}">
        <p14:creationId xmlns:p14="http://schemas.microsoft.com/office/powerpoint/2010/main" val="327053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Forensics from the Security+ Perspective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Act in order of volatility</a:t>
            </a:r>
          </a:p>
          <a:p>
            <a:r>
              <a:rPr lang="en-US" altLang="en-US" sz="2400" dirty="0"/>
              <a:t>Capture system image</a:t>
            </a:r>
          </a:p>
          <a:p>
            <a:r>
              <a:rPr lang="en-US" altLang="en-US" sz="2400" dirty="0"/>
              <a:t>Document network traffic and logs</a:t>
            </a:r>
          </a:p>
          <a:p>
            <a:r>
              <a:rPr lang="en-US" altLang="en-US" sz="2400" dirty="0"/>
              <a:t>Capture video</a:t>
            </a:r>
          </a:p>
          <a:p>
            <a:r>
              <a:rPr lang="en-US" altLang="en-US" sz="2400" dirty="0"/>
              <a:t>Record time offset</a:t>
            </a:r>
          </a:p>
          <a:p>
            <a:r>
              <a:rPr lang="en-US" altLang="en-US" sz="2400" dirty="0"/>
              <a:t>Take hashes</a:t>
            </a:r>
          </a:p>
          <a:p>
            <a:r>
              <a:rPr lang="en-US" altLang="en-US" sz="2400" dirty="0"/>
              <a:t>Capture screenshots</a:t>
            </a:r>
          </a:p>
          <a:p>
            <a:r>
              <a:rPr lang="en-US" altLang="en-US" sz="2400" dirty="0"/>
              <a:t>Talk to witnesses</a:t>
            </a:r>
          </a:p>
          <a:p>
            <a:r>
              <a:rPr lang="en-US" altLang="en-US" sz="2400" dirty="0"/>
              <a:t>Track man-hours and expenses</a:t>
            </a:r>
          </a:p>
        </p:txBody>
      </p:sp>
    </p:spTree>
    <p:extLst>
      <p:ext uri="{BB962C8B-B14F-4D97-AF65-F5344CB8AC3E}">
        <p14:creationId xmlns:p14="http://schemas.microsoft.com/office/powerpoint/2010/main" val="902127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2286000" y="457200"/>
            <a:ext cx="64008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Chapter 12: Disaster Recovery and Incident Response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en-US" sz="2400" i="1" dirty="0"/>
          </a:p>
          <a:p>
            <a:r>
              <a:rPr lang="en-US" altLang="en-US" sz="2400" dirty="0"/>
              <a:t>Table-top exercises</a:t>
            </a:r>
          </a:p>
          <a:p>
            <a:pPr lvl="1"/>
            <a:r>
              <a:rPr lang="en-US" altLang="en-US" sz="2400" dirty="0"/>
              <a:t>Simulate </a:t>
            </a:r>
            <a:r>
              <a:rPr lang="en-US" altLang="en-US" sz="2400" b="1" i="1" u="sng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Disaster</a:t>
            </a:r>
          </a:p>
        </p:txBody>
      </p:sp>
    </p:spTree>
    <p:extLst>
      <p:ext uri="{BB962C8B-B14F-4D97-AF65-F5344CB8AC3E}">
        <p14:creationId xmlns:p14="http://schemas.microsoft.com/office/powerpoint/2010/main" val="4280934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605</Words>
  <Application>Microsoft Office PowerPoint</Application>
  <PresentationFormat>On-screen Show (4:3)</PresentationFormat>
  <Paragraphs>99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CompTIA Security+ Study Guide (SY0-501)</vt:lpstr>
      <vt:lpstr>Chapter 12: Disaster Recovery and Incident Response</vt:lpstr>
      <vt:lpstr>Penetration Testing</vt:lpstr>
      <vt:lpstr>Vulnerability Scanning</vt:lpstr>
      <vt:lpstr>Business Continuity</vt:lpstr>
      <vt:lpstr>Storage Mechanisms</vt:lpstr>
      <vt:lpstr>Chapter 12: Disaster Recovery and Incident Response</vt:lpstr>
      <vt:lpstr>Backup Plan Issues</vt:lpstr>
      <vt:lpstr>Knowing Backup Types</vt:lpstr>
      <vt:lpstr>Developing a Backup Plan</vt:lpstr>
      <vt:lpstr>Chapter 12: Disaster Recovery and Incident Response</vt:lpstr>
      <vt:lpstr>Chapter 12: Disaster Recovery and Incident Response</vt:lpstr>
      <vt:lpstr>Incident Response Process</vt:lpstr>
      <vt:lpstr>Forensics from the Security+ Perspective</vt:lpstr>
      <vt:lpstr>Chapter 12: Disaster Recovery and Incident Response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10</cp:revision>
  <dcterms:created xsi:type="dcterms:W3CDTF">2013-06-05T20:52:46Z</dcterms:created>
  <dcterms:modified xsi:type="dcterms:W3CDTF">2020-03-18T19:28:19Z</dcterms:modified>
</cp:coreProperties>
</file>