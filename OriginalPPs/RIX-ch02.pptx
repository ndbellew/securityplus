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0" r:id="rId4"/>
    <p:sldId id="266" r:id="rId5"/>
    <p:sldId id="261" r:id="rId6"/>
    <p:sldId id="262" r:id="rId7"/>
    <p:sldId id="263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F3300"/>
    <a:srgbClr val="FFFFCC"/>
    <a:srgbClr val="FF99CC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60"/>
  </p:normalViewPr>
  <p:slideViewPr>
    <p:cSldViewPr>
      <p:cViewPr varScale="1">
        <p:scale>
          <a:sx n="82" d="100"/>
          <a:sy n="82" d="100"/>
        </p:scale>
        <p:origin x="179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9EB10-15B2-4E99-97B6-49BD2303230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98975-D9C9-4A57-9BA4-C921EA5EB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0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8AC4A853-31ED-48B6-B6AA-8617B865E953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76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060D841-D24B-42C1-ABA7-73AD8D2447FD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9227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7DC39F1-0F1E-43B1-842E-37CF6584B97F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725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C42392A-1AA7-47AE-8CC9-0BB9143B002B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38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5F59EE0-0219-499A-8039-F663A7ED7DB7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76758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A65FF5F5-4229-43FE-8A77-FBF22F47509C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278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Chapter 2:</a:t>
            </a:r>
          </a:p>
          <a:p>
            <a:r>
              <a:rPr lang="en-US" altLang="en-US" dirty="0"/>
              <a:t>Monitoring and Diagnosing Networks</a:t>
            </a:r>
          </a:p>
        </p:txBody>
      </p:sp>
    </p:spTree>
    <p:extLst>
      <p:ext uri="{BB962C8B-B14F-4D97-AF65-F5344CB8AC3E}">
        <p14:creationId xmlns:p14="http://schemas.microsoft.com/office/powerpoint/2010/main" val="422861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/>
              <a:t>Chapter 2: Monitoring and Diagnosing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6934200" cy="4525963"/>
          </a:xfrm>
          <a:noFill/>
        </p:spPr>
        <p:txBody>
          <a:bodyPr/>
          <a:lstStyle/>
          <a:p>
            <a:r>
              <a:rPr lang="en-US" altLang="en-US" sz="2800" dirty="0"/>
              <a:t>Explain use cases and purpose for frameworks, best practices, and secure configuration guides</a:t>
            </a:r>
          </a:p>
          <a:p>
            <a:r>
              <a:rPr lang="en-US" altLang="en-US" sz="2800" dirty="0"/>
              <a:t>Given a scenario, implement secure network architecture concepts</a:t>
            </a:r>
          </a:p>
          <a:p>
            <a:r>
              <a:rPr lang="en-US" altLang="en-US" sz="2800" dirty="0"/>
              <a:t>Given a scenario, implement secure systems design</a:t>
            </a:r>
          </a:p>
          <a:p>
            <a:r>
              <a:rPr lang="en-US" altLang="en-US" sz="2800" dirty="0"/>
              <a:t>Explain the importance of secure staging</a:t>
            </a:r>
          </a:p>
          <a:p>
            <a:r>
              <a:rPr lang="en-US" altLang="en-US" sz="2800" dirty="0"/>
              <a:t>Deployment concepts</a:t>
            </a:r>
          </a:p>
          <a:p>
            <a:endParaRPr lang="en-US" altLang="en-US" sz="2800" dirty="0"/>
          </a:p>
          <a:p>
            <a:endParaRPr lang="en-US" alt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377608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Frameworks, Best Practices, and Configuration Guides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92500" lnSpcReduction="20000"/>
          </a:bodyPr>
          <a:lstStyle/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 Standards</a:t>
            </a:r>
          </a:p>
          <a:p>
            <a:r>
              <a:rPr lang="en-US" altLang="en-US" sz="2800" dirty="0"/>
              <a:t>North American Electric Reliability Corporation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NERC</a:t>
            </a:r>
            <a:r>
              <a:rPr lang="en-US" altLang="en-US" sz="2800" dirty="0"/>
              <a:t>)</a:t>
            </a:r>
          </a:p>
          <a:p>
            <a:r>
              <a:rPr lang="en-US" altLang="en-US" sz="2800" dirty="0"/>
              <a:t>National Institute of Standards and Technology (</a:t>
            </a:r>
            <a:r>
              <a:rPr lang="en-US" altLang="en-US" sz="28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NIST</a:t>
            </a:r>
            <a:r>
              <a:rPr lang="en-US" altLang="en-US" sz="2800" dirty="0"/>
              <a:t>)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ISA</a:t>
            </a:r>
            <a:r>
              <a:rPr lang="en-US" altLang="en-US" sz="2800" dirty="0"/>
              <a:t>/IEC-62443</a:t>
            </a:r>
          </a:p>
          <a:p>
            <a:pPr lvl="1"/>
            <a:r>
              <a:rPr lang="en-US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Series</a:t>
            </a:r>
            <a:r>
              <a:rPr lang="en-US" sz="2400" dirty="0"/>
              <a:t> of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Standards</a:t>
            </a:r>
            <a:r>
              <a:rPr lang="en-US" sz="2400" dirty="0"/>
              <a:t>,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Reports</a:t>
            </a:r>
            <a:r>
              <a:rPr lang="en-US" sz="2400" dirty="0"/>
              <a:t>, and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Information </a:t>
            </a:r>
            <a:r>
              <a:rPr lang="en-US" sz="2400" dirty="0"/>
              <a:t>that </a:t>
            </a:r>
            <a:r>
              <a:rPr lang="en-US" sz="2400" b="1" dirty="0"/>
              <a:t>define</a:t>
            </a:r>
            <a:r>
              <a:rPr lang="en-US" sz="2400" dirty="0"/>
              <a:t> 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Procedures</a:t>
            </a:r>
            <a:r>
              <a:rPr lang="en-US" sz="2400" dirty="0"/>
              <a:t> for implementing electronically secure Industrial Automation and Control Systems (</a:t>
            </a:r>
            <a:r>
              <a:rPr 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IACS</a:t>
            </a:r>
            <a:r>
              <a:rPr lang="en-US" sz="2400" dirty="0"/>
              <a:t>)</a:t>
            </a:r>
            <a:endParaRPr lang="en-US" altLang="en-US" sz="2400" dirty="0"/>
          </a:p>
          <a:p>
            <a:r>
              <a:rPr lang="en-US" altLang="en-US" sz="2800" dirty="0"/>
              <a:t>Payment Card Industry Data Security Standard (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PCI-</a:t>
            </a:r>
            <a:r>
              <a:rPr lang="en-US" altLang="en-US" sz="28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DSS</a:t>
            </a:r>
            <a:r>
              <a:rPr lang="en-US" alt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4495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Payment Card Industry Data Security Standard (</a:t>
            </a:r>
            <a:r>
              <a:rPr lang="en-US" b="1" i="1" u="sng" dirty="0">
                <a:solidFill>
                  <a:srgbClr val="FF0000"/>
                </a:solidFill>
              </a:rPr>
              <a:t>PCI-</a:t>
            </a:r>
            <a:r>
              <a:rPr lang="en-US" b="1" i="1" u="sng" dirty="0" err="1">
                <a:solidFill>
                  <a:srgbClr val="FF0000"/>
                </a:solidFill>
              </a:rPr>
              <a:t>DSS</a:t>
            </a:r>
            <a:r>
              <a:rPr lang="en-US" dirty="0"/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408519"/>
            <a:ext cx="3036171" cy="5439270"/>
          </a:xfrm>
        </p:spPr>
      </p:pic>
    </p:spTree>
    <p:extLst>
      <p:ext uri="{BB962C8B-B14F-4D97-AF65-F5344CB8AC3E}">
        <p14:creationId xmlns:p14="http://schemas.microsoft.com/office/powerpoint/2010/main" val="152059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Open Web Application Security Project (</a:t>
            </a:r>
            <a:r>
              <a:rPr lang="en-US" altLang="en-US" sz="4000" b="1" i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OWASP</a:t>
            </a:r>
            <a:r>
              <a:rPr lang="en-US" altLang="en-US" sz="4000" dirty="0"/>
              <a:t>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143000"/>
            <a:ext cx="7010400" cy="4983163"/>
          </a:xfrm>
          <a:noFill/>
        </p:spPr>
        <p:txBody>
          <a:bodyPr/>
          <a:lstStyle/>
          <a:p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1.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Verify</a:t>
            </a:r>
            <a:r>
              <a:rPr lang="en-US" altLang="en-US" sz="2400" dirty="0"/>
              <a:t> for </a:t>
            </a:r>
            <a:r>
              <a:rPr lang="en-US" altLang="en-US" sz="2400" b="1" i="1" u="sng" dirty="0">
                <a:solidFill>
                  <a:srgbClr val="FF3300"/>
                </a:solidFill>
              </a:rPr>
              <a:t>Security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highlight>
                  <a:srgbClr val="FFFF00"/>
                </a:highlight>
              </a:rPr>
              <a:t>Early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highlight>
                  <a:srgbClr val="FFFF00"/>
                </a:highlight>
              </a:rPr>
              <a:t>Often</a:t>
            </a:r>
          </a:p>
          <a:p>
            <a:pPr marL="0" indent="0">
              <a:buNone/>
            </a:pPr>
            <a:r>
              <a:rPr lang="en-US" altLang="en-US" sz="2400" dirty="0"/>
              <a:t>2.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Parameterize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9933"/>
                </a:solidFill>
                <a:highlight>
                  <a:srgbClr val="808080"/>
                </a:highlight>
              </a:rPr>
              <a:t>Queries</a:t>
            </a:r>
          </a:p>
          <a:p>
            <a:pPr marL="0" indent="0">
              <a:buNone/>
            </a:pPr>
            <a:r>
              <a:rPr lang="en-US" altLang="en-US" sz="2400" dirty="0"/>
              <a:t>3.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Encode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Data</a:t>
            </a:r>
          </a:p>
          <a:p>
            <a:pPr marL="0" indent="0">
              <a:buNone/>
            </a:pPr>
            <a:r>
              <a:rPr lang="en-US" altLang="en-US" sz="2400" dirty="0"/>
              <a:t>4.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Validate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C000"/>
                </a:solidFill>
              </a:rPr>
              <a:t>All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Inputs</a:t>
            </a:r>
          </a:p>
          <a:p>
            <a:pPr marL="0" indent="0">
              <a:buNone/>
            </a:pPr>
            <a:r>
              <a:rPr lang="en-US" altLang="en-US" sz="2400" dirty="0"/>
              <a:t>5.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Implement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Identity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Authentication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Controls</a:t>
            </a:r>
          </a:p>
          <a:p>
            <a:pPr marL="0" indent="0">
              <a:buNone/>
            </a:pPr>
            <a:r>
              <a:rPr lang="en-US" altLang="en-US" sz="2400" dirty="0"/>
              <a:t>6.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Implement</a:t>
            </a:r>
            <a:r>
              <a:rPr lang="en-US" altLang="en-US" sz="2400" dirty="0"/>
              <a:t> appropriate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Access Controls</a:t>
            </a:r>
          </a:p>
          <a:p>
            <a:pPr marL="0" indent="0">
              <a:buNone/>
            </a:pPr>
            <a:r>
              <a:rPr lang="en-US" altLang="en-US" sz="2400" dirty="0"/>
              <a:t>7.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Protect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Data</a:t>
            </a:r>
          </a:p>
          <a:p>
            <a:pPr marL="0" indent="0">
              <a:buNone/>
            </a:pPr>
            <a:r>
              <a:rPr lang="en-US" altLang="en-US" sz="2400" dirty="0"/>
              <a:t>8.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Implement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Logging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Intrusion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Detection</a:t>
            </a:r>
          </a:p>
          <a:p>
            <a:pPr marL="0" indent="0">
              <a:buNone/>
            </a:pPr>
            <a:r>
              <a:rPr lang="en-US" altLang="en-US" sz="2400" dirty="0"/>
              <a:t>9. </a:t>
            </a:r>
            <a:r>
              <a:rPr lang="en-US" altLang="en-US" sz="2400" b="1" i="1" u="sng" dirty="0">
                <a:solidFill>
                  <a:srgbClr val="FF99CC"/>
                </a:solidFill>
              </a:rPr>
              <a:t>Leverage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Security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FF3300"/>
                </a:solidFill>
              </a:rPr>
              <a:t>Frameworks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3300"/>
                </a:solidFill>
              </a:rPr>
              <a:t>Libraries</a:t>
            </a:r>
          </a:p>
          <a:p>
            <a:pPr marL="0" indent="0">
              <a:buNone/>
            </a:pPr>
            <a:r>
              <a:rPr lang="en-US" altLang="en-US" sz="2400" dirty="0"/>
              <a:t>10.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Error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Exception Handling</a:t>
            </a:r>
            <a:endParaRPr lang="en-US" altLang="en-US" sz="2000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5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Secure Network Architecture Concepts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286000" y="1417638"/>
            <a:ext cx="6400800" cy="5287962"/>
          </a:xfrm>
        </p:spPr>
        <p:txBody>
          <a:bodyPr>
            <a:normAutofit lnSpcReduction="10000"/>
          </a:bodyPr>
          <a:lstStyle/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Zones </a:t>
            </a:r>
            <a:r>
              <a:rPr lang="en-US" altLang="en-US" sz="24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{RVW. “</a:t>
            </a:r>
            <a:r>
              <a:rPr lang="en-US" altLang="en-US" sz="2400" b="1" i="1" u="sng" dirty="0" err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BigStack</a:t>
            </a:r>
            <a:r>
              <a:rPr lang="en-US" altLang="en-US" sz="24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”}</a:t>
            </a:r>
          </a:p>
          <a:p>
            <a:pPr lvl="1"/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Compartmentalize  </a:t>
            </a:r>
            <a:r>
              <a:rPr lang="en-US" altLang="en-US" sz="2000" dirty="0"/>
              <a:t>our</a:t>
            </a:r>
            <a:r>
              <a:rPr lang="en-US" altLang="en-US" sz="2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Network Segments</a:t>
            </a:r>
          </a:p>
          <a:p>
            <a:pPr lvl="2"/>
            <a:r>
              <a:rPr lang="en-US" altLang="en-US" sz="16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Intranet </a:t>
            </a:r>
            <a:r>
              <a:rPr lang="en-US" altLang="en-US" sz="1600" dirty="0"/>
              <a:t>(for example, the LMI)</a:t>
            </a:r>
            <a:endParaRPr lang="en-US" altLang="en-US" sz="16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400" dirty="0"/>
              <a:t>Demilitarized zone (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DMZ</a:t>
            </a:r>
            <a:r>
              <a:rPr lang="en-US" altLang="en-US" sz="2400" dirty="0"/>
              <a:t>)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Extranet</a:t>
            </a:r>
            <a:r>
              <a:rPr lang="en-US" altLang="en-US" sz="2400" dirty="0"/>
              <a:t> 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 </a:t>
            </a:r>
            <a:r>
              <a:rPr lang="en-US" altLang="en-US" sz="2400" dirty="0"/>
              <a:t>(Full, Public Network, Unsecured)</a:t>
            </a:r>
            <a:endParaRPr lang="en-US" altLang="en-US" sz="2400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Wireless</a:t>
            </a:r>
            <a:endParaRPr lang="en-US" altLang="en-US" dirty="0"/>
          </a:p>
          <a:p>
            <a:pPr lvl="1">
              <a:buFontTx/>
              <a:buNone/>
            </a:pP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48979"/>
            <a:ext cx="5486400" cy="242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Network </a:t>
            </a:r>
            <a:r>
              <a:rPr lang="en-US" altLang="en-US" sz="40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30" y="1074368"/>
            <a:ext cx="5691170" cy="5549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842329-DD68-41AF-9ED4-0A520FD55893}"/>
              </a:ext>
            </a:extLst>
          </p:cNvPr>
          <p:cNvSpPr txBox="1"/>
          <p:nvPr/>
        </p:nvSpPr>
        <p:spPr>
          <a:xfrm>
            <a:off x="2212910" y="2497084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Wiring</a:t>
            </a:r>
            <a:r>
              <a:rPr lang="en-US" dirty="0"/>
              <a:t>  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L3 Subnetting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Switches</a:t>
            </a:r>
          </a:p>
        </p:txBody>
      </p:sp>
    </p:spTree>
    <p:extLst>
      <p:ext uri="{BB962C8B-B14F-4D97-AF65-F5344CB8AC3E}">
        <p14:creationId xmlns:p14="http://schemas.microsoft.com/office/powerpoint/2010/main" val="2601890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Honeypots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Honeypot</a:t>
            </a:r>
            <a:r>
              <a:rPr lang="en-US" dirty="0"/>
              <a:t>: A separate system that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appears</a:t>
            </a:r>
            <a:r>
              <a:rPr lang="en-US" dirty="0"/>
              <a:t> to be an </a:t>
            </a:r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Attractive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</a:t>
            </a:r>
            <a:r>
              <a:rPr lang="en-US" dirty="0"/>
              <a:t> but is in reality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Trap For Attackers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Honeynet</a:t>
            </a:r>
            <a:r>
              <a:rPr lang="en-US" dirty="0"/>
              <a:t>: A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Fake Network Segment </a:t>
            </a:r>
            <a:r>
              <a:rPr lang="en-US" dirty="0"/>
              <a:t>that appears to be a </a:t>
            </a:r>
            <a:r>
              <a:rPr lang="en-US" dirty="0">
                <a:solidFill>
                  <a:srgbClr val="00B050"/>
                </a:solidFill>
              </a:rPr>
              <a:t>very enticing target</a:t>
            </a:r>
            <a:r>
              <a:rPr lang="en-US" dirty="0"/>
              <a:t> (a logical extension of a honeypot)</a:t>
            </a:r>
          </a:p>
        </p:txBody>
      </p:sp>
    </p:spTree>
    <p:extLst>
      <p:ext uri="{BB962C8B-B14F-4D97-AF65-F5344CB8AC3E}">
        <p14:creationId xmlns:p14="http://schemas.microsoft.com/office/powerpoint/2010/main" val="3991440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Tunneling</a:t>
            </a:r>
            <a:r>
              <a:rPr lang="en-US" dirty="0"/>
              <a:t>/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65" y="2085974"/>
            <a:ext cx="6751673" cy="3933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5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Firewalls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 Filtering FW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(L2 &amp; L3)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Filtering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(L4)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Proxy FW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(L5)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 FW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(L2 – L7 &amp; Beyond)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 Gen FW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(All Layers &amp; Beyond)</a:t>
            </a:r>
            <a:endParaRPr lang="en-US" b="1" i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Software-defined networking (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SDN</a:t>
            </a:r>
            <a:r>
              <a:rPr lang="en-US" dirty="0"/>
              <a:t>)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IDS</a:t>
            </a:r>
            <a:r>
              <a:rPr lang="en-US" dirty="0"/>
              <a:t>/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i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</a:t>
            </a:r>
            <a:r>
              <a:rPr lang="en-US" dirty="0"/>
              <a:t> and </a:t>
            </a:r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Firmware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UEFI</a:t>
            </a:r>
            <a:endParaRPr lang="en-US" dirty="0"/>
          </a:p>
          <a:p>
            <a:pPr lvl="2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Unified Extensible Firmware Interface</a:t>
            </a:r>
            <a:endParaRPr lang="en-US" dirty="0"/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BIOS</a:t>
            </a:r>
          </a:p>
          <a:p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</a:t>
            </a:r>
            <a:r>
              <a:rPr lang="en-US" dirty="0"/>
              <a:t> </a:t>
            </a:r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 Software: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(Internal </a:t>
            </a:r>
            <a:r>
              <a:rPr lang="en-US" b="1" u="sng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Fx</a:t>
            </a:r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Components – Managers)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Drivers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Services</a:t>
            </a:r>
          </a:p>
          <a:p>
            <a:pPr lvl="1"/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</a:p>
          <a:p>
            <a:r>
              <a:rPr lang="en-US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Peripherals</a:t>
            </a:r>
          </a:p>
          <a:p>
            <a:pPr lvl="1"/>
            <a:r>
              <a:rPr lang="en-US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{follow Mfg. Recommendations/BP}</a:t>
            </a:r>
            <a:endParaRPr lang="en-US" dirty="0">
              <a:solidFill>
                <a:srgbClr val="FF3399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9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389</Words>
  <Application>Microsoft Office PowerPoint</Application>
  <PresentationFormat>On-screen Show (4:3)</PresentationFormat>
  <Paragraphs>78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CompTIA Security+ Study Guide (SY0-501)</vt:lpstr>
      <vt:lpstr>Chapter 2: Monitoring and Diagnosing Networks</vt:lpstr>
      <vt:lpstr>Frameworks, Best Practices, and Configuration Guides </vt:lpstr>
      <vt:lpstr>Payment Card Industry Data Security Standard (PCI-DSS)</vt:lpstr>
      <vt:lpstr>Open Web Application Security Project (OWASP)</vt:lpstr>
      <vt:lpstr>Secure Network Architecture Concepts</vt:lpstr>
      <vt:lpstr>Network Segmentation</vt:lpstr>
      <vt:lpstr>Honeypots and Honeynets</vt:lpstr>
      <vt:lpstr>Tunneling/VPN</vt:lpstr>
      <vt:lpstr>Security Devices</vt:lpstr>
      <vt:lpstr>Secure Systems Design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31</cp:revision>
  <dcterms:created xsi:type="dcterms:W3CDTF">2013-06-05T20:52:46Z</dcterms:created>
  <dcterms:modified xsi:type="dcterms:W3CDTF">2020-04-06T18:06:03Z</dcterms:modified>
</cp:coreProperties>
</file>