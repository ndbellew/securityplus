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8" r:id="rId2"/>
    <p:sldId id="259" r:id="rId3"/>
    <p:sldId id="272" r:id="rId4"/>
    <p:sldId id="273" r:id="rId5"/>
    <p:sldId id="274" r:id="rId6"/>
    <p:sldId id="275" r:id="rId7"/>
    <p:sldId id="276" r:id="rId8"/>
    <p:sldId id="277" r:id="rId9"/>
    <p:sldId id="260" r:id="rId10"/>
    <p:sldId id="261" r:id="rId11"/>
    <p:sldId id="262" r:id="rId12"/>
    <p:sldId id="263" r:id="rId13"/>
    <p:sldId id="264" r:id="rId14"/>
    <p:sldId id="265" r:id="rId15"/>
    <p:sldId id="267" r:id="rId16"/>
    <p:sldId id="268"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99"/>
    <a:srgbClr val="FF99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2" d="100"/>
          <a:sy n="82" d="100"/>
        </p:scale>
        <p:origin x="1474"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AC6700C-B151-4D75-BD2D-82E309B50341}" type="datetimeFigureOut">
              <a:rPr lang="en-US" smtClean="0"/>
              <a:t>3/2/2020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444C6F6-B83A-48FD-B770-03BA7551FE25}" type="slidenum">
              <a:rPr lang="en-US" smtClean="0"/>
              <a:t>‹#›</a:t>
            </a:fld>
            <a:endParaRPr lang="en-US"/>
          </a:p>
        </p:txBody>
      </p:sp>
    </p:spTree>
    <p:extLst>
      <p:ext uri="{BB962C8B-B14F-4D97-AF65-F5344CB8AC3E}">
        <p14:creationId xmlns:p14="http://schemas.microsoft.com/office/powerpoint/2010/main" val="34842547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charset="0"/>
              </a:defRPr>
            </a:lvl1pPr>
            <a:lvl2pPr marL="742950" indent="-285750">
              <a:defRPr sz="2400">
                <a:solidFill>
                  <a:schemeClr val="tx1"/>
                </a:solidFill>
                <a:latin typeface="Times New Roman" charset="0"/>
              </a:defRPr>
            </a:lvl2pPr>
            <a:lvl3pPr marL="1143000" indent="-228600">
              <a:defRPr sz="2400">
                <a:solidFill>
                  <a:schemeClr val="tx1"/>
                </a:solidFill>
                <a:latin typeface="Times New Roman" charset="0"/>
              </a:defRPr>
            </a:lvl3pPr>
            <a:lvl4pPr marL="1600200" indent="-228600">
              <a:defRPr sz="2400">
                <a:solidFill>
                  <a:schemeClr val="tx1"/>
                </a:solidFill>
                <a:latin typeface="Times New Roman" charset="0"/>
              </a:defRPr>
            </a:lvl4pPr>
            <a:lvl5pPr marL="2057400" indent="-228600">
              <a:defRPr sz="2400">
                <a:solidFill>
                  <a:schemeClr val="tx1"/>
                </a:solidFill>
                <a:latin typeface="Times New Roman" charset="0"/>
              </a:defRPr>
            </a:lvl5pPr>
            <a:lvl6pPr marL="2514600" indent="-228600" eaLnBrk="0" fontAlgn="base" hangingPunct="0">
              <a:spcBef>
                <a:spcPct val="0"/>
              </a:spcBef>
              <a:spcAft>
                <a:spcPct val="0"/>
              </a:spcAft>
              <a:defRPr sz="2400">
                <a:solidFill>
                  <a:schemeClr val="tx1"/>
                </a:solidFill>
                <a:latin typeface="Times New Roman" charset="0"/>
              </a:defRPr>
            </a:lvl6pPr>
            <a:lvl7pPr marL="2971800" indent="-228600" eaLnBrk="0" fontAlgn="base" hangingPunct="0">
              <a:spcBef>
                <a:spcPct val="0"/>
              </a:spcBef>
              <a:spcAft>
                <a:spcPct val="0"/>
              </a:spcAft>
              <a:defRPr sz="2400">
                <a:solidFill>
                  <a:schemeClr val="tx1"/>
                </a:solidFill>
                <a:latin typeface="Times New Roman" charset="0"/>
              </a:defRPr>
            </a:lvl7pPr>
            <a:lvl8pPr marL="3429000" indent="-228600" eaLnBrk="0" fontAlgn="base" hangingPunct="0">
              <a:spcBef>
                <a:spcPct val="0"/>
              </a:spcBef>
              <a:spcAft>
                <a:spcPct val="0"/>
              </a:spcAft>
              <a:defRPr sz="2400">
                <a:solidFill>
                  <a:schemeClr val="tx1"/>
                </a:solidFill>
                <a:latin typeface="Times New Roman" charset="0"/>
              </a:defRPr>
            </a:lvl8pPr>
            <a:lvl9pPr marL="3886200" indent="-228600" eaLnBrk="0" fontAlgn="base" hangingPunct="0">
              <a:spcBef>
                <a:spcPct val="0"/>
              </a:spcBef>
              <a:spcAft>
                <a:spcPct val="0"/>
              </a:spcAft>
              <a:defRPr sz="2400">
                <a:solidFill>
                  <a:schemeClr val="tx1"/>
                </a:solidFill>
                <a:latin typeface="Times New Roman" charset="0"/>
              </a:defRPr>
            </a:lvl9pPr>
          </a:lstStyle>
          <a:p>
            <a:fld id="{FDDD286B-A8FB-48F8-BBDF-387F783F3206}" type="slidenum">
              <a:rPr lang="en-US" altLang="en-US" sz="1200" smtClean="0"/>
              <a:pPr/>
              <a:t>1</a:t>
            </a:fld>
            <a:endParaRPr lang="en-US" altLang="en-US" sz="1200"/>
          </a:p>
        </p:txBody>
      </p:sp>
      <p:sp>
        <p:nvSpPr>
          <p:cNvPr id="17411" name="Rectangle 2"/>
          <p:cNvSpPr>
            <a:spLocks noGrp="1" noRot="1" noChangeAspect="1" noChangeArrowheads="1" noTextEdit="1"/>
          </p:cNvSpPr>
          <p:nvPr>
            <p:ph type="sldImg"/>
          </p:nvPr>
        </p:nvSpPr>
        <p:spPr>
          <a:ln/>
        </p:spPr>
      </p:sp>
      <p:sp>
        <p:nvSpPr>
          <p:cNvPr id="174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7363207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charset="0"/>
              </a:defRPr>
            </a:lvl1pPr>
            <a:lvl2pPr marL="742950" indent="-285750">
              <a:defRPr sz="2400">
                <a:solidFill>
                  <a:schemeClr val="tx1"/>
                </a:solidFill>
                <a:latin typeface="Times New Roman" charset="0"/>
              </a:defRPr>
            </a:lvl2pPr>
            <a:lvl3pPr marL="1143000" indent="-228600">
              <a:defRPr sz="2400">
                <a:solidFill>
                  <a:schemeClr val="tx1"/>
                </a:solidFill>
                <a:latin typeface="Times New Roman" charset="0"/>
              </a:defRPr>
            </a:lvl3pPr>
            <a:lvl4pPr marL="1600200" indent="-228600">
              <a:defRPr sz="2400">
                <a:solidFill>
                  <a:schemeClr val="tx1"/>
                </a:solidFill>
                <a:latin typeface="Times New Roman" charset="0"/>
              </a:defRPr>
            </a:lvl4pPr>
            <a:lvl5pPr marL="2057400" indent="-228600">
              <a:defRPr sz="2400">
                <a:solidFill>
                  <a:schemeClr val="tx1"/>
                </a:solidFill>
                <a:latin typeface="Times New Roman" charset="0"/>
              </a:defRPr>
            </a:lvl5pPr>
            <a:lvl6pPr marL="2514600" indent="-228600" eaLnBrk="0" fontAlgn="base" hangingPunct="0">
              <a:spcBef>
                <a:spcPct val="0"/>
              </a:spcBef>
              <a:spcAft>
                <a:spcPct val="0"/>
              </a:spcAft>
              <a:defRPr sz="2400">
                <a:solidFill>
                  <a:schemeClr val="tx1"/>
                </a:solidFill>
                <a:latin typeface="Times New Roman" charset="0"/>
              </a:defRPr>
            </a:lvl6pPr>
            <a:lvl7pPr marL="2971800" indent="-228600" eaLnBrk="0" fontAlgn="base" hangingPunct="0">
              <a:spcBef>
                <a:spcPct val="0"/>
              </a:spcBef>
              <a:spcAft>
                <a:spcPct val="0"/>
              </a:spcAft>
              <a:defRPr sz="2400">
                <a:solidFill>
                  <a:schemeClr val="tx1"/>
                </a:solidFill>
                <a:latin typeface="Times New Roman" charset="0"/>
              </a:defRPr>
            </a:lvl7pPr>
            <a:lvl8pPr marL="3429000" indent="-228600" eaLnBrk="0" fontAlgn="base" hangingPunct="0">
              <a:spcBef>
                <a:spcPct val="0"/>
              </a:spcBef>
              <a:spcAft>
                <a:spcPct val="0"/>
              </a:spcAft>
              <a:defRPr sz="2400">
                <a:solidFill>
                  <a:schemeClr val="tx1"/>
                </a:solidFill>
                <a:latin typeface="Times New Roman" charset="0"/>
              </a:defRPr>
            </a:lvl8pPr>
            <a:lvl9pPr marL="3886200" indent="-228600" eaLnBrk="0" fontAlgn="base" hangingPunct="0">
              <a:spcBef>
                <a:spcPct val="0"/>
              </a:spcBef>
              <a:spcAft>
                <a:spcPct val="0"/>
              </a:spcAft>
              <a:defRPr sz="2400">
                <a:solidFill>
                  <a:schemeClr val="tx1"/>
                </a:solidFill>
                <a:latin typeface="Times New Roman" charset="0"/>
              </a:defRPr>
            </a:lvl9pPr>
          </a:lstStyle>
          <a:p>
            <a:fld id="{0C00A2AE-3462-4D47-B7C1-47F12C881956}" type="slidenum">
              <a:rPr lang="en-US" altLang="en-US" sz="1200" smtClean="0"/>
              <a:pPr/>
              <a:t>2</a:t>
            </a:fld>
            <a:endParaRPr lang="en-US" altLang="en-US" sz="1200"/>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4601878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charset="0"/>
              </a:defRPr>
            </a:lvl1pPr>
            <a:lvl2pPr marL="742950" indent="-285750">
              <a:defRPr sz="2400">
                <a:solidFill>
                  <a:schemeClr val="tx1"/>
                </a:solidFill>
                <a:latin typeface="Times New Roman" charset="0"/>
              </a:defRPr>
            </a:lvl2pPr>
            <a:lvl3pPr marL="1143000" indent="-228600">
              <a:defRPr sz="2400">
                <a:solidFill>
                  <a:schemeClr val="tx1"/>
                </a:solidFill>
                <a:latin typeface="Times New Roman" charset="0"/>
              </a:defRPr>
            </a:lvl3pPr>
            <a:lvl4pPr marL="1600200" indent="-228600">
              <a:defRPr sz="2400">
                <a:solidFill>
                  <a:schemeClr val="tx1"/>
                </a:solidFill>
                <a:latin typeface="Times New Roman" charset="0"/>
              </a:defRPr>
            </a:lvl4pPr>
            <a:lvl5pPr marL="2057400" indent="-228600">
              <a:defRPr sz="2400">
                <a:solidFill>
                  <a:schemeClr val="tx1"/>
                </a:solidFill>
                <a:latin typeface="Times New Roman" charset="0"/>
              </a:defRPr>
            </a:lvl5pPr>
            <a:lvl6pPr marL="2514600" indent="-228600" eaLnBrk="0" fontAlgn="base" hangingPunct="0">
              <a:spcBef>
                <a:spcPct val="0"/>
              </a:spcBef>
              <a:spcAft>
                <a:spcPct val="0"/>
              </a:spcAft>
              <a:defRPr sz="2400">
                <a:solidFill>
                  <a:schemeClr val="tx1"/>
                </a:solidFill>
                <a:latin typeface="Times New Roman" charset="0"/>
              </a:defRPr>
            </a:lvl6pPr>
            <a:lvl7pPr marL="2971800" indent="-228600" eaLnBrk="0" fontAlgn="base" hangingPunct="0">
              <a:spcBef>
                <a:spcPct val="0"/>
              </a:spcBef>
              <a:spcAft>
                <a:spcPct val="0"/>
              </a:spcAft>
              <a:defRPr sz="2400">
                <a:solidFill>
                  <a:schemeClr val="tx1"/>
                </a:solidFill>
                <a:latin typeface="Times New Roman" charset="0"/>
              </a:defRPr>
            </a:lvl7pPr>
            <a:lvl8pPr marL="3429000" indent="-228600" eaLnBrk="0" fontAlgn="base" hangingPunct="0">
              <a:spcBef>
                <a:spcPct val="0"/>
              </a:spcBef>
              <a:spcAft>
                <a:spcPct val="0"/>
              </a:spcAft>
              <a:defRPr sz="2400">
                <a:solidFill>
                  <a:schemeClr val="tx1"/>
                </a:solidFill>
                <a:latin typeface="Times New Roman" charset="0"/>
              </a:defRPr>
            </a:lvl8pPr>
            <a:lvl9pPr marL="3886200" indent="-228600" eaLnBrk="0" fontAlgn="base" hangingPunct="0">
              <a:spcBef>
                <a:spcPct val="0"/>
              </a:spcBef>
              <a:spcAft>
                <a:spcPct val="0"/>
              </a:spcAft>
              <a:defRPr sz="2400">
                <a:solidFill>
                  <a:schemeClr val="tx1"/>
                </a:solidFill>
                <a:latin typeface="Times New Roman" charset="0"/>
              </a:defRPr>
            </a:lvl9pPr>
          </a:lstStyle>
          <a:p>
            <a:fld id="{257D5CBD-B9C5-43EC-9F79-2A14814A8B55}" type="slidenum">
              <a:rPr lang="en-US" altLang="en-US" sz="1200" smtClean="0"/>
              <a:pPr/>
              <a:t>9</a:t>
            </a:fld>
            <a:endParaRPr lang="en-US" altLang="en-US" sz="1200"/>
          </a:p>
        </p:txBody>
      </p:sp>
      <p:sp>
        <p:nvSpPr>
          <p:cNvPr id="19459" name="Rectangle 2"/>
          <p:cNvSpPr>
            <a:spLocks noGrp="1" noRot="1" noChangeAspect="1" noChangeArrowheads="1" noTextEdit="1"/>
          </p:cNvSpPr>
          <p:nvPr>
            <p:ph type="sldImg"/>
          </p:nvPr>
        </p:nvSpPr>
        <p:spPr>
          <a:ln/>
        </p:spPr>
      </p:sp>
      <p:sp>
        <p:nvSpPr>
          <p:cNvPr id="194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8384056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charset="0"/>
              </a:defRPr>
            </a:lvl1pPr>
            <a:lvl2pPr marL="742950" indent="-285750">
              <a:defRPr sz="2400">
                <a:solidFill>
                  <a:schemeClr val="tx1"/>
                </a:solidFill>
                <a:latin typeface="Times New Roman" charset="0"/>
              </a:defRPr>
            </a:lvl2pPr>
            <a:lvl3pPr marL="1143000" indent="-228600">
              <a:defRPr sz="2400">
                <a:solidFill>
                  <a:schemeClr val="tx1"/>
                </a:solidFill>
                <a:latin typeface="Times New Roman" charset="0"/>
              </a:defRPr>
            </a:lvl3pPr>
            <a:lvl4pPr marL="1600200" indent="-228600">
              <a:defRPr sz="2400">
                <a:solidFill>
                  <a:schemeClr val="tx1"/>
                </a:solidFill>
                <a:latin typeface="Times New Roman" charset="0"/>
              </a:defRPr>
            </a:lvl4pPr>
            <a:lvl5pPr marL="2057400" indent="-228600">
              <a:defRPr sz="2400">
                <a:solidFill>
                  <a:schemeClr val="tx1"/>
                </a:solidFill>
                <a:latin typeface="Times New Roman" charset="0"/>
              </a:defRPr>
            </a:lvl5pPr>
            <a:lvl6pPr marL="2514600" indent="-228600" eaLnBrk="0" fontAlgn="base" hangingPunct="0">
              <a:spcBef>
                <a:spcPct val="0"/>
              </a:spcBef>
              <a:spcAft>
                <a:spcPct val="0"/>
              </a:spcAft>
              <a:defRPr sz="2400">
                <a:solidFill>
                  <a:schemeClr val="tx1"/>
                </a:solidFill>
                <a:latin typeface="Times New Roman" charset="0"/>
              </a:defRPr>
            </a:lvl6pPr>
            <a:lvl7pPr marL="2971800" indent="-228600" eaLnBrk="0" fontAlgn="base" hangingPunct="0">
              <a:spcBef>
                <a:spcPct val="0"/>
              </a:spcBef>
              <a:spcAft>
                <a:spcPct val="0"/>
              </a:spcAft>
              <a:defRPr sz="2400">
                <a:solidFill>
                  <a:schemeClr val="tx1"/>
                </a:solidFill>
                <a:latin typeface="Times New Roman" charset="0"/>
              </a:defRPr>
            </a:lvl7pPr>
            <a:lvl8pPr marL="3429000" indent="-228600" eaLnBrk="0" fontAlgn="base" hangingPunct="0">
              <a:spcBef>
                <a:spcPct val="0"/>
              </a:spcBef>
              <a:spcAft>
                <a:spcPct val="0"/>
              </a:spcAft>
              <a:defRPr sz="2400">
                <a:solidFill>
                  <a:schemeClr val="tx1"/>
                </a:solidFill>
                <a:latin typeface="Times New Roman" charset="0"/>
              </a:defRPr>
            </a:lvl8pPr>
            <a:lvl9pPr marL="3886200" indent="-228600" eaLnBrk="0" fontAlgn="base" hangingPunct="0">
              <a:spcBef>
                <a:spcPct val="0"/>
              </a:spcBef>
              <a:spcAft>
                <a:spcPct val="0"/>
              </a:spcAft>
              <a:defRPr sz="2400">
                <a:solidFill>
                  <a:schemeClr val="tx1"/>
                </a:solidFill>
                <a:latin typeface="Times New Roman" charset="0"/>
              </a:defRPr>
            </a:lvl9pPr>
          </a:lstStyle>
          <a:p>
            <a:fld id="{B772EDCE-4C8F-431A-B34C-A7DA6BCA8EBC}" type="slidenum">
              <a:rPr lang="en-US" altLang="en-US" sz="1200" smtClean="0"/>
              <a:pPr/>
              <a:t>10</a:t>
            </a:fld>
            <a:endParaRPr lang="en-US" altLang="en-US" sz="120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5986347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charset="0"/>
              </a:defRPr>
            </a:lvl1pPr>
            <a:lvl2pPr marL="742950" indent="-285750">
              <a:defRPr sz="2400">
                <a:solidFill>
                  <a:schemeClr val="tx1"/>
                </a:solidFill>
                <a:latin typeface="Times New Roman" charset="0"/>
              </a:defRPr>
            </a:lvl2pPr>
            <a:lvl3pPr marL="1143000" indent="-228600">
              <a:defRPr sz="2400">
                <a:solidFill>
                  <a:schemeClr val="tx1"/>
                </a:solidFill>
                <a:latin typeface="Times New Roman" charset="0"/>
              </a:defRPr>
            </a:lvl3pPr>
            <a:lvl4pPr marL="1600200" indent="-228600">
              <a:defRPr sz="2400">
                <a:solidFill>
                  <a:schemeClr val="tx1"/>
                </a:solidFill>
                <a:latin typeface="Times New Roman" charset="0"/>
              </a:defRPr>
            </a:lvl4pPr>
            <a:lvl5pPr marL="2057400" indent="-228600">
              <a:defRPr sz="2400">
                <a:solidFill>
                  <a:schemeClr val="tx1"/>
                </a:solidFill>
                <a:latin typeface="Times New Roman" charset="0"/>
              </a:defRPr>
            </a:lvl5pPr>
            <a:lvl6pPr marL="2514600" indent="-228600" eaLnBrk="0" fontAlgn="base" hangingPunct="0">
              <a:spcBef>
                <a:spcPct val="0"/>
              </a:spcBef>
              <a:spcAft>
                <a:spcPct val="0"/>
              </a:spcAft>
              <a:defRPr sz="2400">
                <a:solidFill>
                  <a:schemeClr val="tx1"/>
                </a:solidFill>
                <a:latin typeface="Times New Roman" charset="0"/>
              </a:defRPr>
            </a:lvl6pPr>
            <a:lvl7pPr marL="2971800" indent="-228600" eaLnBrk="0" fontAlgn="base" hangingPunct="0">
              <a:spcBef>
                <a:spcPct val="0"/>
              </a:spcBef>
              <a:spcAft>
                <a:spcPct val="0"/>
              </a:spcAft>
              <a:defRPr sz="2400">
                <a:solidFill>
                  <a:schemeClr val="tx1"/>
                </a:solidFill>
                <a:latin typeface="Times New Roman" charset="0"/>
              </a:defRPr>
            </a:lvl7pPr>
            <a:lvl8pPr marL="3429000" indent="-228600" eaLnBrk="0" fontAlgn="base" hangingPunct="0">
              <a:spcBef>
                <a:spcPct val="0"/>
              </a:spcBef>
              <a:spcAft>
                <a:spcPct val="0"/>
              </a:spcAft>
              <a:defRPr sz="2400">
                <a:solidFill>
                  <a:schemeClr val="tx1"/>
                </a:solidFill>
                <a:latin typeface="Times New Roman" charset="0"/>
              </a:defRPr>
            </a:lvl8pPr>
            <a:lvl9pPr marL="3886200" indent="-228600" eaLnBrk="0" fontAlgn="base" hangingPunct="0">
              <a:spcBef>
                <a:spcPct val="0"/>
              </a:spcBef>
              <a:spcAft>
                <a:spcPct val="0"/>
              </a:spcAft>
              <a:defRPr sz="2400">
                <a:solidFill>
                  <a:schemeClr val="tx1"/>
                </a:solidFill>
                <a:latin typeface="Times New Roman" charset="0"/>
              </a:defRPr>
            </a:lvl9pPr>
          </a:lstStyle>
          <a:p>
            <a:fld id="{9C7A66E4-F9B2-497A-9EAD-893C68D1399B}" type="slidenum">
              <a:rPr lang="en-US" altLang="en-US" sz="1200" smtClean="0"/>
              <a:pPr/>
              <a:t>11</a:t>
            </a:fld>
            <a:endParaRPr lang="en-US" altLang="en-US" sz="1200"/>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1595256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charset="0"/>
              </a:defRPr>
            </a:lvl1pPr>
            <a:lvl2pPr marL="742950" indent="-285750">
              <a:defRPr sz="2400">
                <a:solidFill>
                  <a:schemeClr val="tx1"/>
                </a:solidFill>
                <a:latin typeface="Times New Roman" charset="0"/>
              </a:defRPr>
            </a:lvl2pPr>
            <a:lvl3pPr marL="1143000" indent="-228600">
              <a:defRPr sz="2400">
                <a:solidFill>
                  <a:schemeClr val="tx1"/>
                </a:solidFill>
                <a:latin typeface="Times New Roman" charset="0"/>
              </a:defRPr>
            </a:lvl3pPr>
            <a:lvl4pPr marL="1600200" indent="-228600">
              <a:defRPr sz="2400">
                <a:solidFill>
                  <a:schemeClr val="tx1"/>
                </a:solidFill>
                <a:latin typeface="Times New Roman" charset="0"/>
              </a:defRPr>
            </a:lvl4pPr>
            <a:lvl5pPr marL="2057400" indent="-228600">
              <a:defRPr sz="2400">
                <a:solidFill>
                  <a:schemeClr val="tx1"/>
                </a:solidFill>
                <a:latin typeface="Times New Roman" charset="0"/>
              </a:defRPr>
            </a:lvl5pPr>
            <a:lvl6pPr marL="2514600" indent="-228600" eaLnBrk="0" fontAlgn="base" hangingPunct="0">
              <a:spcBef>
                <a:spcPct val="0"/>
              </a:spcBef>
              <a:spcAft>
                <a:spcPct val="0"/>
              </a:spcAft>
              <a:defRPr sz="2400">
                <a:solidFill>
                  <a:schemeClr val="tx1"/>
                </a:solidFill>
                <a:latin typeface="Times New Roman" charset="0"/>
              </a:defRPr>
            </a:lvl6pPr>
            <a:lvl7pPr marL="2971800" indent="-228600" eaLnBrk="0" fontAlgn="base" hangingPunct="0">
              <a:spcBef>
                <a:spcPct val="0"/>
              </a:spcBef>
              <a:spcAft>
                <a:spcPct val="0"/>
              </a:spcAft>
              <a:defRPr sz="2400">
                <a:solidFill>
                  <a:schemeClr val="tx1"/>
                </a:solidFill>
                <a:latin typeface="Times New Roman" charset="0"/>
              </a:defRPr>
            </a:lvl7pPr>
            <a:lvl8pPr marL="3429000" indent="-228600" eaLnBrk="0" fontAlgn="base" hangingPunct="0">
              <a:spcBef>
                <a:spcPct val="0"/>
              </a:spcBef>
              <a:spcAft>
                <a:spcPct val="0"/>
              </a:spcAft>
              <a:defRPr sz="2400">
                <a:solidFill>
                  <a:schemeClr val="tx1"/>
                </a:solidFill>
                <a:latin typeface="Times New Roman" charset="0"/>
              </a:defRPr>
            </a:lvl8pPr>
            <a:lvl9pPr marL="3886200" indent="-228600" eaLnBrk="0" fontAlgn="base" hangingPunct="0">
              <a:spcBef>
                <a:spcPct val="0"/>
              </a:spcBef>
              <a:spcAft>
                <a:spcPct val="0"/>
              </a:spcAft>
              <a:defRPr sz="2400">
                <a:solidFill>
                  <a:schemeClr val="tx1"/>
                </a:solidFill>
                <a:latin typeface="Times New Roman" charset="0"/>
              </a:defRPr>
            </a:lvl9pPr>
          </a:lstStyle>
          <a:p>
            <a:fld id="{440D25BB-0362-4C6E-BF3A-735C9C2FB22B}" type="slidenum">
              <a:rPr lang="en-US" altLang="en-US" sz="1200" smtClean="0"/>
              <a:pPr/>
              <a:t>12</a:t>
            </a:fld>
            <a:endParaRPr lang="en-US" altLang="en-US" sz="1200"/>
          </a:p>
        </p:txBody>
      </p:sp>
      <p:sp>
        <p:nvSpPr>
          <p:cNvPr id="22531" name="Rectangle 2"/>
          <p:cNvSpPr>
            <a:spLocks noGrp="1" noRot="1" noChangeAspect="1" noChangeArrowheads="1" noTextEdit="1"/>
          </p:cNvSpPr>
          <p:nvPr>
            <p:ph type="sldImg"/>
          </p:nvPr>
        </p:nvSpPr>
        <p:spPr>
          <a:ln/>
        </p:spPr>
      </p:sp>
      <p:sp>
        <p:nvSpPr>
          <p:cNvPr id="225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3311927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charset="0"/>
              </a:defRPr>
            </a:lvl1pPr>
            <a:lvl2pPr marL="742950" indent="-285750">
              <a:defRPr sz="2400">
                <a:solidFill>
                  <a:schemeClr val="tx1"/>
                </a:solidFill>
                <a:latin typeface="Times New Roman" charset="0"/>
              </a:defRPr>
            </a:lvl2pPr>
            <a:lvl3pPr marL="1143000" indent="-228600">
              <a:defRPr sz="2400">
                <a:solidFill>
                  <a:schemeClr val="tx1"/>
                </a:solidFill>
                <a:latin typeface="Times New Roman" charset="0"/>
              </a:defRPr>
            </a:lvl3pPr>
            <a:lvl4pPr marL="1600200" indent="-228600">
              <a:defRPr sz="2400">
                <a:solidFill>
                  <a:schemeClr val="tx1"/>
                </a:solidFill>
                <a:latin typeface="Times New Roman" charset="0"/>
              </a:defRPr>
            </a:lvl4pPr>
            <a:lvl5pPr marL="2057400" indent="-228600">
              <a:defRPr sz="2400">
                <a:solidFill>
                  <a:schemeClr val="tx1"/>
                </a:solidFill>
                <a:latin typeface="Times New Roman" charset="0"/>
              </a:defRPr>
            </a:lvl5pPr>
            <a:lvl6pPr marL="2514600" indent="-228600" eaLnBrk="0" fontAlgn="base" hangingPunct="0">
              <a:spcBef>
                <a:spcPct val="0"/>
              </a:spcBef>
              <a:spcAft>
                <a:spcPct val="0"/>
              </a:spcAft>
              <a:defRPr sz="2400">
                <a:solidFill>
                  <a:schemeClr val="tx1"/>
                </a:solidFill>
                <a:latin typeface="Times New Roman" charset="0"/>
              </a:defRPr>
            </a:lvl6pPr>
            <a:lvl7pPr marL="2971800" indent="-228600" eaLnBrk="0" fontAlgn="base" hangingPunct="0">
              <a:spcBef>
                <a:spcPct val="0"/>
              </a:spcBef>
              <a:spcAft>
                <a:spcPct val="0"/>
              </a:spcAft>
              <a:defRPr sz="2400">
                <a:solidFill>
                  <a:schemeClr val="tx1"/>
                </a:solidFill>
                <a:latin typeface="Times New Roman" charset="0"/>
              </a:defRPr>
            </a:lvl7pPr>
            <a:lvl8pPr marL="3429000" indent="-228600" eaLnBrk="0" fontAlgn="base" hangingPunct="0">
              <a:spcBef>
                <a:spcPct val="0"/>
              </a:spcBef>
              <a:spcAft>
                <a:spcPct val="0"/>
              </a:spcAft>
              <a:defRPr sz="2400">
                <a:solidFill>
                  <a:schemeClr val="tx1"/>
                </a:solidFill>
                <a:latin typeface="Times New Roman" charset="0"/>
              </a:defRPr>
            </a:lvl8pPr>
            <a:lvl9pPr marL="3886200" indent="-228600" eaLnBrk="0" fontAlgn="base" hangingPunct="0">
              <a:spcBef>
                <a:spcPct val="0"/>
              </a:spcBef>
              <a:spcAft>
                <a:spcPct val="0"/>
              </a:spcAft>
              <a:defRPr sz="2400">
                <a:solidFill>
                  <a:schemeClr val="tx1"/>
                </a:solidFill>
                <a:latin typeface="Times New Roman" charset="0"/>
              </a:defRPr>
            </a:lvl9pPr>
          </a:lstStyle>
          <a:p>
            <a:fld id="{B9F7E64B-D487-4E84-A696-7CF9ACAB0EA9}" type="slidenum">
              <a:rPr lang="en-US" altLang="en-US" sz="1200" smtClean="0"/>
              <a:pPr/>
              <a:t>13</a:t>
            </a:fld>
            <a:endParaRPr lang="en-US" altLang="en-US" sz="1200"/>
          </a:p>
        </p:txBody>
      </p:sp>
      <p:sp>
        <p:nvSpPr>
          <p:cNvPr id="23555" name="Rectangle 2"/>
          <p:cNvSpPr>
            <a:spLocks noGrp="1" noRot="1" noChangeAspect="1" noChangeArrowheads="1" noTextEdit="1"/>
          </p:cNvSpPr>
          <p:nvPr>
            <p:ph type="sldImg"/>
          </p:nvPr>
        </p:nvSpPr>
        <p:spPr>
          <a:ln/>
        </p:spPr>
      </p:sp>
      <p:sp>
        <p:nvSpPr>
          <p:cNvPr id="235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6529135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charset="0"/>
              </a:defRPr>
            </a:lvl1pPr>
            <a:lvl2pPr marL="742950" indent="-285750">
              <a:defRPr sz="2400">
                <a:solidFill>
                  <a:schemeClr val="tx1"/>
                </a:solidFill>
                <a:latin typeface="Times New Roman" charset="0"/>
              </a:defRPr>
            </a:lvl2pPr>
            <a:lvl3pPr marL="1143000" indent="-228600">
              <a:defRPr sz="2400">
                <a:solidFill>
                  <a:schemeClr val="tx1"/>
                </a:solidFill>
                <a:latin typeface="Times New Roman" charset="0"/>
              </a:defRPr>
            </a:lvl3pPr>
            <a:lvl4pPr marL="1600200" indent="-228600">
              <a:defRPr sz="2400">
                <a:solidFill>
                  <a:schemeClr val="tx1"/>
                </a:solidFill>
                <a:latin typeface="Times New Roman" charset="0"/>
              </a:defRPr>
            </a:lvl4pPr>
            <a:lvl5pPr marL="2057400" indent="-228600">
              <a:defRPr sz="2400">
                <a:solidFill>
                  <a:schemeClr val="tx1"/>
                </a:solidFill>
                <a:latin typeface="Times New Roman" charset="0"/>
              </a:defRPr>
            </a:lvl5pPr>
            <a:lvl6pPr marL="2514600" indent="-228600" eaLnBrk="0" fontAlgn="base" hangingPunct="0">
              <a:spcBef>
                <a:spcPct val="0"/>
              </a:spcBef>
              <a:spcAft>
                <a:spcPct val="0"/>
              </a:spcAft>
              <a:defRPr sz="2400">
                <a:solidFill>
                  <a:schemeClr val="tx1"/>
                </a:solidFill>
                <a:latin typeface="Times New Roman" charset="0"/>
              </a:defRPr>
            </a:lvl6pPr>
            <a:lvl7pPr marL="2971800" indent="-228600" eaLnBrk="0" fontAlgn="base" hangingPunct="0">
              <a:spcBef>
                <a:spcPct val="0"/>
              </a:spcBef>
              <a:spcAft>
                <a:spcPct val="0"/>
              </a:spcAft>
              <a:defRPr sz="2400">
                <a:solidFill>
                  <a:schemeClr val="tx1"/>
                </a:solidFill>
                <a:latin typeface="Times New Roman" charset="0"/>
              </a:defRPr>
            </a:lvl7pPr>
            <a:lvl8pPr marL="3429000" indent="-228600" eaLnBrk="0" fontAlgn="base" hangingPunct="0">
              <a:spcBef>
                <a:spcPct val="0"/>
              </a:spcBef>
              <a:spcAft>
                <a:spcPct val="0"/>
              </a:spcAft>
              <a:defRPr sz="2400">
                <a:solidFill>
                  <a:schemeClr val="tx1"/>
                </a:solidFill>
                <a:latin typeface="Times New Roman" charset="0"/>
              </a:defRPr>
            </a:lvl8pPr>
            <a:lvl9pPr marL="3886200" indent="-228600" eaLnBrk="0" fontAlgn="base" hangingPunct="0">
              <a:spcBef>
                <a:spcPct val="0"/>
              </a:spcBef>
              <a:spcAft>
                <a:spcPct val="0"/>
              </a:spcAft>
              <a:defRPr sz="2400">
                <a:solidFill>
                  <a:schemeClr val="tx1"/>
                </a:solidFill>
                <a:latin typeface="Times New Roman" charset="0"/>
              </a:defRPr>
            </a:lvl9pPr>
          </a:lstStyle>
          <a:p>
            <a:fld id="{D79F958E-81A8-4924-8C9A-F008447FB8F5}" type="slidenum">
              <a:rPr lang="en-US" altLang="en-US" sz="1200" smtClean="0"/>
              <a:pPr/>
              <a:t>14</a:t>
            </a:fld>
            <a:endParaRPr lang="en-US" altLang="en-US" sz="1200"/>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090022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charset="0"/>
              </a:defRPr>
            </a:lvl1pPr>
            <a:lvl2pPr marL="742950" indent="-285750">
              <a:defRPr sz="2400">
                <a:solidFill>
                  <a:schemeClr val="tx1"/>
                </a:solidFill>
                <a:latin typeface="Times New Roman" charset="0"/>
              </a:defRPr>
            </a:lvl2pPr>
            <a:lvl3pPr marL="1143000" indent="-228600">
              <a:defRPr sz="2400">
                <a:solidFill>
                  <a:schemeClr val="tx1"/>
                </a:solidFill>
                <a:latin typeface="Times New Roman" charset="0"/>
              </a:defRPr>
            </a:lvl3pPr>
            <a:lvl4pPr marL="1600200" indent="-228600">
              <a:defRPr sz="2400">
                <a:solidFill>
                  <a:schemeClr val="tx1"/>
                </a:solidFill>
                <a:latin typeface="Times New Roman" charset="0"/>
              </a:defRPr>
            </a:lvl4pPr>
            <a:lvl5pPr marL="2057400" indent="-228600">
              <a:defRPr sz="2400">
                <a:solidFill>
                  <a:schemeClr val="tx1"/>
                </a:solidFill>
                <a:latin typeface="Times New Roman" charset="0"/>
              </a:defRPr>
            </a:lvl5pPr>
            <a:lvl6pPr marL="2514600" indent="-228600" eaLnBrk="0" fontAlgn="base" hangingPunct="0">
              <a:spcBef>
                <a:spcPct val="0"/>
              </a:spcBef>
              <a:spcAft>
                <a:spcPct val="0"/>
              </a:spcAft>
              <a:defRPr sz="2400">
                <a:solidFill>
                  <a:schemeClr val="tx1"/>
                </a:solidFill>
                <a:latin typeface="Times New Roman" charset="0"/>
              </a:defRPr>
            </a:lvl6pPr>
            <a:lvl7pPr marL="2971800" indent="-228600" eaLnBrk="0" fontAlgn="base" hangingPunct="0">
              <a:spcBef>
                <a:spcPct val="0"/>
              </a:spcBef>
              <a:spcAft>
                <a:spcPct val="0"/>
              </a:spcAft>
              <a:defRPr sz="2400">
                <a:solidFill>
                  <a:schemeClr val="tx1"/>
                </a:solidFill>
                <a:latin typeface="Times New Roman" charset="0"/>
              </a:defRPr>
            </a:lvl7pPr>
            <a:lvl8pPr marL="3429000" indent="-228600" eaLnBrk="0" fontAlgn="base" hangingPunct="0">
              <a:spcBef>
                <a:spcPct val="0"/>
              </a:spcBef>
              <a:spcAft>
                <a:spcPct val="0"/>
              </a:spcAft>
              <a:defRPr sz="2400">
                <a:solidFill>
                  <a:schemeClr val="tx1"/>
                </a:solidFill>
                <a:latin typeface="Times New Roman" charset="0"/>
              </a:defRPr>
            </a:lvl8pPr>
            <a:lvl9pPr marL="3886200" indent="-228600" eaLnBrk="0" fontAlgn="base" hangingPunct="0">
              <a:spcBef>
                <a:spcPct val="0"/>
              </a:spcBef>
              <a:spcAft>
                <a:spcPct val="0"/>
              </a:spcAft>
              <a:defRPr sz="2400">
                <a:solidFill>
                  <a:schemeClr val="tx1"/>
                </a:solidFill>
                <a:latin typeface="Times New Roman" charset="0"/>
              </a:defRPr>
            </a:lvl9pPr>
          </a:lstStyle>
          <a:p>
            <a:fld id="{CDE0C98E-54ED-42BE-BC29-C1F706C85395}" type="slidenum">
              <a:rPr lang="en-US" altLang="en-US" sz="1200" smtClean="0"/>
              <a:pPr/>
              <a:t>15</a:t>
            </a:fld>
            <a:endParaRPr lang="en-US" altLang="en-US" sz="1200"/>
          </a:p>
        </p:txBody>
      </p:sp>
      <p:sp>
        <p:nvSpPr>
          <p:cNvPr id="26627" name="Rectangle 2"/>
          <p:cNvSpPr>
            <a:spLocks noGrp="1" noRot="1" noChangeAspect="1" noChangeArrowheads="1" noTextEdit="1"/>
          </p:cNvSpPr>
          <p:nvPr>
            <p:ph type="sldImg"/>
          </p:nvPr>
        </p:nvSpPr>
        <p:spPr>
          <a:ln/>
        </p:spPr>
      </p:sp>
      <p:sp>
        <p:nvSpPr>
          <p:cNvPr id="266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4767550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p:cNvSpPr>
            <a:spLocks noGrp="1" noRot="1" noChangeAspect="1" noTextEdit="1"/>
          </p:cNvSpPr>
          <p:nvPr>
            <p:ph type="sldImg"/>
          </p:nvPr>
        </p:nvSpPr>
        <p:spPr>
          <a:ln/>
        </p:spPr>
      </p:sp>
      <p:sp>
        <p:nvSpPr>
          <p:cNvPr id="2765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2765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charset="0"/>
              </a:defRPr>
            </a:lvl1pPr>
            <a:lvl2pPr marL="742950" indent="-285750">
              <a:defRPr sz="2400">
                <a:solidFill>
                  <a:schemeClr val="tx1"/>
                </a:solidFill>
                <a:latin typeface="Times New Roman" charset="0"/>
              </a:defRPr>
            </a:lvl2pPr>
            <a:lvl3pPr marL="1143000" indent="-228600">
              <a:defRPr sz="2400">
                <a:solidFill>
                  <a:schemeClr val="tx1"/>
                </a:solidFill>
                <a:latin typeface="Times New Roman" charset="0"/>
              </a:defRPr>
            </a:lvl3pPr>
            <a:lvl4pPr marL="1600200" indent="-228600">
              <a:defRPr sz="2400">
                <a:solidFill>
                  <a:schemeClr val="tx1"/>
                </a:solidFill>
                <a:latin typeface="Times New Roman" charset="0"/>
              </a:defRPr>
            </a:lvl4pPr>
            <a:lvl5pPr marL="2057400" indent="-228600">
              <a:defRPr sz="2400">
                <a:solidFill>
                  <a:schemeClr val="tx1"/>
                </a:solidFill>
                <a:latin typeface="Times New Roman" charset="0"/>
              </a:defRPr>
            </a:lvl5pPr>
            <a:lvl6pPr marL="2514600" indent="-228600" eaLnBrk="0" fontAlgn="base" hangingPunct="0">
              <a:spcBef>
                <a:spcPct val="0"/>
              </a:spcBef>
              <a:spcAft>
                <a:spcPct val="0"/>
              </a:spcAft>
              <a:defRPr sz="2400">
                <a:solidFill>
                  <a:schemeClr val="tx1"/>
                </a:solidFill>
                <a:latin typeface="Times New Roman" charset="0"/>
              </a:defRPr>
            </a:lvl6pPr>
            <a:lvl7pPr marL="2971800" indent="-228600" eaLnBrk="0" fontAlgn="base" hangingPunct="0">
              <a:spcBef>
                <a:spcPct val="0"/>
              </a:spcBef>
              <a:spcAft>
                <a:spcPct val="0"/>
              </a:spcAft>
              <a:defRPr sz="2400">
                <a:solidFill>
                  <a:schemeClr val="tx1"/>
                </a:solidFill>
                <a:latin typeface="Times New Roman" charset="0"/>
              </a:defRPr>
            </a:lvl7pPr>
            <a:lvl8pPr marL="3429000" indent="-228600" eaLnBrk="0" fontAlgn="base" hangingPunct="0">
              <a:spcBef>
                <a:spcPct val="0"/>
              </a:spcBef>
              <a:spcAft>
                <a:spcPct val="0"/>
              </a:spcAft>
              <a:defRPr sz="2400">
                <a:solidFill>
                  <a:schemeClr val="tx1"/>
                </a:solidFill>
                <a:latin typeface="Times New Roman" charset="0"/>
              </a:defRPr>
            </a:lvl8pPr>
            <a:lvl9pPr marL="3886200" indent="-228600" eaLnBrk="0" fontAlgn="base" hangingPunct="0">
              <a:spcBef>
                <a:spcPct val="0"/>
              </a:spcBef>
              <a:spcAft>
                <a:spcPct val="0"/>
              </a:spcAft>
              <a:defRPr sz="2400">
                <a:solidFill>
                  <a:schemeClr val="tx1"/>
                </a:solidFill>
                <a:latin typeface="Times New Roman" charset="0"/>
              </a:defRPr>
            </a:lvl9pPr>
          </a:lstStyle>
          <a:p>
            <a:fld id="{8891A651-B7B9-4028-8DC0-E2C4BE593E17}" type="slidenum">
              <a:rPr lang="en-US" altLang="en-US" sz="1200" smtClean="0"/>
              <a:pPr/>
              <a:t>16</a:t>
            </a:fld>
            <a:endParaRPr lang="en-US" altLang="en-US" sz="1200"/>
          </a:p>
        </p:txBody>
      </p:sp>
    </p:spTree>
    <p:extLst>
      <p:ext uri="{BB962C8B-B14F-4D97-AF65-F5344CB8AC3E}">
        <p14:creationId xmlns:p14="http://schemas.microsoft.com/office/powerpoint/2010/main" val="266800981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C00000"/>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2589D81E-C9EA-4359-B926-F4C2977B0011}" type="datetimeFigureOut">
              <a:rPr lang="en-US" smtClean="0"/>
              <a:t>3/2/2020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B61A4B1-F47F-41B7-8B82-B81D0023B6F2}" type="slidenum">
              <a:rPr lang="en-US" smtClean="0"/>
              <a:t>‹#›</a:t>
            </a:fld>
            <a:endParaRPr lang="en-US"/>
          </a:p>
        </p:txBody>
      </p:sp>
      <p:sp>
        <p:nvSpPr>
          <p:cNvPr id="7" name="Rectangle 5"/>
          <p:cNvSpPr>
            <a:spLocks noChangeArrowheads="1"/>
          </p:cNvSpPr>
          <p:nvPr userDrawn="1"/>
        </p:nvSpPr>
        <p:spPr bwMode="auto">
          <a:xfrm>
            <a:off x="-9525" y="0"/>
            <a:ext cx="9144000" cy="685800"/>
          </a:xfrm>
          <a:prstGeom prst="rect">
            <a:avLst/>
          </a:prstGeom>
          <a:solidFill>
            <a:schemeClr val="tx1"/>
          </a:solidFill>
          <a:ln w="9525">
            <a:solidFill>
              <a:schemeClr val="tx1"/>
            </a:solidFill>
            <a:miter lim="800000"/>
            <a:headEnd/>
            <a:tailEnd/>
          </a:ln>
        </p:spPr>
        <p:txBody>
          <a:bodyPr wrap="none" anchor="ctr"/>
          <a:lstStyle/>
          <a:p>
            <a:endParaRPr lang="en-US"/>
          </a:p>
        </p:txBody>
      </p:sp>
      <p:pic>
        <p:nvPicPr>
          <p:cNvPr id="8" name="Picture 3" descr="T:\Sybex\Admin\Instructor Materials\Instructor Material Instructions\logoGraphics\sybex_awb_ko_50.tiff"/>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086600" y="65088"/>
            <a:ext cx="1676400" cy="617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10"/>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588" y="0"/>
            <a:ext cx="1820863" cy="674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687386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286000" y="274638"/>
            <a:ext cx="6400800" cy="1143000"/>
          </a:xfrm>
        </p:spPr>
        <p:txBody>
          <a:bodyPr/>
          <a:lstStyle/>
          <a:p>
            <a:r>
              <a:rPr lang="en-US" dirty="0"/>
              <a:t>Click to edit Master title style</a:t>
            </a:r>
          </a:p>
        </p:txBody>
      </p:sp>
      <p:sp>
        <p:nvSpPr>
          <p:cNvPr id="3" name="Content Placeholder 2"/>
          <p:cNvSpPr>
            <a:spLocks noGrp="1"/>
          </p:cNvSpPr>
          <p:nvPr>
            <p:ph idx="1"/>
          </p:nvPr>
        </p:nvSpPr>
        <p:spPr>
          <a:xfrm>
            <a:off x="2286000" y="1600200"/>
            <a:ext cx="6400800" cy="452596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4"/>
          <p:cNvSpPr>
            <a:spLocks noChangeArrowheads="1"/>
          </p:cNvSpPr>
          <p:nvPr userDrawn="1"/>
        </p:nvSpPr>
        <p:spPr bwMode="auto">
          <a:xfrm>
            <a:off x="3175" y="0"/>
            <a:ext cx="2057400" cy="6858000"/>
          </a:xfrm>
          <a:prstGeom prst="rect">
            <a:avLst/>
          </a:prstGeom>
          <a:solidFill>
            <a:srgbClr val="CC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8" name="Picture 10"/>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6094491"/>
            <a:ext cx="2060575" cy="7635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Rectangle 8"/>
          <p:cNvSpPr/>
          <p:nvPr userDrawn="1"/>
        </p:nvSpPr>
        <p:spPr>
          <a:xfrm>
            <a:off x="3175" y="0"/>
            <a:ext cx="2057399" cy="838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3" descr="T:\Sybex\Admin\Instructor Materials\Instructor Material Instructions\logoGraphics\sybex_awb_ko_50.tiff"/>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275923" y="166116"/>
            <a:ext cx="1371601" cy="5059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1321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285999" y="4406900"/>
            <a:ext cx="6208713"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2285999" y="2906713"/>
            <a:ext cx="6208713"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589D81E-C9EA-4359-B926-F4C2977B0011}" type="datetimeFigureOut">
              <a:rPr lang="en-US" smtClean="0"/>
              <a:t>3/2/2020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B61A4B1-F47F-41B7-8B82-B81D0023B6F2}" type="slidenum">
              <a:rPr lang="en-US" smtClean="0"/>
              <a:t>‹#›</a:t>
            </a:fld>
            <a:endParaRPr lang="en-US"/>
          </a:p>
        </p:txBody>
      </p:sp>
      <p:sp>
        <p:nvSpPr>
          <p:cNvPr id="7" name="Rectangle 4"/>
          <p:cNvSpPr>
            <a:spLocks noChangeArrowheads="1"/>
          </p:cNvSpPr>
          <p:nvPr userDrawn="1"/>
        </p:nvSpPr>
        <p:spPr bwMode="auto">
          <a:xfrm>
            <a:off x="3175" y="0"/>
            <a:ext cx="2057400" cy="6858000"/>
          </a:xfrm>
          <a:prstGeom prst="rect">
            <a:avLst/>
          </a:prstGeom>
          <a:solidFill>
            <a:srgbClr val="CC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8" name="Picture 10"/>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6094491"/>
            <a:ext cx="2060575" cy="7635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Rectangle 8"/>
          <p:cNvSpPr/>
          <p:nvPr userDrawn="1"/>
        </p:nvSpPr>
        <p:spPr>
          <a:xfrm>
            <a:off x="3175" y="0"/>
            <a:ext cx="2057399" cy="838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3" descr="T:\Sybex\Admin\Instructor Materials\Instructor Material Instructions\logoGraphics\sybex_awb_ko_50.tiff"/>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275923" y="166116"/>
            <a:ext cx="1371601" cy="5059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76896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2286000" y="274638"/>
            <a:ext cx="6400800" cy="1143000"/>
          </a:xfrm>
        </p:spPr>
        <p:txBody>
          <a:bodyPr/>
          <a:lstStyle/>
          <a:p>
            <a:r>
              <a:rPr lang="en-US"/>
              <a:t>Click to edit Master title style</a:t>
            </a:r>
          </a:p>
        </p:txBody>
      </p:sp>
      <p:sp>
        <p:nvSpPr>
          <p:cNvPr id="3" name="Content Placeholder 2"/>
          <p:cNvSpPr>
            <a:spLocks noGrp="1"/>
          </p:cNvSpPr>
          <p:nvPr>
            <p:ph sz="half" idx="1"/>
          </p:nvPr>
        </p:nvSpPr>
        <p:spPr>
          <a:xfrm>
            <a:off x="2362200" y="1586816"/>
            <a:ext cx="2895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486400" y="1600200"/>
            <a:ext cx="32004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589D81E-C9EA-4359-B926-F4C2977B0011}" type="datetimeFigureOut">
              <a:rPr lang="en-US" smtClean="0"/>
              <a:t>3/2/2020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B61A4B1-F47F-41B7-8B82-B81D0023B6F2}" type="slidenum">
              <a:rPr lang="en-US" smtClean="0"/>
              <a:t>‹#›</a:t>
            </a:fld>
            <a:endParaRPr lang="en-US"/>
          </a:p>
        </p:txBody>
      </p:sp>
      <p:sp>
        <p:nvSpPr>
          <p:cNvPr id="8" name="Rectangle 4"/>
          <p:cNvSpPr>
            <a:spLocks noChangeArrowheads="1"/>
          </p:cNvSpPr>
          <p:nvPr userDrawn="1"/>
        </p:nvSpPr>
        <p:spPr bwMode="auto">
          <a:xfrm>
            <a:off x="3175" y="0"/>
            <a:ext cx="2057400" cy="6858000"/>
          </a:xfrm>
          <a:prstGeom prst="rect">
            <a:avLst/>
          </a:prstGeom>
          <a:solidFill>
            <a:srgbClr val="CC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9" name="Picture 10"/>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6094491"/>
            <a:ext cx="2060575" cy="7635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Rectangle 9"/>
          <p:cNvSpPr/>
          <p:nvPr userDrawn="1"/>
        </p:nvSpPr>
        <p:spPr>
          <a:xfrm>
            <a:off x="3175" y="0"/>
            <a:ext cx="2057399" cy="838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3" descr="T:\Sybex\Admin\Instructor Materials\Instructor Material Instructions\logoGraphics\sybex_awb_ko_50.tiff"/>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275923" y="166116"/>
            <a:ext cx="1371601" cy="5059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89252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286000" y="274638"/>
            <a:ext cx="6400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2286000" y="1535113"/>
            <a:ext cx="289560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286000" y="2209800"/>
            <a:ext cx="2897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410200" y="1535113"/>
            <a:ext cx="327660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410200" y="2174874"/>
            <a:ext cx="3276600" cy="399732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589D81E-C9EA-4359-B926-F4C2977B0011}" type="datetimeFigureOut">
              <a:rPr lang="en-US" smtClean="0"/>
              <a:t>3/2/2020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B61A4B1-F47F-41B7-8B82-B81D0023B6F2}" type="slidenum">
              <a:rPr lang="en-US" smtClean="0"/>
              <a:t>‹#›</a:t>
            </a:fld>
            <a:endParaRPr lang="en-US"/>
          </a:p>
        </p:txBody>
      </p:sp>
      <p:sp>
        <p:nvSpPr>
          <p:cNvPr id="10" name="Rectangle 4"/>
          <p:cNvSpPr>
            <a:spLocks noChangeArrowheads="1"/>
          </p:cNvSpPr>
          <p:nvPr userDrawn="1"/>
        </p:nvSpPr>
        <p:spPr bwMode="auto">
          <a:xfrm>
            <a:off x="3175" y="0"/>
            <a:ext cx="2057400" cy="6858000"/>
          </a:xfrm>
          <a:prstGeom prst="rect">
            <a:avLst/>
          </a:prstGeom>
          <a:solidFill>
            <a:srgbClr val="CC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11" name="Picture 10"/>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6094491"/>
            <a:ext cx="2060575" cy="7635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Rectangle 11"/>
          <p:cNvSpPr/>
          <p:nvPr userDrawn="1"/>
        </p:nvSpPr>
        <p:spPr>
          <a:xfrm>
            <a:off x="3175" y="0"/>
            <a:ext cx="2057399" cy="838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3" descr="T:\Sybex\Admin\Instructor Materials\Instructor Material Instructions\logoGraphics\sybex_awb_ko_50.tiff"/>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275923" y="166116"/>
            <a:ext cx="1371601" cy="5059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56796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2286000" y="274638"/>
            <a:ext cx="6400800" cy="1143000"/>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2589D81E-C9EA-4359-B926-F4C2977B0011}" type="datetimeFigureOut">
              <a:rPr lang="en-US" smtClean="0"/>
              <a:t>3/2/2020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B61A4B1-F47F-41B7-8B82-B81D0023B6F2}" type="slidenum">
              <a:rPr lang="en-US" smtClean="0"/>
              <a:t>‹#›</a:t>
            </a:fld>
            <a:endParaRPr lang="en-US"/>
          </a:p>
        </p:txBody>
      </p:sp>
      <p:sp>
        <p:nvSpPr>
          <p:cNvPr id="6" name="Rectangle 4"/>
          <p:cNvSpPr>
            <a:spLocks noChangeArrowheads="1"/>
          </p:cNvSpPr>
          <p:nvPr userDrawn="1"/>
        </p:nvSpPr>
        <p:spPr bwMode="auto">
          <a:xfrm>
            <a:off x="3175" y="0"/>
            <a:ext cx="2057400" cy="6858000"/>
          </a:xfrm>
          <a:prstGeom prst="rect">
            <a:avLst/>
          </a:prstGeom>
          <a:solidFill>
            <a:srgbClr val="CC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7" name="Picture 10"/>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6094491"/>
            <a:ext cx="2060575" cy="7635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ectangle 7"/>
          <p:cNvSpPr/>
          <p:nvPr userDrawn="1"/>
        </p:nvSpPr>
        <p:spPr>
          <a:xfrm>
            <a:off x="3175" y="0"/>
            <a:ext cx="2057399" cy="838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3" descr="T:\Sybex\Admin\Instructor Materials\Instructor Material Instructions\logoGraphics\sybex_awb_ko_50.tiff"/>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275923" y="166116"/>
            <a:ext cx="1371601" cy="5059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73820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589D81E-C9EA-4359-B926-F4C2977B0011}" type="datetimeFigureOut">
              <a:rPr lang="en-US" smtClean="0"/>
              <a:t>3/2/2020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B61A4B1-F47F-41B7-8B82-B81D0023B6F2}" type="slidenum">
              <a:rPr lang="en-US" smtClean="0"/>
              <a:t>‹#›</a:t>
            </a:fld>
            <a:endParaRPr lang="en-US"/>
          </a:p>
        </p:txBody>
      </p:sp>
      <p:sp>
        <p:nvSpPr>
          <p:cNvPr id="5" name="Rectangle 4"/>
          <p:cNvSpPr>
            <a:spLocks noChangeArrowheads="1"/>
          </p:cNvSpPr>
          <p:nvPr userDrawn="1"/>
        </p:nvSpPr>
        <p:spPr bwMode="auto">
          <a:xfrm>
            <a:off x="3175" y="0"/>
            <a:ext cx="2057400" cy="6858000"/>
          </a:xfrm>
          <a:prstGeom prst="rect">
            <a:avLst/>
          </a:prstGeom>
          <a:solidFill>
            <a:srgbClr val="CC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6" name="Picture 10"/>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6094491"/>
            <a:ext cx="2060575" cy="7635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Rectangle 6"/>
          <p:cNvSpPr/>
          <p:nvPr userDrawn="1"/>
        </p:nvSpPr>
        <p:spPr>
          <a:xfrm>
            <a:off x="3175" y="0"/>
            <a:ext cx="2057399" cy="838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3" descr="T:\Sybex\Admin\Instructor Materials\Instructor Material Instructions\logoGraphics\sybex_awb_ko_50.tiff"/>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275923" y="166116"/>
            <a:ext cx="1371601" cy="5059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86633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09800" y="273050"/>
            <a:ext cx="2209800"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495800" y="273050"/>
            <a:ext cx="419100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209800" y="1430860"/>
            <a:ext cx="2209800"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589D81E-C9EA-4359-B926-F4C2977B0011}" type="datetimeFigureOut">
              <a:rPr lang="en-US" smtClean="0"/>
              <a:t>3/2/2020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B61A4B1-F47F-41B7-8B82-B81D0023B6F2}" type="slidenum">
              <a:rPr lang="en-US" smtClean="0"/>
              <a:t>‹#›</a:t>
            </a:fld>
            <a:endParaRPr lang="en-US"/>
          </a:p>
        </p:txBody>
      </p:sp>
      <p:sp>
        <p:nvSpPr>
          <p:cNvPr id="8" name="Rectangle 4"/>
          <p:cNvSpPr>
            <a:spLocks noChangeArrowheads="1"/>
          </p:cNvSpPr>
          <p:nvPr userDrawn="1"/>
        </p:nvSpPr>
        <p:spPr bwMode="auto">
          <a:xfrm>
            <a:off x="3175" y="0"/>
            <a:ext cx="2057400" cy="6858000"/>
          </a:xfrm>
          <a:prstGeom prst="rect">
            <a:avLst/>
          </a:prstGeom>
          <a:solidFill>
            <a:srgbClr val="CC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9" name="Picture 10"/>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6094491"/>
            <a:ext cx="2060575" cy="7635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Rectangle 9"/>
          <p:cNvSpPr/>
          <p:nvPr userDrawn="1"/>
        </p:nvSpPr>
        <p:spPr>
          <a:xfrm>
            <a:off x="3175" y="0"/>
            <a:ext cx="2057399" cy="838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3" descr="T:\Sybex\Admin\Instructor Materials\Instructor Material Instructions\logoGraphics\sybex_awb_ko_50.tiff"/>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275923" y="166116"/>
            <a:ext cx="1371601" cy="5059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4794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67000"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667000" y="609600"/>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667000"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589D81E-C9EA-4359-B926-F4C2977B0011}" type="datetimeFigureOut">
              <a:rPr lang="en-US" smtClean="0"/>
              <a:t>3/2/2020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B61A4B1-F47F-41B7-8B82-B81D0023B6F2}" type="slidenum">
              <a:rPr lang="en-US" smtClean="0"/>
              <a:t>‹#›</a:t>
            </a:fld>
            <a:endParaRPr lang="en-US"/>
          </a:p>
        </p:txBody>
      </p:sp>
      <p:sp>
        <p:nvSpPr>
          <p:cNvPr id="8" name="Rectangle 4"/>
          <p:cNvSpPr>
            <a:spLocks noChangeArrowheads="1"/>
          </p:cNvSpPr>
          <p:nvPr userDrawn="1"/>
        </p:nvSpPr>
        <p:spPr bwMode="auto">
          <a:xfrm>
            <a:off x="3175" y="0"/>
            <a:ext cx="2057400" cy="6858000"/>
          </a:xfrm>
          <a:prstGeom prst="rect">
            <a:avLst/>
          </a:prstGeom>
          <a:solidFill>
            <a:srgbClr val="CC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9" name="Picture 10"/>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6094491"/>
            <a:ext cx="2060575" cy="7635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Rectangle 9"/>
          <p:cNvSpPr/>
          <p:nvPr userDrawn="1"/>
        </p:nvSpPr>
        <p:spPr>
          <a:xfrm>
            <a:off x="3175" y="0"/>
            <a:ext cx="2057399" cy="838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3" descr="T:\Sybex\Admin\Instructor Materials\Instructor Material Instructions\logoGraphics\sybex_awb_ko_50.tiff"/>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275923" y="166116"/>
            <a:ext cx="1371601" cy="5059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30540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589D81E-C9EA-4359-B926-F4C2977B0011}" type="datetimeFigureOut">
              <a:rPr lang="en-US" smtClean="0"/>
              <a:t>3/2/2020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B61A4B1-F47F-41B7-8B82-B81D0023B6F2}" type="slidenum">
              <a:rPr lang="en-US" smtClean="0"/>
              <a:t>‹#›</a:t>
            </a:fld>
            <a:endParaRPr lang="en-US"/>
          </a:p>
        </p:txBody>
      </p:sp>
    </p:spTree>
    <p:extLst>
      <p:ext uri="{BB962C8B-B14F-4D97-AF65-F5344CB8AC3E}">
        <p14:creationId xmlns:p14="http://schemas.microsoft.com/office/powerpoint/2010/main" val="34595059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589D81E-C9EA-4359-B926-F4C2977B0011}" type="datetimeFigureOut">
              <a:rPr lang="en-US" smtClean="0"/>
              <a:t>3/2/2020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B61A4B1-F47F-41B7-8B82-B81D0023B6F2}" type="slidenum">
              <a:rPr lang="en-US" smtClean="0"/>
              <a:t>‹#›</a:t>
            </a:fld>
            <a:endParaRPr lang="en-US"/>
          </a:p>
        </p:txBody>
      </p:sp>
    </p:spTree>
    <p:extLst>
      <p:ext uri="{BB962C8B-B14F-4D97-AF65-F5344CB8AC3E}">
        <p14:creationId xmlns:p14="http://schemas.microsoft.com/office/powerpoint/2010/main" val="6478616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89D81E-C9EA-4359-B926-F4C2977B0011}" type="datetimeFigureOut">
              <a:rPr lang="en-US" smtClean="0"/>
              <a:t>3/2/2020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61A4B1-F47F-41B7-8B82-B81D0023B6F2}" type="slidenum">
              <a:rPr lang="en-US" smtClean="0"/>
              <a:t>‹#›</a:t>
            </a:fld>
            <a:endParaRPr lang="en-US"/>
          </a:p>
        </p:txBody>
      </p:sp>
    </p:spTree>
    <p:extLst>
      <p:ext uri="{BB962C8B-B14F-4D97-AF65-F5344CB8AC3E}">
        <p14:creationId xmlns:p14="http://schemas.microsoft.com/office/powerpoint/2010/main" val="11145243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p:txBody>
          <a:bodyPr/>
          <a:lstStyle/>
          <a:p>
            <a:r>
              <a:rPr lang="en-US" altLang="en-US" b="1" dirty="0"/>
              <a:t>CompTIA Security+ Study Guide (SY0-501)</a:t>
            </a:r>
          </a:p>
        </p:txBody>
      </p:sp>
      <p:sp>
        <p:nvSpPr>
          <p:cNvPr id="2051" name="Rectangle 3"/>
          <p:cNvSpPr>
            <a:spLocks noGrp="1" noChangeArrowheads="1"/>
          </p:cNvSpPr>
          <p:nvPr>
            <p:ph type="subTitle" idx="1"/>
          </p:nvPr>
        </p:nvSpPr>
        <p:spPr>
          <a:noFill/>
        </p:spPr>
        <p:txBody>
          <a:bodyPr>
            <a:normAutofit/>
          </a:bodyPr>
          <a:lstStyle/>
          <a:p>
            <a:r>
              <a:rPr lang="en-US" altLang="en-US" dirty="0"/>
              <a:t>Chapter 4:</a:t>
            </a:r>
          </a:p>
          <a:p>
            <a:r>
              <a:rPr lang="en-US" altLang="en-US" dirty="0"/>
              <a:t>Identity and Access Management</a:t>
            </a:r>
          </a:p>
        </p:txBody>
      </p:sp>
    </p:spTree>
    <p:extLst>
      <p:ext uri="{BB962C8B-B14F-4D97-AF65-F5344CB8AC3E}">
        <p14:creationId xmlns:p14="http://schemas.microsoft.com/office/powerpoint/2010/main" val="5783009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2057400" y="152400"/>
            <a:ext cx="7086600" cy="1828800"/>
          </a:xfrm>
        </p:spPr>
        <p:txBody>
          <a:bodyPr>
            <a:normAutofit/>
          </a:bodyPr>
          <a:lstStyle/>
          <a:p>
            <a:r>
              <a:rPr lang="en-US" altLang="en-US" sz="4000" dirty="0"/>
              <a:t>Chapter 4: Identity and Access Management</a:t>
            </a:r>
          </a:p>
        </p:txBody>
      </p:sp>
      <p:sp>
        <p:nvSpPr>
          <p:cNvPr id="3075" name="Content Placeholder 3"/>
          <p:cNvSpPr>
            <a:spLocks noGrp="1"/>
          </p:cNvSpPr>
          <p:nvPr>
            <p:ph idx="1"/>
          </p:nvPr>
        </p:nvSpPr>
        <p:spPr>
          <a:xfrm>
            <a:off x="2133600" y="2027238"/>
            <a:ext cx="6553200" cy="4525962"/>
          </a:xfrm>
        </p:spPr>
        <p:txBody>
          <a:bodyPr>
            <a:normAutofit lnSpcReduction="10000"/>
          </a:bodyPr>
          <a:lstStyle/>
          <a:p>
            <a:r>
              <a:rPr lang="en-US" altLang="en-US" sz="2400" dirty="0"/>
              <a:t>Given a scenario, use appropriate software tools to assess the security posture of an organization</a:t>
            </a:r>
          </a:p>
          <a:p>
            <a:r>
              <a:rPr lang="en-US" altLang="en-US" sz="2400" dirty="0"/>
              <a:t>Given a scenario, troubleshoot common security issues</a:t>
            </a:r>
          </a:p>
          <a:p>
            <a:r>
              <a:rPr lang="en-US" altLang="en-US" sz="2400" dirty="0"/>
              <a:t>Given a scenario, analyze and interpret output from security technologies</a:t>
            </a:r>
          </a:p>
          <a:p>
            <a:r>
              <a:rPr lang="en-US" altLang="en-US" sz="2400" dirty="0"/>
              <a:t>Compare and contrast identity and access management concepts</a:t>
            </a:r>
          </a:p>
          <a:p>
            <a:r>
              <a:rPr lang="en-US" altLang="en-US" sz="2400" dirty="0"/>
              <a:t>Given a scenario, install and configure identity and access services</a:t>
            </a:r>
          </a:p>
          <a:p>
            <a:r>
              <a:rPr lang="en-US" altLang="en-US" sz="2400" dirty="0"/>
              <a:t>Given a scenario, implement identity and access management control</a:t>
            </a:r>
          </a:p>
        </p:txBody>
      </p:sp>
    </p:spTree>
    <p:extLst>
      <p:ext uri="{BB962C8B-B14F-4D97-AF65-F5344CB8AC3E}">
        <p14:creationId xmlns:p14="http://schemas.microsoft.com/office/powerpoint/2010/main" val="19361141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Tools to Assess Your Network</a:t>
            </a:r>
          </a:p>
        </p:txBody>
      </p:sp>
      <p:sp>
        <p:nvSpPr>
          <p:cNvPr id="3" name="Content Placeholder 2"/>
          <p:cNvSpPr>
            <a:spLocks noGrp="1"/>
          </p:cNvSpPr>
          <p:nvPr>
            <p:ph idx="1"/>
          </p:nvPr>
        </p:nvSpPr>
        <p:spPr/>
        <p:txBody>
          <a:bodyPr>
            <a:normAutofit lnSpcReduction="10000"/>
          </a:bodyPr>
          <a:lstStyle/>
          <a:p>
            <a:r>
              <a:rPr lang="en-US" b="1" i="1" dirty="0">
                <a:solidFill>
                  <a:srgbClr val="0070C0"/>
                </a:solidFill>
              </a:rPr>
              <a:t>{ “</a:t>
            </a:r>
            <a:r>
              <a:rPr lang="en-US" b="1" i="1" u="sng" dirty="0" err="1">
                <a:solidFill>
                  <a:srgbClr val="FF0000"/>
                </a:solidFill>
                <a:effectLst>
                  <a:outerShdw blurRad="38100" dist="38100" dir="2700000" algn="tl">
                    <a:srgbClr val="000000">
                      <a:alpha val="43137"/>
                    </a:srgbClr>
                  </a:outerShdw>
                </a:effectLst>
              </a:rPr>
              <a:t>Footprinting</a:t>
            </a:r>
            <a:r>
              <a:rPr lang="en-US" b="1" i="1" dirty="0">
                <a:solidFill>
                  <a:srgbClr val="0070C0"/>
                </a:solidFill>
              </a:rPr>
              <a:t>” }</a:t>
            </a:r>
          </a:p>
          <a:p>
            <a:r>
              <a:rPr lang="en-US" b="1" i="1" u="sng" dirty="0">
                <a:solidFill>
                  <a:srgbClr val="0070C0"/>
                </a:solidFill>
                <a:effectLst>
                  <a:outerShdw blurRad="38100" dist="38100" dir="2700000" algn="tl">
                    <a:srgbClr val="000000">
                      <a:alpha val="43137"/>
                    </a:srgbClr>
                  </a:outerShdw>
                </a:effectLst>
              </a:rPr>
              <a:t>Protocol Analyzers</a:t>
            </a:r>
          </a:p>
          <a:p>
            <a:pPr lvl="1"/>
            <a:r>
              <a:rPr lang="en-US" dirty="0" err="1">
                <a:solidFill>
                  <a:srgbClr val="0070C0"/>
                </a:solidFill>
              </a:rPr>
              <a:t>tcpdump</a:t>
            </a:r>
            <a:endParaRPr lang="en-US" dirty="0">
              <a:solidFill>
                <a:srgbClr val="0070C0"/>
              </a:solidFill>
            </a:endParaRPr>
          </a:p>
          <a:p>
            <a:pPr lvl="1"/>
            <a:r>
              <a:rPr lang="en-US" dirty="0">
                <a:solidFill>
                  <a:srgbClr val="0070C0"/>
                </a:solidFill>
              </a:rPr>
              <a:t>Wireshark</a:t>
            </a:r>
          </a:p>
          <a:p>
            <a:r>
              <a:rPr lang="en-US" b="1" i="1" u="sng" dirty="0">
                <a:solidFill>
                  <a:srgbClr val="0070C0"/>
                </a:solidFill>
                <a:effectLst>
                  <a:outerShdw blurRad="38100" dist="38100" dir="2700000" algn="tl">
                    <a:srgbClr val="000000">
                      <a:alpha val="43137"/>
                    </a:srgbClr>
                  </a:outerShdw>
                </a:effectLst>
              </a:rPr>
              <a:t>Network Scanners</a:t>
            </a:r>
          </a:p>
          <a:p>
            <a:pPr lvl="1"/>
            <a:r>
              <a:rPr lang="en-US" dirty="0"/>
              <a:t>Solar Winds</a:t>
            </a:r>
          </a:p>
          <a:p>
            <a:pPr lvl="1"/>
            <a:r>
              <a:rPr lang="en-US" dirty="0" err="1"/>
              <a:t>LanHelper</a:t>
            </a:r>
            <a:endParaRPr lang="en-US" dirty="0"/>
          </a:p>
          <a:p>
            <a:pPr lvl="1"/>
            <a:r>
              <a:rPr lang="en-US" b="1" i="1" u="sng" dirty="0">
                <a:solidFill>
                  <a:srgbClr val="0070C0"/>
                </a:solidFill>
                <a:effectLst>
                  <a:outerShdw blurRad="38100" dist="38100" dir="2700000" algn="tl">
                    <a:srgbClr val="000000">
                      <a:alpha val="43137"/>
                    </a:srgbClr>
                  </a:outerShdw>
                </a:effectLst>
              </a:rPr>
              <a:t>Wireless Scanners</a:t>
            </a:r>
            <a:r>
              <a:rPr lang="en-US" dirty="0">
                <a:solidFill>
                  <a:srgbClr val="0070C0"/>
                </a:solidFill>
                <a:effectLst>
                  <a:outerShdw blurRad="38100" dist="38100" dir="2700000" algn="tl">
                    <a:srgbClr val="000000">
                      <a:alpha val="43137"/>
                    </a:srgbClr>
                  </a:outerShdw>
                </a:effectLst>
              </a:rPr>
              <a:t> </a:t>
            </a:r>
            <a:r>
              <a:rPr lang="en-US" dirty="0"/>
              <a:t>and </a:t>
            </a:r>
            <a:r>
              <a:rPr lang="en-US" b="1" i="1" u="sng" dirty="0">
                <a:solidFill>
                  <a:srgbClr val="0070C0"/>
                </a:solidFill>
                <a:effectLst>
                  <a:outerShdw blurRad="38100" dist="38100" dir="2700000" algn="tl">
                    <a:srgbClr val="000000">
                      <a:alpha val="43137"/>
                    </a:srgbClr>
                  </a:outerShdw>
                </a:effectLst>
              </a:rPr>
              <a:t>Crackers</a:t>
            </a:r>
          </a:p>
          <a:p>
            <a:pPr lvl="2"/>
            <a:r>
              <a:rPr lang="en-US" dirty="0" err="1"/>
              <a:t>Aircrack</a:t>
            </a:r>
            <a:endParaRPr lang="en-US" dirty="0"/>
          </a:p>
        </p:txBody>
      </p:sp>
    </p:spTree>
    <p:extLst>
      <p:ext uri="{BB962C8B-B14F-4D97-AF65-F5344CB8AC3E}">
        <p14:creationId xmlns:p14="http://schemas.microsoft.com/office/powerpoint/2010/main" val="31775484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Tools to Assess Your Network Continued</a:t>
            </a:r>
          </a:p>
        </p:txBody>
      </p:sp>
      <p:sp>
        <p:nvSpPr>
          <p:cNvPr id="3" name="Content Placeholder 2"/>
          <p:cNvSpPr>
            <a:spLocks noGrp="1"/>
          </p:cNvSpPr>
          <p:nvPr>
            <p:ph idx="1"/>
          </p:nvPr>
        </p:nvSpPr>
        <p:spPr/>
        <p:txBody>
          <a:bodyPr>
            <a:normAutofit lnSpcReduction="10000"/>
          </a:bodyPr>
          <a:lstStyle/>
          <a:p>
            <a:r>
              <a:rPr lang="en-US" b="1" i="1" u="sng" dirty="0">
                <a:solidFill>
                  <a:srgbClr val="0070C0"/>
                </a:solidFill>
                <a:effectLst>
                  <a:outerShdw blurRad="38100" dist="38100" dir="2700000" algn="tl">
                    <a:srgbClr val="000000">
                      <a:alpha val="43137"/>
                    </a:srgbClr>
                  </a:outerShdw>
                </a:effectLst>
              </a:rPr>
              <a:t>Password Crackers</a:t>
            </a:r>
          </a:p>
          <a:p>
            <a:pPr lvl="1"/>
            <a:r>
              <a:rPr lang="en-US" dirty="0" err="1"/>
              <a:t>pwdump</a:t>
            </a:r>
            <a:endParaRPr lang="en-US" dirty="0"/>
          </a:p>
          <a:p>
            <a:pPr lvl="1"/>
            <a:r>
              <a:rPr lang="en-US" dirty="0" err="1"/>
              <a:t>Ophcrack</a:t>
            </a:r>
            <a:r>
              <a:rPr lang="en-US" dirty="0"/>
              <a:t>:</a:t>
            </a:r>
          </a:p>
          <a:p>
            <a:pPr lvl="2"/>
            <a:r>
              <a:rPr lang="en-US" dirty="0"/>
              <a:t>Free </a:t>
            </a:r>
            <a:r>
              <a:rPr lang="en-US" b="1" i="1" u="sng" dirty="0">
                <a:solidFill>
                  <a:srgbClr val="0070C0"/>
                </a:solidFill>
                <a:effectLst>
                  <a:outerShdw blurRad="38100" dist="38100" dir="2700000" algn="tl">
                    <a:srgbClr val="000000">
                      <a:alpha val="43137"/>
                    </a:srgbClr>
                  </a:outerShdw>
                </a:effectLst>
              </a:rPr>
              <a:t>Open Source </a:t>
            </a:r>
            <a:r>
              <a:rPr lang="en-US" dirty="0"/>
              <a:t>program that cracks Windows log-in passwords by using </a:t>
            </a:r>
            <a:r>
              <a:rPr lang="en-US" b="1" i="1" u="sng" dirty="0">
                <a:effectLst>
                  <a:outerShdw blurRad="38100" dist="38100" dir="2700000" algn="tl">
                    <a:srgbClr val="000000">
                      <a:alpha val="43137"/>
                    </a:srgbClr>
                  </a:outerShdw>
                </a:effectLst>
              </a:rPr>
              <a:t>LM</a:t>
            </a:r>
            <a:r>
              <a:rPr lang="en-US" dirty="0"/>
              <a:t> </a:t>
            </a:r>
            <a:r>
              <a:rPr lang="en-US" b="1" i="1" u="sng" dirty="0">
                <a:solidFill>
                  <a:srgbClr val="0070C0"/>
                </a:solidFill>
                <a:effectLst>
                  <a:outerShdw blurRad="38100" dist="38100" dir="2700000" algn="tl">
                    <a:srgbClr val="000000">
                      <a:alpha val="43137"/>
                    </a:srgbClr>
                  </a:outerShdw>
                </a:effectLst>
              </a:rPr>
              <a:t>Hashes</a:t>
            </a:r>
            <a:r>
              <a:rPr lang="en-US" dirty="0"/>
              <a:t> through </a:t>
            </a:r>
            <a:r>
              <a:rPr lang="en-US" b="1" i="1" u="sng" dirty="0">
                <a:solidFill>
                  <a:srgbClr val="FF0000"/>
                </a:solidFill>
                <a:effectLst>
                  <a:outerShdw blurRad="38100" dist="38100" dir="2700000" algn="tl">
                    <a:srgbClr val="000000">
                      <a:alpha val="43137"/>
                    </a:srgbClr>
                  </a:outerShdw>
                </a:effectLst>
              </a:rPr>
              <a:t>Rainbow Tables</a:t>
            </a:r>
          </a:p>
          <a:p>
            <a:r>
              <a:rPr lang="en-US" b="1" i="1" u="sng" dirty="0">
                <a:solidFill>
                  <a:srgbClr val="0070C0"/>
                </a:solidFill>
                <a:effectLst>
                  <a:outerShdw blurRad="38100" dist="38100" dir="2700000" algn="tl">
                    <a:srgbClr val="000000">
                      <a:alpha val="43137"/>
                    </a:srgbClr>
                  </a:outerShdw>
                </a:effectLst>
              </a:rPr>
              <a:t>Vulnerability Scanners (</a:t>
            </a:r>
            <a:r>
              <a:rPr lang="en-US" b="1" i="1" u="sng" dirty="0" err="1">
                <a:solidFill>
                  <a:srgbClr val="0070C0"/>
                </a:solidFill>
                <a:effectLst>
                  <a:outerShdw blurRad="38100" dist="38100" dir="2700000" algn="tl">
                    <a:srgbClr val="000000">
                      <a:alpha val="43137"/>
                    </a:srgbClr>
                  </a:outerShdw>
                </a:effectLst>
              </a:rPr>
              <a:t>PenTst</a:t>
            </a:r>
            <a:r>
              <a:rPr lang="en-US" b="1" i="1" u="sng" dirty="0">
                <a:solidFill>
                  <a:srgbClr val="0070C0"/>
                </a:solidFill>
                <a:effectLst>
                  <a:outerShdw blurRad="38100" dist="38100" dir="2700000" algn="tl">
                    <a:srgbClr val="000000">
                      <a:alpha val="43137"/>
                    </a:srgbClr>
                  </a:outerShdw>
                </a:effectLst>
              </a:rPr>
              <a:t>)</a:t>
            </a:r>
          </a:p>
          <a:p>
            <a:pPr lvl="1"/>
            <a:r>
              <a:rPr lang="en-US" dirty="0"/>
              <a:t>Nessus</a:t>
            </a:r>
          </a:p>
          <a:p>
            <a:pPr lvl="1"/>
            <a:r>
              <a:rPr lang="en-US" dirty="0" err="1"/>
              <a:t>MBSA</a:t>
            </a:r>
            <a:endParaRPr lang="en-US" dirty="0"/>
          </a:p>
          <a:p>
            <a:pPr lvl="1"/>
            <a:r>
              <a:rPr lang="en-US" dirty="0" err="1"/>
              <a:t>OWASP</a:t>
            </a:r>
            <a:r>
              <a:rPr lang="en-US" dirty="0"/>
              <a:t> Zap</a:t>
            </a:r>
          </a:p>
        </p:txBody>
      </p:sp>
    </p:spTree>
    <p:extLst>
      <p:ext uri="{BB962C8B-B14F-4D97-AF65-F5344CB8AC3E}">
        <p14:creationId xmlns:p14="http://schemas.microsoft.com/office/powerpoint/2010/main" val="34445023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Command-Line Tools</a:t>
            </a:r>
          </a:p>
        </p:txBody>
      </p:sp>
      <p:sp>
        <p:nvSpPr>
          <p:cNvPr id="3" name="Content Placeholder 2"/>
          <p:cNvSpPr>
            <a:spLocks noGrp="1"/>
          </p:cNvSpPr>
          <p:nvPr>
            <p:ph idx="1"/>
          </p:nvPr>
        </p:nvSpPr>
        <p:spPr/>
        <p:txBody>
          <a:bodyPr>
            <a:normAutofit fontScale="70000" lnSpcReduction="20000"/>
          </a:bodyPr>
          <a:lstStyle/>
          <a:p>
            <a:r>
              <a:rPr lang="en-US" b="1" i="1" u="sng" dirty="0">
                <a:solidFill>
                  <a:srgbClr val="0070C0"/>
                </a:solidFill>
                <a:effectLst>
                  <a:outerShdw blurRad="38100" dist="38100" dir="2700000" algn="tl">
                    <a:srgbClr val="000000">
                      <a:alpha val="43137"/>
                    </a:srgbClr>
                  </a:outerShdw>
                </a:effectLst>
              </a:rPr>
              <a:t>ping</a:t>
            </a:r>
          </a:p>
          <a:p>
            <a:r>
              <a:rPr lang="en-US" b="1" i="1" u="sng" dirty="0">
                <a:solidFill>
                  <a:srgbClr val="0070C0"/>
                </a:solidFill>
                <a:effectLst>
                  <a:outerShdw blurRad="38100" dist="38100" dir="2700000" algn="tl">
                    <a:srgbClr val="000000">
                      <a:alpha val="43137"/>
                    </a:srgbClr>
                  </a:outerShdw>
                </a:effectLst>
              </a:rPr>
              <a:t>Netstat</a:t>
            </a:r>
          </a:p>
          <a:p>
            <a:pPr lvl="1"/>
            <a:r>
              <a:rPr lang="en-US" dirty="0"/>
              <a:t>Command-line network utility that displays: </a:t>
            </a:r>
          </a:p>
          <a:p>
            <a:pPr lvl="2"/>
            <a:r>
              <a:rPr lang="en-US" dirty="0"/>
              <a:t>TCP Connections</a:t>
            </a:r>
          </a:p>
          <a:p>
            <a:pPr lvl="2"/>
            <a:r>
              <a:rPr lang="en-US" dirty="0"/>
              <a:t>Routing Tables</a:t>
            </a:r>
          </a:p>
          <a:p>
            <a:pPr lvl="2"/>
            <a:r>
              <a:rPr lang="en-US" dirty="0"/>
              <a:t>Number of NIC &amp; Network Protocol statistics</a:t>
            </a:r>
          </a:p>
          <a:p>
            <a:r>
              <a:rPr lang="en-US" b="1" i="1" u="sng" dirty="0">
                <a:solidFill>
                  <a:srgbClr val="0070C0"/>
                </a:solidFill>
                <a:effectLst>
                  <a:outerShdw blurRad="38100" dist="38100" dir="2700000" algn="tl">
                    <a:srgbClr val="000000">
                      <a:alpha val="43137"/>
                    </a:srgbClr>
                  </a:outerShdw>
                </a:effectLst>
              </a:rPr>
              <a:t>Tracert</a:t>
            </a:r>
            <a:r>
              <a:rPr lang="en-US" dirty="0"/>
              <a:t> (or </a:t>
            </a:r>
            <a:r>
              <a:rPr lang="en-US" b="1" i="1" u="sng" dirty="0">
                <a:solidFill>
                  <a:srgbClr val="0070C0"/>
                </a:solidFill>
                <a:effectLst>
                  <a:outerShdw blurRad="38100" dist="38100" dir="2700000" algn="tl">
                    <a:srgbClr val="000000">
                      <a:alpha val="43137"/>
                    </a:srgbClr>
                  </a:outerShdw>
                </a:effectLst>
              </a:rPr>
              <a:t>traceroute</a:t>
            </a:r>
            <a:r>
              <a:rPr lang="en-US" dirty="0"/>
              <a:t>)</a:t>
            </a:r>
          </a:p>
          <a:p>
            <a:r>
              <a:rPr lang="en-US" b="1" i="1" u="sng" dirty="0" err="1">
                <a:solidFill>
                  <a:srgbClr val="0070C0"/>
                </a:solidFill>
                <a:effectLst>
                  <a:outerShdw blurRad="38100" dist="38100" dir="2700000" algn="tl">
                    <a:srgbClr val="000000">
                      <a:alpha val="43137"/>
                    </a:srgbClr>
                  </a:outerShdw>
                </a:effectLst>
              </a:rPr>
              <a:t>nslookup</a:t>
            </a:r>
            <a:r>
              <a:rPr lang="en-US" dirty="0"/>
              <a:t>/</a:t>
            </a:r>
            <a:r>
              <a:rPr lang="en-US" b="1" i="1" u="sng" dirty="0">
                <a:solidFill>
                  <a:srgbClr val="0070C0"/>
                </a:solidFill>
                <a:effectLst>
                  <a:outerShdw blurRad="38100" dist="38100" dir="2700000" algn="tl">
                    <a:srgbClr val="000000">
                      <a:alpha val="43137"/>
                    </a:srgbClr>
                  </a:outerShdw>
                </a:effectLst>
              </a:rPr>
              <a:t>dig</a:t>
            </a:r>
          </a:p>
          <a:p>
            <a:r>
              <a:rPr lang="en-US" b="1" i="1" u="sng" dirty="0" err="1">
                <a:solidFill>
                  <a:srgbClr val="0070C0"/>
                </a:solidFill>
                <a:effectLst>
                  <a:outerShdw blurRad="38100" dist="38100" dir="2700000" algn="tl">
                    <a:srgbClr val="000000">
                      <a:alpha val="43137"/>
                    </a:srgbClr>
                  </a:outerShdw>
                </a:effectLst>
              </a:rPr>
              <a:t>arp</a:t>
            </a:r>
            <a:endParaRPr lang="en-US" b="1" i="1" u="sng" dirty="0">
              <a:solidFill>
                <a:srgbClr val="0070C0"/>
              </a:solidFill>
              <a:effectLst>
                <a:outerShdw blurRad="38100" dist="38100" dir="2700000" algn="tl">
                  <a:srgbClr val="000000">
                    <a:alpha val="43137"/>
                  </a:srgbClr>
                </a:outerShdw>
              </a:effectLst>
            </a:endParaRPr>
          </a:p>
          <a:p>
            <a:r>
              <a:rPr lang="en-US" b="1" i="1" u="sng" dirty="0">
                <a:solidFill>
                  <a:srgbClr val="0070C0"/>
                </a:solidFill>
                <a:effectLst>
                  <a:outerShdw blurRad="38100" dist="38100" dir="2700000" algn="tl">
                    <a:srgbClr val="000000">
                      <a:alpha val="43137"/>
                    </a:srgbClr>
                  </a:outerShdw>
                </a:effectLst>
              </a:rPr>
              <a:t>ipconfig</a:t>
            </a:r>
            <a:r>
              <a:rPr lang="en-US" dirty="0"/>
              <a:t>/</a:t>
            </a:r>
            <a:r>
              <a:rPr lang="en-US" b="1" i="1" u="sng" dirty="0" err="1">
                <a:solidFill>
                  <a:srgbClr val="0070C0"/>
                </a:solidFill>
                <a:effectLst>
                  <a:outerShdw blurRad="38100" dist="38100" dir="2700000" algn="tl">
                    <a:srgbClr val="000000">
                      <a:alpha val="43137"/>
                    </a:srgbClr>
                  </a:outerShdw>
                </a:effectLst>
              </a:rPr>
              <a:t>ip</a:t>
            </a:r>
            <a:r>
              <a:rPr lang="en-US" dirty="0"/>
              <a:t>/</a:t>
            </a:r>
            <a:r>
              <a:rPr lang="en-US" b="1" i="1" u="sng" dirty="0" err="1">
                <a:solidFill>
                  <a:srgbClr val="0070C0"/>
                </a:solidFill>
                <a:effectLst>
                  <a:outerShdw blurRad="38100" dist="38100" dir="2700000" algn="tl">
                    <a:srgbClr val="000000">
                      <a:alpha val="43137"/>
                    </a:srgbClr>
                  </a:outerShdw>
                </a:effectLst>
              </a:rPr>
              <a:t>ifconfig</a:t>
            </a:r>
            <a:endParaRPr lang="en-US" b="1" i="1" u="sng" dirty="0">
              <a:solidFill>
                <a:srgbClr val="0070C0"/>
              </a:solidFill>
              <a:effectLst>
                <a:outerShdw blurRad="38100" dist="38100" dir="2700000" algn="tl">
                  <a:srgbClr val="000000">
                    <a:alpha val="43137"/>
                  </a:srgbClr>
                </a:outerShdw>
              </a:effectLst>
            </a:endParaRPr>
          </a:p>
          <a:p>
            <a:r>
              <a:rPr lang="en-US" b="1" i="1" u="sng" dirty="0">
                <a:solidFill>
                  <a:srgbClr val="0070C0"/>
                </a:solidFill>
                <a:effectLst>
                  <a:outerShdw blurRad="38100" dist="38100" dir="2700000" algn="tl">
                    <a:srgbClr val="000000">
                      <a:alpha val="43137"/>
                    </a:srgbClr>
                  </a:outerShdw>
                </a:effectLst>
              </a:rPr>
              <a:t>Nmap:</a:t>
            </a:r>
          </a:p>
          <a:p>
            <a:pPr lvl="1"/>
            <a:r>
              <a:rPr lang="en-US" b="1" i="1" u="sng" dirty="0">
                <a:solidFill>
                  <a:srgbClr val="FF99CC"/>
                </a:solidFill>
              </a:rPr>
              <a:t>Discover</a:t>
            </a:r>
            <a:r>
              <a:rPr lang="en-US" dirty="0"/>
              <a:t> </a:t>
            </a:r>
            <a:r>
              <a:rPr lang="en-US" b="1" i="1" u="sng" dirty="0"/>
              <a:t>Hosts</a:t>
            </a:r>
            <a:r>
              <a:rPr lang="en-US" dirty="0"/>
              <a:t> and </a:t>
            </a:r>
            <a:r>
              <a:rPr lang="en-US" b="1" i="1" u="sng" dirty="0"/>
              <a:t>Services</a:t>
            </a:r>
            <a:r>
              <a:rPr lang="en-US" dirty="0"/>
              <a:t> on a computer </a:t>
            </a:r>
            <a:r>
              <a:rPr lang="en-US" b="1" i="1" u="sng" dirty="0"/>
              <a:t>Network</a:t>
            </a:r>
            <a:r>
              <a:rPr lang="en-US" dirty="0"/>
              <a:t> by </a:t>
            </a:r>
            <a:r>
              <a:rPr lang="en-US" b="1" i="1" u="sng" dirty="0">
                <a:solidFill>
                  <a:srgbClr val="FF99CC"/>
                </a:solidFill>
              </a:rPr>
              <a:t>Sending</a:t>
            </a:r>
            <a:r>
              <a:rPr lang="en-US" dirty="0"/>
              <a:t> </a:t>
            </a:r>
            <a:r>
              <a:rPr lang="en-US" b="1" i="1" u="sng" dirty="0"/>
              <a:t>Packets</a:t>
            </a:r>
            <a:r>
              <a:rPr lang="en-US" dirty="0"/>
              <a:t> and </a:t>
            </a:r>
            <a:r>
              <a:rPr lang="en-US" b="1" i="1" u="sng" dirty="0">
                <a:solidFill>
                  <a:srgbClr val="FFFF00"/>
                </a:solidFill>
                <a:highlight>
                  <a:srgbClr val="808080"/>
                </a:highlight>
              </a:rPr>
              <a:t>Analyzing</a:t>
            </a:r>
            <a:r>
              <a:rPr lang="en-US" dirty="0"/>
              <a:t> the </a:t>
            </a:r>
            <a:r>
              <a:rPr lang="en-US" b="1" i="1" u="sng" dirty="0"/>
              <a:t>Responses</a:t>
            </a:r>
          </a:p>
          <a:p>
            <a:r>
              <a:rPr lang="en-US" b="1" i="1" u="sng" dirty="0" err="1">
                <a:solidFill>
                  <a:srgbClr val="0070C0"/>
                </a:solidFill>
                <a:effectLst>
                  <a:outerShdw blurRad="38100" dist="38100" dir="2700000" algn="tl">
                    <a:srgbClr val="000000">
                      <a:alpha val="43137"/>
                    </a:srgbClr>
                  </a:outerShdw>
                </a:effectLst>
              </a:rPr>
              <a:t>netcat</a:t>
            </a:r>
            <a:endParaRPr lang="en-US" b="1" i="1" u="sng" dirty="0">
              <a:solidFill>
                <a:srgbClr val="0070C0"/>
              </a:solidFill>
              <a:effectLst>
                <a:outerShdw blurRad="38100" dist="38100" dir="2700000" algn="tl">
                  <a:srgbClr val="000000">
                    <a:alpha val="43137"/>
                  </a:srgbClr>
                </a:outerShdw>
              </a:effectLst>
            </a:endParaRPr>
          </a:p>
          <a:p>
            <a:endParaRPr lang="en-US" dirty="0"/>
          </a:p>
        </p:txBody>
      </p:sp>
    </p:spTree>
    <p:extLst>
      <p:ext uri="{BB962C8B-B14F-4D97-AF65-F5344CB8AC3E}">
        <p14:creationId xmlns:p14="http://schemas.microsoft.com/office/powerpoint/2010/main" val="41331195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Additional Tools</a:t>
            </a:r>
          </a:p>
        </p:txBody>
      </p:sp>
      <p:sp>
        <p:nvSpPr>
          <p:cNvPr id="3" name="Content Placeholder 2"/>
          <p:cNvSpPr>
            <a:spLocks noGrp="1"/>
          </p:cNvSpPr>
          <p:nvPr>
            <p:ph idx="1"/>
          </p:nvPr>
        </p:nvSpPr>
        <p:spPr/>
        <p:txBody>
          <a:bodyPr/>
          <a:lstStyle/>
          <a:p>
            <a:r>
              <a:rPr lang="en-US" dirty="0"/>
              <a:t>General </a:t>
            </a:r>
            <a:r>
              <a:rPr lang="en-US" b="1" i="1" u="sng" dirty="0">
                <a:solidFill>
                  <a:srgbClr val="0070C0"/>
                </a:solidFill>
                <a:effectLst>
                  <a:outerShdw blurRad="38100" dist="38100" dir="2700000" algn="tl">
                    <a:srgbClr val="000000">
                      <a:alpha val="43137"/>
                    </a:srgbClr>
                  </a:outerShdw>
                </a:effectLst>
              </a:rPr>
              <a:t>Networking Tools</a:t>
            </a:r>
          </a:p>
          <a:p>
            <a:r>
              <a:rPr lang="en-US" b="1" i="1" u="sng" dirty="0">
                <a:solidFill>
                  <a:srgbClr val="0070C0"/>
                </a:solidFill>
                <a:effectLst>
                  <a:outerShdw blurRad="38100" dist="38100" dir="2700000" algn="tl">
                    <a:srgbClr val="000000">
                      <a:alpha val="43137"/>
                    </a:srgbClr>
                  </a:outerShdw>
                </a:effectLst>
              </a:rPr>
              <a:t>Honeypots</a:t>
            </a:r>
          </a:p>
          <a:p>
            <a:r>
              <a:rPr lang="en-US" b="1" i="1" u="sng" dirty="0">
                <a:solidFill>
                  <a:srgbClr val="0070C0"/>
                </a:solidFill>
                <a:effectLst>
                  <a:outerShdw blurRad="38100" dist="38100" dir="2700000" algn="tl">
                    <a:srgbClr val="000000">
                      <a:alpha val="43137"/>
                    </a:srgbClr>
                  </a:outerShdw>
                </a:effectLst>
              </a:rPr>
              <a:t>Steganography Tools:</a:t>
            </a:r>
          </a:p>
          <a:p>
            <a:pPr lvl="1"/>
            <a:r>
              <a:rPr lang="en-US" dirty="0" err="1"/>
              <a:t>OpenStego</a:t>
            </a:r>
            <a:endParaRPr lang="en-US" dirty="0"/>
          </a:p>
          <a:p>
            <a:pPr lvl="1"/>
            <a:r>
              <a:rPr lang="en-US" dirty="0"/>
              <a:t>Xiao</a:t>
            </a:r>
          </a:p>
          <a:p>
            <a:pPr lvl="1"/>
            <a:r>
              <a:rPr lang="en-US" dirty="0"/>
              <a:t>Image Steganography</a:t>
            </a:r>
          </a:p>
          <a:p>
            <a:pPr lvl="1"/>
            <a:r>
              <a:rPr lang="en-US" dirty="0" err="1"/>
              <a:t>Steghide</a:t>
            </a:r>
            <a:endParaRPr lang="en-US" dirty="0"/>
          </a:p>
        </p:txBody>
      </p:sp>
    </p:spTree>
    <p:extLst>
      <p:ext uri="{BB962C8B-B14F-4D97-AF65-F5344CB8AC3E}">
        <p14:creationId xmlns:p14="http://schemas.microsoft.com/office/powerpoint/2010/main" val="3390473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Troubleshooting Common Security Issues</a:t>
            </a:r>
          </a:p>
        </p:txBody>
      </p:sp>
      <p:sp>
        <p:nvSpPr>
          <p:cNvPr id="3" name="Content Placeholder 2"/>
          <p:cNvSpPr>
            <a:spLocks noGrp="1"/>
          </p:cNvSpPr>
          <p:nvPr>
            <p:ph idx="1"/>
          </p:nvPr>
        </p:nvSpPr>
        <p:spPr/>
        <p:txBody>
          <a:bodyPr>
            <a:normAutofit fontScale="85000" lnSpcReduction="20000"/>
          </a:bodyPr>
          <a:lstStyle/>
          <a:p>
            <a:r>
              <a:rPr lang="en-US" dirty="0"/>
              <a:t>NUM 1: Access issues (Login)</a:t>
            </a:r>
          </a:p>
          <a:p>
            <a:pPr lvl="1"/>
            <a:r>
              <a:rPr lang="en-US" dirty="0"/>
              <a:t>P &amp; P (Authorization) is inappropriate</a:t>
            </a:r>
          </a:p>
          <a:p>
            <a:pPr lvl="2"/>
            <a:r>
              <a:rPr lang="en-US" dirty="0"/>
              <a:t>Violates “Need-to-Know” / “Least </a:t>
            </a:r>
            <a:r>
              <a:rPr lang="en-US" dirty="0" err="1"/>
              <a:t>Priv</a:t>
            </a:r>
            <a:r>
              <a:rPr lang="en-US" dirty="0"/>
              <a:t>”</a:t>
            </a:r>
          </a:p>
          <a:p>
            <a:r>
              <a:rPr lang="en-US" dirty="0"/>
              <a:t>Configuration issues:</a:t>
            </a:r>
          </a:p>
          <a:p>
            <a:pPr lvl="1"/>
            <a:r>
              <a:rPr lang="en-US" dirty="0"/>
              <a:t>Net dev</a:t>
            </a:r>
          </a:p>
          <a:p>
            <a:pPr lvl="1"/>
            <a:r>
              <a:rPr lang="en-US" dirty="0"/>
              <a:t>OS:</a:t>
            </a:r>
          </a:p>
          <a:p>
            <a:pPr lvl="2"/>
            <a:r>
              <a:rPr lang="en-US" dirty="0"/>
              <a:t>SVC</a:t>
            </a:r>
          </a:p>
          <a:p>
            <a:pPr lvl="2"/>
            <a:r>
              <a:rPr lang="en-US" dirty="0"/>
              <a:t>APP</a:t>
            </a:r>
          </a:p>
          <a:p>
            <a:r>
              <a:rPr lang="en-US" b="1" i="1" u="sng" dirty="0">
                <a:solidFill>
                  <a:srgbClr val="0070C0"/>
                </a:solidFill>
                <a:effectLst>
                  <a:outerShdw blurRad="38100" dist="38100" dir="2700000" algn="tl">
                    <a:srgbClr val="000000">
                      <a:alpha val="43137"/>
                    </a:srgbClr>
                  </a:outerShdw>
                </a:effectLst>
              </a:rPr>
              <a:t>Digital Certificate </a:t>
            </a:r>
            <a:r>
              <a:rPr lang="en-US" dirty="0"/>
              <a:t>issues:</a:t>
            </a:r>
          </a:p>
          <a:p>
            <a:pPr lvl="1"/>
            <a:r>
              <a:rPr lang="en-US" dirty="0"/>
              <a:t>{only if being used – STDS = X.509}</a:t>
            </a:r>
          </a:p>
          <a:p>
            <a:r>
              <a:rPr lang="en-US" b="1" i="1" u="sng" dirty="0">
                <a:solidFill>
                  <a:srgbClr val="00B0F0"/>
                </a:solidFill>
                <a:effectLst>
                  <a:outerShdw blurRad="38100" dist="38100" dir="2700000" algn="tl">
                    <a:srgbClr val="000000">
                      <a:alpha val="43137"/>
                    </a:srgbClr>
                  </a:outerShdw>
                </a:effectLst>
              </a:rPr>
              <a:t>Personnel</a:t>
            </a:r>
            <a:r>
              <a:rPr lang="en-US" dirty="0"/>
              <a:t> issues</a:t>
            </a:r>
          </a:p>
          <a:p>
            <a:r>
              <a:rPr lang="en-US" dirty="0"/>
              <a:t>Other issues</a:t>
            </a:r>
          </a:p>
        </p:txBody>
      </p:sp>
    </p:spTree>
    <p:extLst>
      <p:ext uri="{BB962C8B-B14F-4D97-AF65-F5344CB8AC3E}">
        <p14:creationId xmlns:p14="http://schemas.microsoft.com/office/powerpoint/2010/main" val="17640235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Security Technologies</a:t>
            </a:r>
          </a:p>
        </p:txBody>
      </p:sp>
      <p:sp>
        <p:nvSpPr>
          <p:cNvPr id="3" name="Content Placeholder 2"/>
          <p:cNvSpPr>
            <a:spLocks noGrp="1"/>
          </p:cNvSpPr>
          <p:nvPr>
            <p:ph idx="1"/>
          </p:nvPr>
        </p:nvSpPr>
        <p:spPr/>
        <p:txBody>
          <a:bodyPr/>
          <a:lstStyle/>
          <a:p>
            <a:r>
              <a:rPr lang="en-US" b="1" i="1" u="sng" dirty="0">
                <a:solidFill>
                  <a:srgbClr val="0070C0"/>
                </a:solidFill>
                <a:effectLst>
                  <a:outerShdw blurRad="38100" dist="38100" dir="2700000" algn="tl">
                    <a:srgbClr val="000000">
                      <a:alpha val="43137"/>
                    </a:srgbClr>
                  </a:outerShdw>
                </a:effectLst>
              </a:rPr>
              <a:t>Intrusion Detection Systems</a:t>
            </a:r>
          </a:p>
          <a:p>
            <a:r>
              <a:rPr lang="en-US" b="1" i="1" u="sng" dirty="0">
                <a:solidFill>
                  <a:srgbClr val="0070C0"/>
                </a:solidFill>
                <a:effectLst>
                  <a:outerShdw blurRad="38100" dist="38100" dir="2700000" algn="tl">
                    <a:srgbClr val="000000">
                      <a:alpha val="43137"/>
                    </a:srgbClr>
                  </a:outerShdw>
                </a:effectLst>
              </a:rPr>
              <a:t>Antimalware</a:t>
            </a:r>
          </a:p>
          <a:p>
            <a:r>
              <a:rPr lang="en-US" b="1" i="1" u="sng" dirty="0">
                <a:solidFill>
                  <a:srgbClr val="0070C0"/>
                </a:solidFill>
                <a:effectLst>
                  <a:outerShdw blurRad="38100" dist="38100" dir="2700000" algn="tl">
                    <a:srgbClr val="000000">
                      <a:alpha val="43137"/>
                    </a:srgbClr>
                  </a:outerShdw>
                </a:effectLst>
              </a:rPr>
              <a:t>Firewalls</a:t>
            </a:r>
            <a:r>
              <a:rPr lang="en-US" dirty="0"/>
              <a:t> and related devices</a:t>
            </a:r>
          </a:p>
          <a:p>
            <a:r>
              <a:rPr lang="en-US" dirty="0"/>
              <a:t>Other systems</a:t>
            </a:r>
          </a:p>
        </p:txBody>
      </p:sp>
    </p:spTree>
    <p:extLst>
      <p:ext uri="{BB962C8B-B14F-4D97-AF65-F5344CB8AC3E}">
        <p14:creationId xmlns:p14="http://schemas.microsoft.com/office/powerpoint/2010/main" val="38502333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normAutofit fontScale="90000"/>
          </a:bodyPr>
          <a:lstStyle/>
          <a:p>
            <a:r>
              <a:rPr lang="en-US" altLang="en-US" sz="4000"/>
              <a:t>Identification vs. Authentication</a:t>
            </a:r>
          </a:p>
        </p:txBody>
      </p:sp>
      <p:sp>
        <p:nvSpPr>
          <p:cNvPr id="4099" name="Content Placeholder 3"/>
          <p:cNvSpPr>
            <a:spLocks noGrp="1"/>
          </p:cNvSpPr>
          <p:nvPr>
            <p:ph idx="1"/>
          </p:nvPr>
        </p:nvSpPr>
        <p:spPr/>
        <p:txBody>
          <a:bodyPr>
            <a:normAutofit fontScale="92500" lnSpcReduction="20000"/>
          </a:bodyPr>
          <a:lstStyle/>
          <a:p>
            <a:r>
              <a:rPr lang="en-US" altLang="en-US" b="1" i="1" u="sng" dirty="0">
                <a:solidFill>
                  <a:srgbClr val="0070C0"/>
                </a:solidFill>
                <a:effectLst>
                  <a:outerShdw blurRad="38100" dist="38100" dir="2700000" algn="tl">
                    <a:srgbClr val="000000">
                      <a:alpha val="43137"/>
                    </a:srgbClr>
                  </a:outerShdw>
                </a:effectLst>
              </a:rPr>
              <a:t>Identification</a:t>
            </a:r>
          </a:p>
          <a:p>
            <a:pPr lvl="1"/>
            <a:r>
              <a:rPr lang="en-US" altLang="en-US" sz="2000" dirty="0"/>
              <a:t>Requires a human to intercede and verify that someone is who they say they are</a:t>
            </a:r>
          </a:p>
          <a:p>
            <a:endParaRPr lang="en-US" altLang="en-US" dirty="0"/>
          </a:p>
          <a:p>
            <a:r>
              <a:rPr lang="en-US" altLang="en-US" b="1" i="1" u="sng" dirty="0">
                <a:solidFill>
                  <a:srgbClr val="0070C0"/>
                </a:solidFill>
                <a:effectLst>
                  <a:outerShdw blurRad="38100" dist="38100" dir="2700000" algn="tl">
                    <a:srgbClr val="000000">
                      <a:alpha val="43137"/>
                    </a:srgbClr>
                  </a:outerShdw>
                </a:effectLst>
              </a:rPr>
              <a:t>Authentication</a:t>
            </a:r>
          </a:p>
          <a:p>
            <a:pPr lvl="1"/>
            <a:r>
              <a:rPr lang="en-US" altLang="en-US" sz="2000" dirty="0"/>
              <a:t>The user may not be who they are supposed to be, but they have indeed given the correct combination of values (such as username and password, tokens, or biometrics) and thus they are authenticated.</a:t>
            </a:r>
          </a:p>
          <a:p>
            <a:pPr lvl="1"/>
            <a:r>
              <a:rPr lang="en-US" altLang="en-US" sz="2000" dirty="0"/>
              <a:t>1 Know</a:t>
            </a:r>
          </a:p>
          <a:p>
            <a:pPr lvl="1"/>
            <a:r>
              <a:rPr lang="en-US" altLang="en-US" sz="2000" dirty="0"/>
              <a:t>2 Have</a:t>
            </a:r>
          </a:p>
          <a:p>
            <a:pPr lvl="1"/>
            <a:r>
              <a:rPr lang="en-US" altLang="en-US" sz="2000" dirty="0"/>
              <a:t>3 Are (Biometrics)</a:t>
            </a:r>
          </a:p>
          <a:p>
            <a:pPr lvl="1"/>
            <a:r>
              <a:rPr lang="en-US" altLang="en-US" sz="2000" dirty="0"/>
              <a:t>4 Do / Perform</a:t>
            </a:r>
          </a:p>
          <a:p>
            <a:pPr lvl="1"/>
            <a:r>
              <a:rPr lang="en-US" altLang="en-US" sz="2000" dirty="0"/>
              <a:t>5 GEO-Location</a:t>
            </a:r>
          </a:p>
        </p:txBody>
      </p:sp>
    </p:spTree>
    <p:extLst>
      <p:ext uri="{BB962C8B-B14F-4D97-AF65-F5344CB8AC3E}">
        <p14:creationId xmlns:p14="http://schemas.microsoft.com/office/powerpoint/2010/main" val="19605809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Content Placeholder 3"/>
          <p:cNvSpPr>
            <a:spLocks noGrp="1"/>
          </p:cNvSpPr>
          <p:nvPr>
            <p:ph idx="1"/>
          </p:nvPr>
        </p:nvSpPr>
        <p:spPr>
          <a:xfrm>
            <a:off x="2133600" y="1874838"/>
            <a:ext cx="6553200" cy="4525962"/>
          </a:xfrm>
        </p:spPr>
        <p:txBody>
          <a:bodyPr/>
          <a:lstStyle/>
          <a:p>
            <a:r>
              <a:rPr lang="en-US" altLang="en-US" dirty="0"/>
              <a:t>Authentication (</a:t>
            </a:r>
            <a:r>
              <a:rPr lang="en-US" altLang="en-US" b="1" i="1" u="sng" dirty="0">
                <a:solidFill>
                  <a:srgbClr val="0070C0"/>
                </a:solidFill>
                <a:effectLst>
                  <a:outerShdw blurRad="38100" dist="38100" dir="2700000" algn="tl">
                    <a:srgbClr val="000000">
                      <a:alpha val="43137"/>
                    </a:srgbClr>
                  </a:outerShdw>
                </a:effectLst>
              </a:rPr>
              <a:t>Single Factor</a:t>
            </a:r>
            <a:r>
              <a:rPr lang="en-US" altLang="en-US" dirty="0"/>
              <a:t>) and authorization</a:t>
            </a:r>
          </a:p>
          <a:p>
            <a:pPr lvl="1"/>
            <a:r>
              <a:rPr lang="en-US" altLang="en-US" dirty="0"/>
              <a:t>Single-factor authentication (</a:t>
            </a:r>
            <a:r>
              <a:rPr lang="en-US" altLang="en-US" b="1" i="1" u="sng" dirty="0">
                <a:solidFill>
                  <a:srgbClr val="0070C0"/>
                </a:solidFill>
                <a:effectLst>
                  <a:outerShdw blurRad="38100" dist="38100" dir="2700000" algn="tl">
                    <a:srgbClr val="000000">
                      <a:alpha val="43137"/>
                    </a:srgbClr>
                  </a:outerShdw>
                </a:effectLst>
              </a:rPr>
              <a:t>SFA</a:t>
            </a:r>
            <a:r>
              <a:rPr lang="en-US" altLang="en-US" dirty="0"/>
              <a:t>)</a:t>
            </a:r>
          </a:p>
          <a:p>
            <a:pPr lvl="1"/>
            <a:r>
              <a:rPr lang="en-US" altLang="en-US" dirty="0"/>
              <a:t>Username and password</a:t>
            </a:r>
          </a:p>
          <a:p>
            <a:r>
              <a:rPr lang="en-US" altLang="en-US" b="1" i="1" u="sng" dirty="0">
                <a:solidFill>
                  <a:srgbClr val="0070C0"/>
                </a:solidFill>
                <a:effectLst>
                  <a:outerShdw blurRad="38100" dist="38100" dir="2700000" algn="tl">
                    <a:srgbClr val="000000">
                      <a:alpha val="43137"/>
                    </a:srgbClr>
                  </a:outerShdw>
                </a:effectLst>
              </a:rPr>
              <a:t>Multifactor</a:t>
            </a:r>
            <a:r>
              <a:rPr lang="en-US" altLang="en-US" dirty="0"/>
              <a:t> authentication (</a:t>
            </a:r>
            <a:r>
              <a:rPr lang="en-US" altLang="en-US" b="1" i="1" u="sng" dirty="0">
                <a:solidFill>
                  <a:srgbClr val="0070C0"/>
                </a:solidFill>
                <a:effectLst>
                  <a:outerShdw blurRad="38100" dist="38100" dir="2700000" algn="tl">
                    <a:srgbClr val="000000">
                      <a:alpha val="43137"/>
                    </a:srgbClr>
                  </a:outerShdw>
                </a:effectLst>
              </a:rPr>
              <a:t>MFA</a:t>
            </a:r>
            <a:r>
              <a:rPr lang="en-US" altLang="en-US" dirty="0"/>
              <a:t>)</a:t>
            </a:r>
          </a:p>
          <a:p>
            <a:pPr lvl="1"/>
            <a:r>
              <a:rPr lang="en-US" altLang="en-US" dirty="0"/>
              <a:t>Multifactor system</a:t>
            </a:r>
          </a:p>
          <a:p>
            <a:pPr lvl="1"/>
            <a:r>
              <a:rPr lang="en-US" altLang="en-US" dirty="0"/>
              <a:t>Two-factor (or more) authentication system</a:t>
            </a:r>
          </a:p>
          <a:p>
            <a:pPr>
              <a:buFontTx/>
              <a:buNone/>
            </a:pPr>
            <a:endParaRPr lang="en-US" altLang="en-US" dirty="0"/>
          </a:p>
          <a:p>
            <a:endParaRPr lang="en-US" altLang="en-US" dirty="0"/>
          </a:p>
        </p:txBody>
      </p:sp>
      <p:sp>
        <p:nvSpPr>
          <p:cNvPr id="2" name="Title 1"/>
          <p:cNvSpPr>
            <a:spLocks noGrp="1"/>
          </p:cNvSpPr>
          <p:nvPr>
            <p:ph type="title"/>
          </p:nvPr>
        </p:nvSpPr>
        <p:spPr/>
        <p:txBody>
          <a:bodyPr/>
          <a:lstStyle/>
          <a:p>
            <a:endParaRPr lang="en-US"/>
          </a:p>
        </p:txBody>
      </p:sp>
    </p:spTree>
    <p:extLst>
      <p:ext uri="{BB962C8B-B14F-4D97-AF65-F5344CB8AC3E}">
        <p14:creationId xmlns:p14="http://schemas.microsoft.com/office/powerpoint/2010/main" val="7285356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Content Placeholder 3"/>
          <p:cNvSpPr>
            <a:spLocks noGrp="1"/>
          </p:cNvSpPr>
          <p:nvPr>
            <p:ph idx="1"/>
          </p:nvPr>
        </p:nvSpPr>
        <p:spPr>
          <a:xfrm>
            <a:off x="2286000" y="1874838"/>
            <a:ext cx="6400800" cy="4525962"/>
          </a:xfrm>
        </p:spPr>
        <p:txBody>
          <a:bodyPr/>
          <a:lstStyle/>
          <a:p>
            <a:r>
              <a:rPr lang="en-US" altLang="en-US" b="1" i="1" u="sng" dirty="0">
                <a:solidFill>
                  <a:srgbClr val="0070C0"/>
                </a:solidFill>
                <a:effectLst>
                  <a:outerShdw blurRad="38100" dist="38100" dir="2700000" algn="tl">
                    <a:srgbClr val="000000">
                      <a:alpha val="43137"/>
                    </a:srgbClr>
                  </a:outerShdw>
                </a:effectLst>
              </a:rPr>
              <a:t>Biometrics</a:t>
            </a:r>
          </a:p>
          <a:p>
            <a:r>
              <a:rPr lang="en-US" altLang="en-US" b="1" i="1" u="sng" dirty="0">
                <a:solidFill>
                  <a:srgbClr val="0070C0"/>
                </a:solidFill>
                <a:effectLst>
                  <a:outerShdw blurRad="38100" dist="38100" dir="2700000" algn="tl">
                    <a:srgbClr val="000000">
                      <a:alpha val="43137"/>
                    </a:srgbClr>
                  </a:outerShdw>
                </a:effectLst>
              </a:rPr>
              <a:t>Federations</a:t>
            </a:r>
          </a:p>
        </p:txBody>
      </p:sp>
      <p:sp>
        <p:nvSpPr>
          <p:cNvPr id="2" name="Title 1"/>
          <p:cNvSpPr>
            <a:spLocks noGrp="1"/>
          </p:cNvSpPr>
          <p:nvPr>
            <p:ph type="title"/>
          </p:nvPr>
        </p:nvSpPr>
        <p:spPr/>
        <p:txBody>
          <a:bodyPr/>
          <a:lstStyle/>
          <a:p>
            <a:endParaRPr lang="en-US"/>
          </a:p>
        </p:txBody>
      </p:sp>
    </p:spTree>
    <p:extLst>
      <p:ext uri="{BB962C8B-B14F-4D97-AF65-F5344CB8AC3E}">
        <p14:creationId xmlns:p14="http://schemas.microsoft.com/office/powerpoint/2010/main" val="16343405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normAutofit fontScale="90000"/>
          </a:bodyPr>
          <a:lstStyle/>
          <a:p>
            <a:r>
              <a:rPr lang="en-US" altLang="en-US" sz="4000"/>
              <a:t>Potential Authentication and Access Problems</a:t>
            </a:r>
          </a:p>
        </p:txBody>
      </p:sp>
      <p:sp>
        <p:nvSpPr>
          <p:cNvPr id="7171" name="Content Placeholder 3"/>
          <p:cNvSpPr>
            <a:spLocks noGrp="1"/>
          </p:cNvSpPr>
          <p:nvPr>
            <p:ph idx="1"/>
          </p:nvPr>
        </p:nvSpPr>
        <p:spPr/>
        <p:txBody>
          <a:bodyPr/>
          <a:lstStyle/>
          <a:p>
            <a:r>
              <a:rPr lang="en-US" altLang="en-US" b="1" i="1" u="sng" dirty="0">
                <a:solidFill>
                  <a:srgbClr val="0070C0"/>
                </a:solidFill>
                <a:effectLst>
                  <a:outerShdw blurRad="38100" dist="38100" dir="2700000" algn="tl">
                    <a:srgbClr val="000000">
                      <a:alpha val="43137"/>
                    </a:srgbClr>
                  </a:outerShdw>
                </a:effectLst>
              </a:rPr>
              <a:t>Transitive</a:t>
            </a:r>
            <a:r>
              <a:rPr lang="en-US" altLang="en-US" dirty="0"/>
              <a:t> </a:t>
            </a:r>
            <a:r>
              <a:rPr lang="en-US" altLang="en-US" b="1" i="1" u="sng" dirty="0">
                <a:solidFill>
                  <a:srgbClr val="0070C0"/>
                </a:solidFill>
                <a:effectLst>
                  <a:outerShdw blurRad="38100" dist="38100" dir="2700000" algn="tl">
                    <a:srgbClr val="000000">
                      <a:alpha val="43137"/>
                    </a:srgbClr>
                  </a:outerShdw>
                </a:effectLst>
              </a:rPr>
              <a:t>Access</a:t>
            </a:r>
          </a:p>
          <a:p>
            <a:pPr lvl="1"/>
            <a:r>
              <a:rPr lang="en-US" altLang="en-US" sz="2400" dirty="0"/>
              <a:t>One party</a:t>
            </a:r>
            <a:r>
              <a:rPr lang="en-US" altLang="en-US" sz="2400" i="1" dirty="0"/>
              <a:t> (A) </a:t>
            </a:r>
            <a:r>
              <a:rPr lang="en-US" altLang="en-US" sz="2400" dirty="0"/>
              <a:t>trusts another party (B). If the second party (B) trusts another party (C), then a relationship can exist where the third party (C) is trusted by the first party (A).</a:t>
            </a:r>
          </a:p>
          <a:p>
            <a:pPr lvl="1"/>
            <a:r>
              <a:rPr lang="en-US" altLang="en-US" sz="2400" dirty="0"/>
              <a:t>IF (A = B &amp;&amp; B = C) =&gt; A = C</a:t>
            </a:r>
          </a:p>
        </p:txBody>
      </p:sp>
    </p:spTree>
    <p:extLst>
      <p:ext uri="{BB962C8B-B14F-4D97-AF65-F5344CB8AC3E}">
        <p14:creationId xmlns:p14="http://schemas.microsoft.com/office/powerpoint/2010/main" val="27222625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2286000" y="76200"/>
            <a:ext cx="6553200" cy="685800"/>
          </a:xfrm>
        </p:spPr>
        <p:txBody>
          <a:bodyPr>
            <a:normAutofit fontScale="90000"/>
          </a:bodyPr>
          <a:lstStyle/>
          <a:p>
            <a:r>
              <a:rPr lang="en-US" altLang="en-US" sz="4000" dirty="0"/>
              <a:t>Security Protocols</a:t>
            </a:r>
          </a:p>
        </p:txBody>
      </p:sp>
      <p:sp>
        <p:nvSpPr>
          <p:cNvPr id="8195" name="Content Placeholder 3"/>
          <p:cNvSpPr>
            <a:spLocks noGrp="1"/>
          </p:cNvSpPr>
          <p:nvPr>
            <p:ph idx="1"/>
          </p:nvPr>
        </p:nvSpPr>
        <p:spPr>
          <a:xfrm>
            <a:off x="2286000" y="990600"/>
            <a:ext cx="6629400" cy="5638800"/>
          </a:xfrm>
        </p:spPr>
        <p:txBody>
          <a:bodyPr>
            <a:normAutofit fontScale="47500" lnSpcReduction="20000"/>
          </a:bodyPr>
          <a:lstStyle/>
          <a:p>
            <a:r>
              <a:rPr lang="en-US" altLang="en-US" sz="3600" b="1" i="1" u="sng" dirty="0">
                <a:solidFill>
                  <a:srgbClr val="0070C0"/>
                </a:solidFill>
                <a:effectLst>
                  <a:outerShdw blurRad="38100" dist="38100" dir="2700000" algn="tl">
                    <a:srgbClr val="000000">
                      <a:alpha val="43137"/>
                    </a:srgbClr>
                  </a:outerShdw>
                </a:effectLst>
              </a:rPr>
              <a:t>LDAP:</a:t>
            </a:r>
          </a:p>
          <a:p>
            <a:pPr lvl="1"/>
            <a:r>
              <a:rPr lang="en-US" altLang="en-US" sz="3200" dirty="0"/>
              <a:t>Open, vendor-neutral, industry standard application protocol for </a:t>
            </a:r>
            <a:r>
              <a:rPr lang="en-US" altLang="en-US" sz="3200" b="1" i="1" u="sng" dirty="0">
                <a:solidFill>
                  <a:srgbClr val="0070C0"/>
                </a:solidFill>
                <a:effectLst>
                  <a:outerShdw blurRad="38100" dist="38100" dir="2700000" algn="tl">
                    <a:srgbClr val="000000">
                      <a:alpha val="43137"/>
                    </a:srgbClr>
                  </a:outerShdw>
                </a:effectLst>
              </a:rPr>
              <a:t>Accessing</a:t>
            </a:r>
            <a:r>
              <a:rPr lang="en-US" altLang="en-US" sz="3200" dirty="0"/>
              <a:t> and </a:t>
            </a:r>
            <a:r>
              <a:rPr lang="en-US" altLang="en-US" sz="3200" b="1" i="1" u="sng" dirty="0">
                <a:solidFill>
                  <a:srgbClr val="0070C0"/>
                </a:solidFill>
                <a:effectLst>
                  <a:outerShdw blurRad="38100" dist="38100" dir="2700000" algn="tl">
                    <a:srgbClr val="000000">
                      <a:alpha val="43137"/>
                    </a:srgbClr>
                  </a:outerShdw>
                </a:effectLst>
              </a:rPr>
              <a:t>Maintaining</a:t>
            </a:r>
            <a:r>
              <a:rPr lang="en-US" altLang="en-US" sz="3200" dirty="0"/>
              <a:t> </a:t>
            </a:r>
            <a:r>
              <a:rPr lang="en-US" altLang="en-US" sz="3200" b="1" i="1" u="sng" dirty="0">
                <a:solidFill>
                  <a:srgbClr val="0070C0"/>
                </a:solidFill>
                <a:effectLst>
                  <a:outerShdw blurRad="38100" dist="38100" dir="2700000" algn="tl">
                    <a:srgbClr val="000000">
                      <a:alpha val="43137"/>
                    </a:srgbClr>
                  </a:outerShdw>
                </a:effectLst>
              </a:rPr>
              <a:t>Distributed</a:t>
            </a:r>
            <a:r>
              <a:rPr lang="en-US" altLang="en-US" sz="3200" dirty="0"/>
              <a:t> </a:t>
            </a:r>
            <a:r>
              <a:rPr lang="en-US" altLang="en-US" sz="3200" b="1" i="1" u="sng" dirty="0">
                <a:solidFill>
                  <a:srgbClr val="0070C0"/>
                </a:solidFill>
                <a:effectLst>
                  <a:outerShdw blurRad="38100" dist="38100" dir="2700000" algn="tl">
                    <a:srgbClr val="000000">
                      <a:alpha val="43137"/>
                    </a:srgbClr>
                  </a:outerShdw>
                </a:effectLst>
              </a:rPr>
              <a:t>Directory</a:t>
            </a:r>
            <a:r>
              <a:rPr lang="en-US" altLang="en-US" sz="3200" dirty="0"/>
              <a:t> </a:t>
            </a:r>
            <a:r>
              <a:rPr lang="en-US" altLang="en-US" sz="3200" b="1" i="1" u="sng" dirty="0">
                <a:solidFill>
                  <a:srgbClr val="0070C0"/>
                </a:solidFill>
                <a:effectLst>
                  <a:outerShdw blurRad="38100" dist="38100" dir="2700000" algn="tl">
                    <a:srgbClr val="000000">
                      <a:alpha val="43137"/>
                    </a:srgbClr>
                  </a:outerShdw>
                </a:effectLst>
              </a:rPr>
              <a:t>Information</a:t>
            </a:r>
            <a:r>
              <a:rPr lang="en-US" altLang="en-US" sz="3200" dirty="0"/>
              <a:t> services over an Internet Protocol network</a:t>
            </a:r>
          </a:p>
          <a:p>
            <a:r>
              <a:rPr lang="en-US" altLang="en-US" sz="3600" b="1" i="1" u="sng" dirty="0">
                <a:solidFill>
                  <a:srgbClr val="0070C0"/>
                </a:solidFill>
                <a:effectLst>
                  <a:outerShdw blurRad="38100" dist="38100" dir="2700000" algn="tl">
                    <a:srgbClr val="000000">
                      <a:alpha val="43137"/>
                    </a:srgbClr>
                  </a:outerShdw>
                </a:effectLst>
              </a:rPr>
              <a:t>Kerberos:</a:t>
            </a:r>
          </a:p>
          <a:p>
            <a:pPr lvl="1"/>
            <a:r>
              <a:rPr lang="en-US" b="1" i="1" u="sng" dirty="0">
                <a:solidFill>
                  <a:srgbClr val="0070C0"/>
                </a:solidFill>
                <a:effectLst>
                  <a:outerShdw blurRad="38100" dist="38100" dir="2700000" algn="tl">
                    <a:srgbClr val="000000">
                      <a:alpha val="43137"/>
                    </a:srgbClr>
                  </a:outerShdw>
                </a:effectLst>
              </a:rPr>
              <a:t>Network Authentication Protocol </a:t>
            </a:r>
            <a:r>
              <a:rPr lang="en-US" dirty="0"/>
              <a:t>that uses </a:t>
            </a:r>
            <a:r>
              <a:rPr lang="en-US" b="1" i="1" u="sng" dirty="0">
                <a:solidFill>
                  <a:srgbClr val="FF0000"/>
                </a:solidFill>
                <a:effectLst>
                  <a:outerShdw blurRad="38100" dist="38100" dir="2700000" algn="tl">
                    <a:srgbClr val="000000">
                      <a:alpha val="43137"/>
                    </a:srgbClr>
                  </a:outerShdw>
                </a:effectLst>
              </a:rPr>
              <a:t>Tickets</a:t>
            </a:r>
            <a:r>
              <a:rPr lang="en-US" dirty="0"/>
              <a:t> (</a:t>
            </a:r>
            <a:r>
              <a:rPr lang="en-US" b="1" i="1" u="sng" dirty="0">
                <a:solidFill>
                  <a:srgbClr val="FF0000"/>
                </a:solidFill>
              </a:rPr>
              <a:t>Security</a:t>
            </a:r>
            <a:r>
              <a:rPr lang="en-US" dirty="0"/>
              <a:t> </a:t>
            </a:r>
            <a:r>
              <a:rPr lang="en-US" b="1" i="1" u="sng" dirty="0">
                <a:solidFill>
                  <a:srgbClr val="FF0000"/>
                </a:solidFill>
              </a:rPr>
              <a:t>Tokens</a:t>
            </a:r>
            <a:r>
              <a:rPr lang="en-US" dirty="0"/>
              <a:t>)to allow nodes communicating over a non-secure network to prove their </a:t>
            </a:r>
            <a:r>
              <a:rPr lang="en-US" b="1" i="1" u="sng" dirty="0">
                <a:solidFill>
                  <a:srgbClr val="0070C0"/>
                </a:solidFill>
                <a:effectLst>
                  <a:outerShdw blurRad="38100" dist="38100" dir="2700000" algn="tl">
                    <a:srgbClr val="000000">
                      <a:alpha val="43137"/>
                    </a:srgbClr>
                  </a:outerShdw>
                </a:effectLst>
              </a:rPr>
              <a:t>Identity</a:t>
            </a:r>
            <a:r>
              <a:rPr lang="en-US" dirty="0"/>
              <a:t> to one another in a secure manner</a:t>
            </a:r>
            <a:endParaRPr lang="en-US" altLang="en-US" sz="3200" b="1" i="1" u="sng" dirty="0">
              <a:solidFill>
                <a:srgbClr val="0070C0"/>
              </a:solidFill>
              <a:effectLst>
                <a:outerShdw blurRad="38100" dist="38100" dir="2700000" algn="tl">
                  <a:srgbClr val="000000">
                    <a:alpha val="43137"/>
                  </a:srgbClr>
                </a:outerShdw>
              </a:effectLst>
            </a:endParaRPr>
          </a:p>
          <a:p>
            <a:r>
              <a:rPr lang="en-US" altLang="en-US" sz="3600" b="1" i="1" u="sng" dirty="0">
                <a:solidFill>
                  <a:srgbClr val="0070C0"/>
                </a:solidFill>
                <a:effectLst>
                  <a:outerShdw blurRad="38100" dist="38100" dir="2700000" algn="tl">
                    <a:srgbClr val="000000">
                      <a:alpha val="43137"/>
                    </a:srgbClr>
                  </a:outerShdw>
                </a:effectLst>
              </a:rPr>
              <a:t>Authentication Protocols:</a:t>
            </a:r>
          </a:p>
          <a:p>
            <a:pPr lvl="1"/>
            <a:r>
              <a:rPr lang="en-US" altLang="en-US" sz="3200" b="1" i="1" u="sng" dirty="0">
                <a:solidFill>
                  <a:srgbClr val="0070C0"/>
                </a:solidFill>
                <a:effectLst>
                  <a:outerShdw blurRad="38100" dist="38100" dir="2700000" algn="tl">
                    <a:srgbClr val="000000">
                      <a:alpha val="43137"/>
                    </a:srgbClr>
                  </a:outerShdw>
                </a:effectLst>
              </a:rPr>
              <a:t>PAP – </a:t>
            </a:r>
            <a:r>
              <a:rPr lang="en-US" altLang="en-US" sz="3200" dirty="0"/>
              <a:t>Used by PPP</a:t>
            </a:r>
          </a:p>
          <a:p>
            <a:pPr lvl="1"/>
            <a:r>
              <a:rPr lang="en-US" altLang="en-US" sz="3200" b="1" i="1" u="sng" dirty="0">
                <a:solidFill>
                  <a:srgbClr val="0070C0"/>
                </a:solidFill>
                <a:effectLst>
                  <a:outerShdw blurRad="38100" dist="38100" dir="2700000" algn="tl">
                    <a:srgbClr val="000000">
                      <a:alpha val="43137"/>
                    </a:srgbClr>
                  </a:outerShdw>
                </a:effectLst>
              </a:rPr>
              <a:t>SPAP – </a:t>
            </a:r>
            <a:r>
              <a:rPr lang="en-US" altLang="en-US" sz="3200" dirty="0"/>
              <a:t>MS for Email Clients</a:t>
            </a:r>
          </a:p>
          <a:p>
            <a:pPr lvl="1"/>
            <a:r>
              <a:rPr lang="en-US" altLang="en-US" sz="3200" b="1" i="1" u="sng" dirty="0">
                <a:solidFill>
                  <a:srgbClr val="0070C0"/>
                </a:solidFill>
                <a:effectLst>
                  <a:outerShdw blurRad="38100" dist="38100" dir="2700000" algn="tl">
                    <a:srgbClr val="000000">
                      <a:alpha val="43137"/>
                    </a:srgbClr>
                  </a:outerShdw>
                </a:effectLst>
              </a:rPr>
              <a:t>CHAP : (3-way Handshake)</a:t>
            </a:r>
          </a:p>
          <a:p>
            <a:pPr lvl="2"/>
            <a:r>
              <a:rPr lang="en-US" altLang="en-US" sz="2800" dirty="0"/>
              <a:t>After the completion of the </a:t>
            </a:r>
            <a:r>
              <a:rPr lang="en-US" altLang="en-US" sz="2800" b="1" i="1" u="sng" dirty="0">
                <a:solidFill>
                  <a:srgbClr val="0070C0"/>
                </a:solidFill>
                <a:effectLst>
                  <a:outerShdw blurRad="38100" dist="38100" dir="2700000" algn="tl">
                    <a:srgbClr val="000000">
                      <a:alpha val="43137"/>
                    </a:srgbClr>
                  </a:outerShdw>
                </a:effectLst>
              </a:rPr>
              <a:t>Link Establishment Phase</a:t>
            </a:r>
            <a:r>
              <a:rPr lang="en-US" altLang="en-US" sz="2800" dirty="0"/>
              <a:t>, the authenticator sends a "</a:t>
            </a:r>
            <a:r>
              <a:rPr lang="en-US" altLang="en-US" sz="2800" b="1" i="1" u="sng" dirty="0">
                <a:solidFill>
                  <a:srgbClr val="0070C0"/>
                </a:solidFill>
                <a:effectLst>
                  <a:outerShdw blurRad="38100" dist="38100" dir="2700000" algn="tl">
                    <a:srgbClr val="000000">
                      <a:alpha val="43137"/>
                    </a:srgbClr>
                  </a:outerShdw>
                </a:effectLst>
              </a:rPr>
              <a:t>Challenge</a:t>
            </a:r>
            <a:r>
              <a:rPr lang="en-US" altLang="en-US" sz="2800" dirty="0"/>
              <a:t>" message to the peer.</a:t>
            </a:r>
          </a:p>
          <a:p>
            <a:pPr lvl="2"/>
            <a:r>
              <a:rPr lang="en-US" altLang="en-US" sz="2800" dirty="0"/>
              <a:t>The </a:t>
            </a:r>
            <a:r>
              <a:rPr lang="en-US" altLang="en-US" sz="2800" b="1" i="1" u="sng" dirty="0">
                <a:solidFill>
                  <a:srgbClr val="0070C0"/>
                </a:solidFill>
                <a:effectLst>
                  <a:outerShdw blurRad="38100" dist="38100" dir="2700000" algn="tl">
                    <a:srgbClr val="000000">
                      <a:alpha val="43137"/>
                    </a:srgbClr>
                  </a:outerShdw>
                </a:effectLst>
              </a:rPr>
              <a:t>Peer Responds </a:t>
            </a:r>
            <a:r>
              <a:rPr lang="en-US" altLang="en-US" sz="2800" dirty="0"/>
              <a:t>with a value calculated using a </a:t>
            </a:r>
            <a:r>
              <a:rPr lang="en-US" altLang="en-US" sz="2800" b="1" i="1" u="sng" dirty="0">
                <a:solidFill>
                  <a:srgbClr val="FF0000"/>
                </a:solidFill>
                <a:effectLst>
                  <a:outerShdw blurRad="38100" dist="38100" dir="2700000" algn="tl">
                    <a:srgbClr val="000000">
                      <a:alpha val="43137"/>
                    </a:srgbClr>
                  </a:outerShdw>
                </a:effectLst>
              </a:rPr>
              <a:t>One-way Hash Function </a:t>
            </a:r>
            <a:r>
              <a:rPr lang="en-US" altLang="en-US" sz="2800" dirty="0"/>
              <a:t>on the </a:t>
            </a:r>
            <a:r>
              <a:rPr lang="en-US" altLang="en-US" sz="2800" b="1" i="1" u="sng" dirty="0">
                <a:solidFill>
                  <a:srgbClr val="0070C0"/>
                </a:solidFill>
                <a:effectLst>
                  <a:outerShdw blurRad="38100" dist="38100" dir="2700000" algn="tl">
                    <a:srgbClr val="000000">
                      <a:alpha val="43137"/>
                    </a:srgbClr>
                  </a:outerShdw>
                </a:effectLst>
              </a:rPr>
              <a:t>Challenge</a:t>
            </a:r>
            <a:r>
              <a:rPr lang="en-US" altLang="en-US" sz="2800" dirty="0"/>
              <a:t> and the </a:t>
            </a:r>
            <a:r>
              <a:rPr lang="en-US" altLang="en-US" sz="2800" b="1" i="1" u="sng" dirty="0">
                <a:solidFill>
                  <a:srgbClr val="0070C0"/>
                </a:solidFill>
                <a:effectLst>
                  <a:outerShdw blurRad="38100" dist="38100" dir="2700000" algn="tl">
                    <a:srgbClr val="000000">
                      <a:alpha val="43137"/>
                    </a:srgbClr>
                  </a:outerShdw>
                </a:effectLst>
              </a:rPr>
              <a:t>Secret</a:t>
            </a:r>
            <a:r>
              <a:rPr lang="en-US" altLang="en-US" sz="2800" dirty="0"/>
              <a:t> </a:t>
            </a:r>
            <a:r>
              <a:rPr lang="en-US" altLang="en-US" sz="2800" b="1" i="1" u="sng" dirty="0">
                <a:effectLst>
                  <a:outerShdw blurRad="38100" dist="38100" dir="2700000" algn="tl">
                    <a:srgbClr val="000000">
                      <a:alpha val="43137"/>
                    </a:srgbClr>
                  </a:outerShdw>
                </a:effectLst>
              </a:rPr>
              <a:t>Combined</a:t>
            </a:r>
            <a:r>
              <a:rPr lang="en-US" altLang="en-US" sz="2800" dirty="0"/>
              <a:t>.</a:t>
            </a:r>
          </a:p>
          <a:p>
            <a:pPr lvl="2"/>
            <a:r>
              <a:rPr lang="en-US" altLang="en-US" sz="2800" dirty="0"/>
              <a:t>The </a:t>
            </a:r>
            <a:r>
              <a:rPr lang="en-US" altLang="en-US" sz="2800" b="1" i="1" u="sng" dirty="0">
                <a:effectLst>
                  <a:outerShdw blurRad="38100" dist="38100" dir="2700000" algn="tl">
                    <a:srgbClr val="000000">
                      <a:alpha val="43137"/>
                    </a:srgbClr>
                  </a:outerShdw>
                </a:effectLst>
              </a:rPr>
              <a:t>Authenticator</a:t>
            </a:r>
            <a:r>
              <a:rPr lang="en-US" altLang="en-US" sz="2800" dirty="0"/>
              <a:t> checks the response against its own calculation of the expected hash value</a:t>
            </a:r>
          </a:p>
          <a:p>
            <a:pPr lvl="2"/>
            <a:r>
              <a:rPr lang="en-US" altLang="en-US" sz="2800" dirty="0"/>
              <a:t>If the values match, the authenticator acknowledges the authentication</a:t>
            </a:r>
          </a:p>
          <a:p>
            <a:pPr lvl="3"/>
            <a:r>
              <a:rPr lang="en-US" altLang="en-US" sz="2400" b="1" i="1" u="sng" dirty="0"/>
              <a:t>Otherwise</a:t>
            </a:r>
            <a:r>
              <a:rPr lang="en-US" altLang="en-US" sz="2400" dirty="0"/>
              <a:t> it should </a:t>
            </a:r>
            <a:r>
              <a:rPr lang="en-US" altLang="en-US" sz="2400" b="1" i="1" u="sng" dirty="0">
                <a:solidFill>
                  <a:srgbClr val="FF0000"/>
                </a:solidFill>
              </a:rPr>
              <a:t>Terminate</a:t>
            </a:r>
            <a:r>
              <a:rPr lang="en-US" altLang="en-US" sz="2400" dirty="0"/>
              <a:t> the connection.</a:t>
            </a:r>
          </a:p>
          <a:p>
            <a:pPr lvl="2"/>
            <a:r>
              <a:rPr lang="en-US" altLang="en-US" sz="2800" dirty="0"/>
              <a:t>At </a:t>
            </a:r>
            <a:r>
              <a:rPr lang="en-US" altLang="en-US" sz="2800" b="1" i="1" u="sng" dirty="0">
                <a:effectLst>
                  <a:outerShdw blurRad="38100" dist="38100" dir="2700000" algn="tl">
                    <a:srgbClr val="000000">
                      <a:alpha val="43137"/>
                    </a:srgbClr>
                  </a:outerShdw>
                </a:effectLst>
                <a:highlight>
                  <a:srgbClr val="FFFF00"/>
                </a:highlight>
              </a:rPr>
              <a:t>Random Intervals </a:t>
            </a:r>
            <a:r>
              <a:rPr lang="en-US" altLang="en-US" sz="2800" dirty="0"/>
              <a:t>the </a:t>
            </a:r>
            <a:r>
              <a:rPr lang="en-US" altLang="en-US" sz="2800" b="1" i="1" u="sng" dirty="0">
                <a:solidFill>
                  <a:srgbClr val="0070C0"/>
                </a:solidFill>
                <a:effectLst>
                  <a:outerShdw blurRad="38100" dist="38100" dir="2700000" algn="tl">
                    <a:srgbClr val="000000">
                      <a:alpha val="43137"/>
                    </a:srgbClr>
                  </a:outerShdw>
                </a:effectLst>
              </a:rPr>
              <a:t>Authenticator</a:t>
            </a:r>
            <a:r>
              <a:rPr lang="en-US" altLang="en-US" sz="2800" dirty="0"/>
              <a:t> sends a </a:t>
            </a:r>
            <a:r>
              <a:rPr lang="en-US" altLang="en-US" sz="2800" b="1" i="1" u="sng" dirty="0">
                <a:solidFill>
                  <a:srgbClr val="0070C0"/>
                </a:solidFill>
                <a:effectLst>
                  <a:outerShdw blurRad="38100" dist="38100" dir="2700000" algn="tl">
                    <a:srgbClr val="000000">
                      <a:alpha val="43137"/>
                    </a:srgbClr>
                  </a:outerShdw>
                </a:effectLst>
              </a:rPr>
              <a:t>New Challenge</a:t>
            </a:r>
            <a:r>
              <a:rPr lang="en-US" altLang="en-US" sz="2800" dirty="0"/>
              <a:t> to the peer and </a:t>
            </a:r>
            <a:r>
              <a:rPr lang="en-US" altLang="en-US" sz="2800" b="1" i="1" u="sng" dirty="0">
                <a:effectLst>
                  <a:outerShdw blurRad="38100" dist="38100" dir="2700000" algn="tl">
                    <a:srgbClr val="000000">
                      <a:alpha val="43137"/>
                    </a:srgbClr>
                  </a:outerShdw>
                </a:effectLst>
              </a:rPr>
              <a:t>repeats steps 1 through 3</a:t>
            </a:r>
            <a:r>
              <a:rPr lang="en-US" altLang="en-US" sz="2800" dirty="0"/>
              <a:t>.</a:t>
            </a:r>
          </a:p>
          <a:p>
            <a:pPr lvl="2"/>
            <a:r>
              <a:rPr lang="en-US" altLang="en-US" sz="2800" b="1" i="1" u="sng" dirty="0">
                <a:solidFill>
                  <a:srgbClr val="0070C0"/>
                </a:solidFill>
                <a:effectLst>
                  <a:outerShdw blurRad="38100" dist="38100" dir="2700000" algn="tl">
                    <a:srgbClr val="000000">
                      <a:alpha val="43137"/>
                    </a:srgbClr>
                  </a:outerShdw>
                </a:effectLst>
              </a:rPr>
              <a:t>MS-CHAP</a:t>
            </a:r>
          </a:p>
          <a:p>
            <a:pPr lvl="2"/>
            <a:r>
              <a:rPr lang="en-US" altLang="en-US" sz="2800" b="1" i="1" u="sng" dirty="0">
                <a:solidFill>
                  <a:srgbClr val="0070C0"/>
                </a:solidFill>
                <a:effectLst>
                  <a:outerShdw blurRad="38100" dist="38100" dir="2700000" algn="tl">
                    <a:srgbClr val="000000">
                      <a:alpha val="43137"/>
                    </a:srgbClr>
                  </a:outerShdw>
                </a:effectLst>
              </a:rPr>
              <a:t>NTLM</a:t>
            </a:r>
          </a:p>
          <a:p>
            <a:pPr lvl="3"/>
            <a:r>
              <a:rPr lang="en-US" altLang="en-US" sz="3200" dirty="0">
                <a:effectLst>
                  <a:outerShdw blurRad="38100" dist="38100" dir="2700000" algn="tl">
                    <a:srgbClr val="000000">
                      <a:alpha val="43137"/>
                    </a:srgbClr>
                  </a:outerShdw>
                </a:effectLst>
              </a:rPr>
              <a:t>V1 uses MD4 and DES in a “Weak Manner”</a:t>
            </a:r>
          </a:p>
          <a:p>
            <a:pPr lvl="3"/>
            <a:r>
              <a:rPr lang="en-US" altLang="en-US" sz="3200" dirty="0">
                <a:effectLst>
                  <a:outerShdw blurRad="38100" dist="38100" dir="2700000" algn="tl">
                    <a:srgbClr val="000000">
                      <a:alpha val="43137"/>
                    </a:srgbClr>
                  </a:outerShdw>
                </a:effectLst>
              </a:rPr>
              <a:t>V2 uses HMAC and MD5 in a stronger manner (relies on more than just Challenge and Password by adding “BLOB”)</a:t>
            </a:r>
            <a:endParaRPr lang="en-US" altLang="en-US" sz="3200" dirty="0"/>
          </a:p>
        </p:txBody>
      </p:sp>
    </p:spTree>
    <p:extLst>
      <p:ext uri="{BB962C8B-B14F-4D97-AF65-F5344CB8AC3E}">
        <p14:creationId xmlns:p14="http://schemas.microsoft.com/office/powerpoint/2010/main" val="5925168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1295400" y="152400"/>
            <a:ext cx="7772400" cy="990600"/>
          </a:xfrm>
        </p:spPr>
        <p:txBody>
          <a:bodyPr>
            <a:noAutofit/>
          </a:bodyPr>
          <a:lstStyle/>
          <a:p>
            <a:r>
              <a:rPr lang="en-US" altLang="en-US" sz="2800" dirty="0"/>
              <a:t> </a:t>
            </a:r>
            <a:r>
              <a:rPr lang="en-US" altLang="en-US" sz="2800" b="1" i="1" u="sng" dirty="0">
                <a:solidFill>
                  <a:srgbClr val="C00000"/>
                </a:solidFill>
                <a:effectLst>
                  <a:outerShdw blurRad="38100" dist="38100" dir="2700000" algn="tl">
                    <a:srgbClr val="000000">
                      <a:alpha val="43137"/>
                    </a:srgbClr>
                  </a:outerShdw>
                </a:effectLst>
              </a:rPr>
              <a:t>Access Control</a:t>
            </a:r>
            <a:r>
              <a:rPr lang="en-US" altLang="en-US" sz="2800" dirty="0"/>
              <a:t>, </a:t>
            </a:r>
            <a:r>
              <a:rPr lang="en-US" altLang="en-US" sz="2800" b="1" i="1" u="sng" dirty="0">
                <a:solidFill>
                  <a:srgbClr val="C00000"/>
                </a:solidFill>
                <a:effectLst>
                  <a:outerShdw blurRad="38100" dist="38100" dir="2700000" algn="tl">
                    <a:srgbClr val="000000">
                      <a:alpha val="43137"/>
                    </a:srgbClr>
                  </a:outerShdw>
                </a:effectLst>
              </a:rPr>
              <a:t>Authentication</a:t>
            </a:r>
            <a:r>
              <a:rPr lang="en-US" altLang="en-US" sz="2800" dirty="0"/>
              <a:t>, and</a:t>
            </a:r>
            <a:br>
              <a:rPr lang="en-US" altLang="en-US" sz="2800" dirty="0"/>
            </a:br>
            <a:r>
              <a:rPr lang="en-US" altLang="en-US" sz="2800" b="1" i="1" u="sng" dirty="0">
                <a:solidFill>
                  <a:srgbClr val="C00000"/>
                </a:solidFill>
                <a:effectLst>
                  <a:outerShdw blurRad="38100" dist="38100" dir="2700000" algn="tl">
                    <a:srgbClr val="000000">
                      <a:alpha val="43137"/>
                    </a:srgbClr>
                  </a:outerShdw>
                </a:effectLst>
              </a:rPr>
              <a:t>Authorization</a:t>
            </a:r>
          </a:p>
        </p:txBody>
      </p:sp>
      <p:sp>
        <p:nvSpPr>
          <p:cNvPr id="9219" name="Content Placeholder 3"/>
          <p:cNvSpPr>
            <a:spLocks noGrp="1"/>
          </p:cNvSpPr>
          <p:nvPr>
            <p:ph idx="1"/>
          </p:nvPr>
        </p:nvSpPr>
        <p:spPr>
          <a:xfrm>
            <a:off x="2133600" y="1219200"/>
            <a:ext cx="6553200" cy="5257800"/>
          </a:xfrm>
        </p:spPr>
        <p:txBody>
          <a:bodyPr>
            <a:normAutofit lnSpcReduction="10000"/>
          </a:bodyPr>
          <a:lstStyle/>
          <a:p>
            <a:r>
              <a:rPr lang="en-US" altLang="en-US" b="1" i="1" u="sng" dirty="0">
                <a:solidFill>
                  <a:srgbClr val="0070C0"/>
                </a:solidFill>
                <a:effectLst>
                  <a:outerShdw blurRad="38100" dist="38100" dir="2700000" algn="tl">
                    <a:srgbClr val="000000">
                      <a:alpha val="43137"/>
                    </a:srgbClr>
                  </a:outerShdw>
                </a:effectLst>
              </a:rPr>
              <a:t>RADIUS</a:t>
            </a:r>
          </a:p>
          <a:p>
            <a:r>
              <a:rPr lang="en-US" altLang="en-US" b="1" i="1" u="sng" dirty="0">
                <a:solidFill>
                  <a:srgbClr val="0070C0"/>
                </a:solidFill>
                <a:effectLst>
                  <a:outerShdw blurRad="38100" dist="38100" dir="2700000" algn="tl">
                    <a:srgbClr val="000000">
                      <a:alpha val="43137"/>
                    </a:srgbClr>
                  </a:outerShdw>
                </a:effectLst>
              </a:rPr>
              <a:t>TACACS</a:t>
            </a:r>
            <a:r>
              <a:rPr lang="en-US" altLang="en-US" dirty="0"/>
              <a:t>/</a:t>
            </a:r>
            <a:r>
              <a:rPr lang="en-US" altLang="en-US" b="1" i="1" u="sng" dirty="0">
                <a:solidFill>
                  <a:srgbClr val="0070C0"/>
                </a:solidFill>
                <a:effectLst>
                  <a:outerShdw blurRad="38100" dist="38100" dir="2700000" algn="tl">
                    <a:srgbClr val="000000">
                      <a:alpha val="43137"/>
                    </a:srgbClr>
                  </a:outerShdw>
                </a:effectLst>
              </a:rPr>
              <a:t>TACACS</a:t>
            </a:r>
            <a:r>
              <a:rPr lang="en-US" altLang="en-US" dirty="0"/>
              <a:t>+/</a:t>
            </a:r>
            <a:r>
              <a:rPr lang="en-US" altLang="en-US" b="1" i="1" u="sng" dirty="0">
                <a:solidFill>
                  <a:srgbClr val="0070C0"/>
                </a:solidFill>
                <a:effectLst>
                  <a:outerShdw blurRad="38100" dist="38100" dir="2700000" algn="tl">
                    <a:srgbClr val="000000">
                      <a:alpha val="43137"/>
                    </a:srgbClr>
                  </a:outerShdw>
                </a:effectLst>
              </a:rPr>
              <a:t>XTACACS</a:t>
            </a:r>
          </a:p>
          <a:p>
            <a:pPr lvl="1"/>
            <a:r>
              <a:rPr lang="en-US" altLang="en-US" sz="2400" dirty="0"/>
              <a:t>This is a client-server-oriented environment, and it operates in a manner similar to how RADIUS operates.</a:t>
            </a:r>
          </a:p>
          <a:p>
            <a:r>
              <a:rPr lang="en-US" altLang="en-US" b="1" i="1" u="sng" dirty="0">
                <a:solidFill>
                  <a:srgbClr val="0070C0"/>
                </a:solidFill>
                <a:effectLst>
                  <a:outerShdw blurRad="38100" dist="38100" dir="2700000" algn="tl">
                    <a:srgbClr val="000000">
                      <a:alpha val="43137"/>
                    </a:srgbClr>
                  </a:outerShdw>
                </a:effectLst>
              </a:rPr>
              <a:t>OAUTH</a:t>
            </a:r>
          </a:p>
          <a:p>
            <a:r>
              <a:rPr lang="en-US" altLang="en-US" b="1" i="1" u="sng" dirty="0">
                <a:solidFill>
                  <a:srgbClr val="0070C0"/>
                </a:solidFill>
                <a:effectLst>
                  <a:outerShdw blurRad="38100" dist="38100" dir="2700000" algn="tl">
                    <a:srgbClr val="000000">
                      <a:alpha val="43137"/>
                    </a:srgbClr>
                  </a:outerShdw>
                </a:effectLst>
              </a:rPr>
              <a:t>One-Time Passwords (OTP)</a:t>
            </a:r>
          </a:p>
          <a:p>
            <a:pPr lvl="1"/>
            <a:r>
              <a:rPr lang="en-US" altLang="en-US" sz="2000" b="1" i="1" u="sng" dirty="0">
                <a:solidFill>
                  <a:srgbClr val="FF3399"/>
                </a:solidFill>
                <a:effectLst>
                  <a:outerShdw blurRad="38100" dist="38100" dir="2700000" algn="tl">
                    <a:srgbClr val="000000">
                      <a:alpha val="43137"/>
                    </a:srgbClr>
                  </a:outerShdw>
                </a:effectLst>
              </a:rPr>
              <a:t>{Many current 2FA Authentication Apps generate these}</a:t>
            </a:r>
          </a:p>
          <a:p>
            <a:r>
              <a:rPr lang="en-US" altLang="en-US" b="1" i="1" u="sng" dirty="0">
                <a:solidFill>
                  <a:srgbClr val="0070C0"/>
                </a:solidFill>
                <a:effectLst>
                  <a:outerShdw blurRad="38100" dist="38100" dir="2700000" algn="tl">
                    <a:srgbClr val="000000">
                      <a:alpha val="43137"/>
                    </a:srgbClr>
                  </a:outerShdw>
                </a:effectLst>
              </a:rPr>
              <a:t>SAML</a:t>
            </a:r>
          </a:p>
          <a:p>
            <a:pPr lvl="1"/>
            <a:r>
              <a:rPr lang="en-US" altLang="en-US" dirty="0"/>
              <a:t>Security Assessment Markup Language</a:t>
            </a:r>
          </a:p>
        </p:txBody>
      </p:sp>
    </p:spTree>
    <p:extLst>
      <p:ext uri="{BB962C8B-B14F-4D97-AF65-F5344CB8AC3E}">
        <p14:creationId xmlns:p14="http://schemas.microsoft.com/office/powerpoint/2010/main" val="22173069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en-US" altLang="en-US" sz="4000" dirty="0"/>
              <a:t>OS Level of Access Control </a:t>
            </a:r>
          </a:p>
        </p:txBody>
      </p:sp>
      <p:sp>
        <p:nvSpPr>
          <p:cNvPr id="11267" name="Content Placeholder 3"/>
          <p:cNvSpPr>
            <a:spLocks noGrp="1"/>
          </p:cNvSpPr>
          <p:nvPr>
            <p:ph idx="1"/>
          </p:nvPr>
        </p:nvSpPr>
        <p:spPr>
          <a:xfrm>
            <a:off x="2209800" y="1371600"/>
            <a:ext cx="6477000" cy="4525963"/>
          </a:xfrm>
        </p:spPr>
        <p:txBody>
          <a:bodyPr>
            <a:normAutofit fontScale="77500" lnSpcReduction="20000"/>
          </a:bodyPr>
          <a:lstStyle/>
          <a:p>
            <a:pPr>
              <a:buFontTx/>
              <a:buNone/>
              <a:defRPr/>
            </a:pPr>
            <a:r>
              <a:rPr lang="en-US" b="1" i="1" u="sng" dirty="0">
                <a:effectLst>
                  <a:outerShdw blurRad="38100" dist="38100" dir="2700000" algn="tl">
                    <a:srgbClr val="000000">
                      <a:alpha val="43137"/>
                    </a:srgbClr>
                  </a:outerShdw>
                </a:effectLst>
                <a:highlight>
                  <a:srgbClr val="FFFF00"/>
                </a:highlight>
              </a:rPr>
              <a:t>Five</a:t>
            </a:r>
            <a:r>
              <a:rPr lang="en-US" b="1" dirty="0"/>
              <a:t> primary methods</a:t>
            </a:r>
          </a:p>
          <a:p>
            <a:pPr>
              <a:defRPr/>
            </a:pPr>
            <a:r>
              <a:rPr lang="en-US" dirty="0"/>
              <a:t>Mandatory access control (</a:t>
            </a:r>
            <a:r>
              <a:rPr lang="en-US" b="1" i="1" u="sng" dirty="0">
                <a:solidFill>
                  <a:srgbClr val="0070C0"/>
                </a:solidFill>
                <a:effectLst>
                  <a:outerShdw blurRad="38100" dist="38100" dir="2700000" algn="tl">
                    <a:srgbClr val="000000">
                      <a:alpha val="43137"/>
                    </a:srgbClr>
                  </a:outerShdw>
                </a:effectLst>
              </a:rPr>
              <a:t>MAC</a:t>
            </a:r>
            <a:r>
              <a:rPr lang="en-US" dirty="0"/>
              <a:t>) </a:t>
            </a:r>
          </a:p>
          <a:p>
            <a:pPr lvl="1" indent="-342900">
              <a:defRPr/>
            </a:pPr>
            <a:r>
              <a:rPr lang="en-US" sz="2400" dirty="0"/>
              <a:t>All access predefined</a:t>
            </a:r>
          </a:p>
          <a:p>
            <a:pPr>
              <a:defRPr/>
            </a:pPr>
            <a:r>
              <a:rPr lang="en-US" dirty="0"/>
              <a:t>Discretionary access control (</a:t>
            </a:r>
            <a:r>
              <a:rPr lang="en-US" b="1" i="1" u="sng" dirty="0">
                <a:solidFill>
                  <a:srgbClr val="0070C0"/>
                </a:solidFill>
                <a:effectLst>
                  <a:outerShdw blurRad="38100" dist="38100" dir="2700000" algn="tl">
                    <a:srgbClr val="000000">
                      <a:alpha val="43137"/>
                    </a:srgbClr>
                  </a:outerShdw>
                </a:effectLst>
              </a:rPr>
              <a:t>DAC</a:t>
            </a:r>
            <a:r>
              <a:rPr lang="en-US" dirty="0"/>
              <a:t>) </a:t>
            </a:r>
          </a:p>
          <a:p>
            <a:pPr lvl="1">
              <a:defRPr/>
            </a:pPr>
            <a:r>
              <a:rPr lang="en-US" sz="2100" dirty="0"/>
              <a:t>Incorporates</a:t>
            </a:r>
            <a:r>
              <a:rPr lang="en-US" sz="2000" b="0" dirty="0"/>
              <a:t> some flexibility</a:t>
            </a:r>
            <a:endParaRPr lang="en-US" sz="2400" b="0" dirty="0"/>
          </a:p>
          <a:p>
            <a:pPr>
              <a:defRPr/>
            </a:pPr>
            <a:r>
              <a:rPr lang="en-US" dirty="0"/>
              <a:t>Role-based access control (</a:t>
            </a:r>
            <a:r>
              <a:rPr lang="en-US" b="1" i="1" u="sng" dirty="0">
                <a:solidFill>
                  <a:srgbClr val="0070C0"/>
                </a:solidFill>
                <a:effectLst>
                  <a:outerShdw blurRad="38100" dist="38100" dir="2700000" algn="tl">
                    <a:srgbClr val="000000">
                      <a:alpha val="43137"/>
                    </a:srgbClr>
                  </a:outerShdw>
                </a:effectLst>
              </a:rPr>
              <a:t>RBAC</a:t>
            </a:r>
            <a:r>
              <a:rPr lang="en-US" dirty="0"/>
              <a:t>) </a:t>
            </a:r>
          </a:p>
          <a:p>
            <a:pPr lvl="1">
              <a:defRPr/>
            </a:pPr>
            <a:r>
              <a:rPr lang="en-US" sz="2000" b="0" dirty="0"/>
              <a:t>Allows the user’s role to dictate access capabilities</a:t>
            </a:r>
            <a:endParaRPr lang="en-US" sz="2400" b="0" dirty="0"/>
          </a:p>
          <a:p>
            <a:pPr>
              <a:defRPr/>
            </a:pPr>
            <a:r>
              <a:rPr lang="en-US" dirty="0"/>
              <a:t>Rule-based access control (</a:t>
            </a:r>
            <a:r>
              <a:rPr lang="en-US" b="1" i="1" u="sng" dirty="0">
                <a:solidFill>
                  <a:srgbClr val="0070C0"/>
                </a:solidFill>
                <a:effectLst>
                  <a:outerShdw blurRad="38100" dist="38100" dir="2700000" algn="tl">
                    <a:srgbClr val="000000">
                      <a:alpha val="43137"/>
                    </a:srgbClr>
                  </a:outerShdw>
                </a:effectLst>
              </a:rPr>
              <a:t>RBAC</a:t>
            </a:r>
            <a:r>
              <a:rPr lang="en-US" dirty="0"/>
              <a:t>)</a:t>
            </a:r>
          </a:p>
          <a:p>
            <a:pPr lvl="1" indent="-342900">
              <a:defRPr/>
            </a:pPr>
            <a:r>
              <a:rPr lang="en-US" sz="2400" dirty="0"/>
              <a:t>Limits user to preconfigured policies</a:t>
            </a:r>
          </a:p>
          <a:p>
            <a:pPr lvl="1" indent="-342900">
              <a:defRPr/>
            </a:pPr>
            <a:r>
              <a:rPr lang="en-US" sz="2400" dirty="0" err="1"/>
              <a:t>RuleBAC</a:t>
            </a:r>
            <a:endParaRPr lang="en-US" sz="2400" dirty="0"/>
          </a:p>
          <a:p>
            <a:pPr>
              <a:defRPr/>
            </a:pPr>
            <a:r>
              <a:rPr lang="en-US" dirty="0"/>
              <a:t>Attribute-based access control (</a:t>
            </a:r>
            <a:r>
              <a:rPr lang="en-US" b="1" i="1" u="sng" dirty="0">
                <a:solidFill>
                  <a:srgbClr val="0070C0"/>
                </a:solidFill>
                <a:effectLst>
                  <a:outerShdw blurRad="38100" dist="38100" dir="2700000" algn="tl">
                    <a:srgbClr val="000000">
                      <a:alpha val="43137"/>
                    </a:srgbClr>
                  </a:outerShdw>
                </a:effectLst>
              </a:rPr>
              <a:t>ABAC</a:t>
            </a:r>
            <a:r>
              <a:rPr lang="en-US" dirty="0"/>
              <a:t>) 	</a:t>
            </a:r>
            <a:r>
              <a:rPr lang="en-US" sz="2300" dirty="0"/>
              <a:t>Considers all of the various attributes associated 	with the subject and object in making the access 	control decision</a:t>
            </a:r>
          </a:p>
          <a:p>
            <a:pPr>
              <a:buFontTx/>
              <a:buNone/>
              <a:defRPr/>
            </a:pPr>
            <a:endParaRPr lang="en-US" dirty="0"/>
          </a:p>
        </p:txBody>
      </p:sp>
    </p:spTree>
    <p:extLst>
      <p:ext uri="{BB962C8B-B14F-4D97-AF65-F5344CB8AC3E}">
        <p14:creationId xmlns:p14="http://schemas.microsoft.com/office/powerpoint/2010/main" val="3688623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normAutofit/>
          </a:bodyPr>
          <a:lstStyle/>
          <a:p>
            <a:endParaRPr lang="en-US" altLang="en-US" dirty="0"/>
          </a:p>
        </p:txBody>
      </p:sp>
      <p:sp>
        <p:nvSpPr>
          <p:cNvPr id="12291" name="Content Placeholder 3"/>
          <p:cNvSpPr>
            <a:spLocks noGrp="1"/>
          </p:cNvSpPr>
          <p:nvPr>
            <p:ph idx="1"/>
          </p:nvPr>
        </p:nvSpPr>
        <p:spPr/>
        <p:txBody>
          <a:bodyPr/>
          <a:lstStyle/>
          <a:p>
            <a:r>
              <a:rPr lang="en-US" altLang="en-US" b="1" i="1" u="sng" dirty="0">
                <a:solidFill>
                  <a:srgbClr val="FF0000"/>
                </a:solidFill>
                <a:effectLst>
                  <a:outerShdw blurRad="38100" dist="38100" dir="2700000" algn="tl">
                    <a:srgbClr val="000000">
                      <a:alpha val="43137"/>
                    </a:srgbClr>
                  </a:outerShdw>
                </a:effectLst>
              </a:rPr>
              <a:t>Smart Cards</a:t>
            </a:r>
          </a:p>
          <a:p>
            <a:pPr lvl="1"/>
            <a:r>
              <a:rPr lang="en-US" dirty="0"/>
              <a:t>Any pocket-sized card that has embedded integrated circuits (IC)</a:t>
            </a:r>
            <a:endParaRPr lang="en-US" altLang="en-US" b="1" i="1" u="sng" dirty="0">
              <a:effectLst>
                <a:outerShdw blurRad="38100" dist="38100" dir="2700000" algn="tl">
                  <a:srgbClr val="000000">
                    <a:alpha val="43137"/>
                  </a:srgbClr>
                </a:outerShdw>
              </a:effectLst>
            </a:endParaRPr>
          </a:p>
          <a:p>
            <a:pPr lvl="1"/>
            <a:r>
              <a:rPr lang="en-US" altLang="en-US" b="1" i="1" u="sng" dirty="0">
                <a:effectLst>
                  <a:outerShdw blurRad="38100" dist="38100" dir="2700000" algn="tl">
                    <a:srgbClr val="000000">
                      <a:alpha val="43137"/>
                    </a:srgbClr>
                  </a:outerShdw>
                </a:effectLst>
              </a:rPr>
              <a:t>Common Access Card </a:t>
            </a:r>
            <a:r>
              <a:rPr lang="en-US" altLang="en-US" dirty="0"/>
              <a:t>(</a:t>
            </a:r>
            <a:r>
              <a:rPr lang="en-US" altLang="en-US" b="1" i="1" u="sng" dirty="0">
                <a:solidFill>
                  <a:srgbClr val="0070C0"/>
                </a:solidFill>
                <a:effectLst>
                  <a:outerShdw blurRad="38100" dist="38100" dir="2700000" algn="tl">
                    <a:srgbClr val="000000">
                      <a:alpha val="43137"/>
                    </a:srgbClr>
                  </a:outerShdw>
                </a:effectLst>
              </a:rPr>
              <a:t>CAC</a:t>
            </a:r>
            <a:r>
              <a:rPr lang="en-US" altLang="en-US" dirty="0"/>
              <a:t>)</a:t>
            </a:r>
          </a:p>
          <a:p>
            <a:pPr lvl="1"/>
            <a:r>
              <a:rPr lang="en-US" altLang="en-US" b="1" i="1" u="sng" dirty="0">
                <a:effectLst>
                  <a:outerShdw blurRad="38100" dist="38100" dir="2700000" algn="tl">
                    <a:srgbClr val="000000">
                      <a:alpha val="43137"/>
                    </a:srgbClr>
                  </a:outerShdw>
                </a:effectLst>
              </a:rPr>
              <a:t>Personal Identification Verification Card </a:t>
            </a:r>
            <a:r>
              <a:rPr lang="en-US" altLang="en-US" dirty="0"/>
              <a:t>(</a:t>
            </a:r>
            <a:r>
              <a:rPr lang="en-US" altLang="en-US" b="1" i="1" u="sng" dirty="0">
                <a:solidFill>
                  <a:srgbClr val="0070C0"/>
                </a:solidFill>
                <a:effectLst>
                  <a:outerShdw blurRad="38100" dist="38100" dir="2700000" algn="tl">
                    <a:srgbClr val="000000">
                      <a:alpha val="43137"/>
                    </a:srgbClr>
                  </a:outerShdw>
                </a:effectLst>
              </a:rPr>
              <a:t>PIV</a:t>
            </a:r>
            <a:r>
              <a:rPr lang="en-US" altLang="en-US" dirty="0"/>
              <a:t>)</a:t>
            </a:r>
          </a:p>
          <a:p>
            <a:pPr>
              <a:buFontTx/>
              <a:buNone/>
            </a:pPr>
            <a:endParaRPr lang="en-US" altLang="en-US" dirty="0"/>
          </a:p>
        </p:txBody>
      </p:sp>
    </p:spTree>
    <p:extLst>
      <p:ext uri="{BB962C8B-B14F-4D97-AF65-F5344CB8AC3E}">
        <p14:creationId xmlns:p14="http://schemas.microsoft.com/office/powerpoint/2010/main" val="29076229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1988</TotalTime>
  <Words>827</Words>
  <Application>Microsoft Office PowerPoint</Application>
  <PresentationFormat>On-screen Show (4:3)</PresentationFormat>
  <Paragraphs>146</Paragraphs>
  <Slides>16</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Times New Roman</vt:lpstr>
      <vt:lpstr>Office Theme</vt:lpstr>
      <vt:lpstr>CompTIA Security+ Study Guide (SY0-501)</vt:lpstr>
      <vt:lpstr>Chapter 4: Identity and Access Management</vt:lpstr>
      <vt:lpstr>Tools to Assess Your Network</vt:lpstr>
      <vt:lpstr>Tools to Assess Your Network Continued</vt:lpstr>
      <vt:lpstr>Command-Line Tools</vt:lpstr>
      <vt:lpstr>Additional Tools</vt:lpstr>
      <vt:lpstr>Troubleshooting Common Security Issues</vt:lpstr>
      <vt:lpstr>Security Technologies</vt:lpstr>
      <vt:lpstr>Identification vs. Authentication</vt:lpstr>
      <vt:lpstr>PowerPoint Presentation</vt:lpstr>
      <vt:lpstr>PowerPoint Presentation</vt:lpstr>
      <vt:lpstr>Potential Authentication and Access Problems</vt:lpstr>
      <vt:lpstr>Security Protocols</vt:lpstr>
      <vt:lpstr> Access Control, Authentication, and Authorization</vt:lpstr>
      <vt:lpstr>OS Level of Access Control </vt:lpstr>
      <vt:lpstr>PowerPoint Presentation</vt:lpstr>
    </vt:vector>
  </TitlesOfParts>
  <Company>John Wiley and Sons,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O'Brien, Connor - San Francisco</dc:creator>
  <cp:lastModifiedBy>Ricky Gibson</cp:lastModifiedBy>
  <cp:revision>32</cp:revision>
  <dcterms:created xsi:type="dcterms:W3CDTF">2013-06-05T20:52:46Z</dcterms:created>
  <dcterms:modified xsi:type="dcterms:W3CDTF">2020-03-02T22:10:23Z</dcterms:modified>
</cp:coreProperties>
</file>