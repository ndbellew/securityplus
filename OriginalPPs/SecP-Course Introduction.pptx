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15"/>
  </p:notesMasterIdLst>
  <p:sldIdLst>
    <p:sldId id="256" r:id="rId2"/>
    <p:sldId id="259" r:id="rId3"/>
    <p:sldId id="266" r:id="rId4"/>
    <p:sldId id="287" r:id="rId5"/>
    <p:sldId id="285" r:id="rId6"/>
    <p:sldId id="278" r:id="rId7"/>
    <p:sldId id="288" r:id="rId8"/>
    <p:sldId id="260" r:id="rId9"/>
    <p:sldId id="277" r:id="rId10"/>
    <p:sldId id="279" r:id="rId11"/>
    <p:sldId id="280" r:id="rId12"/>
    <p:sldId id="281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6600"/>
    <a:srgbClr val="FF3399"/>
    <a:srgbClr val="FFCC99"/>
    <a:srgbClr val="FF7C80"/>
    <a:srgbClr val="FF0000"/>
    <a:srgbClr val="CC99FF"/>
    <a:srgbClr val="99FF66"/>
    <a:srgbClr val="00000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4581" autoAdjust="0"/>
    <p:restoredTop sz="90929"/>
  </p:normalViewPr>
  <p:slideViewPr>
    <p:cSldViewPr>
      <p:cViewPr varScale="1">
        <p:scale>
          <a:sx n="87" d="100"/>
          <a:sy n="87" d="100"/>
        </p:scale>
        <p:origin x="193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313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7AD8389-6D87-4CD7-90AB-FBC08E2387E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028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39D14F-5EA6-41E5-AAC8-6D67333C3502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following Course Materials are provided: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Kindle Textbook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NOTE – you will receive (in your Email-Of-Record) to purchase and download your copy of the E-Book into the Free Kindle Reader application for PCs.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Complete Instructions on Downloading and Installing the Kindle Free Reader is provided in the Files Pod (a.k.a., Course File Share)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Custom PowerPoint Slides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Sample Power Shell Script Code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Available from the Textbook web-site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{see Instructions in the Preface of the Textbook}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[additional References as deemed necessary by the Instructor]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These are generally PDF files in the Files Pod (Course File Share)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AD8389-6D87-4CD7-90AB-FBC08E2387E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25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340428"/>
            <a:ext cx="9144000" cy="4572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BD8-DAA7-440A-BC41-CABD1FCB594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44196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1700" b="1" baseline="0">
                <a:solidFill>
                  <a:srgbClr val="FFC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 b="1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IQ-Share Logo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181600" y="228600"/>
            <a:ext cx="3733800" cy="1550709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9" name="Picture 8" descr="IQ-Share Logo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228600" y="6245601"/>
            <a:ext cx="1219200" cy="5063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24087" y="6322483"/>
            <a:ext cx="2591025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501650"/>
          </a:xfrm>
        </p:spPr>
        <p:txBody>
          <a:bodyPr/>
          <a:lstStyle>
            <a:lvl1pPr>
              <a:defRPr b="1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228600" y="990600"/>
            <a:ext cx="8686800" cy="510540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401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1334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rgbClr val="FFC000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99C1-B502-408C-851D-83DBFAA8897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IQ-Share 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9600" y="6240521"/>
            <a:ext cx="1219200" cy="50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84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4351E-8690-46CF-B3B4-E8AB4B92A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52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78673-1EBD-4550-9752-05BCF6B555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7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5635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92F7C-F03C-4F22-9DE9-30576CEFD9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46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9A13-85B8-44BD-B88D-42E0432334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5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A14-2454-4B0F-B9C7-DDE6405EF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61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17A1-31C4-454F-9DB6-884F18BBC6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IQ-Share Logo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09600" y="6108341"/>
            <a:ext cx="1219200" cy="50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88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ADDE7-E57C-46A1-90C8-57B5EF3201A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80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4672-6D41-417D-A15A-D0A490FB0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20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4873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14400"/>
            <a:ext cx="8686800" cy="5333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52F0BBD8-DAA7-440A-BC41-CABD1FCB594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IQ-Share Logo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601133" y="6103173"/>
            <a:ext cx="1219200" cy="50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122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000" b="1" u="sng" kern="1200" cap="all" spc="50" baseline="0">
          <a:solidFill>
            <a:srgbClr val="FFC000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4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2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0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8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6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drrick@iqcx.net" TargetMode="External"/><Relationship Id="rId2" Type="http://schemas.openxmlformats.org/officeDocument/2006/relationships/hyperlink" Target="mailto:rgibson@iq-share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bvansickle@iq-share.com" TargetMode="External"/><Relationship Id="rId4" Type="http://schemas.openxmlformats.org/officeDocument/2006/relationships/hyperlink" Target="mailto:drrxofc@risebroadband.net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rgibson@iq-share.co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dobe.com/products/adobeconnect/apps/adobe-connectmobile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BA6BB780-0ADC-4BCC-9692-808C7C6A6294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4114800"/>
            <a:ext cx="7620000" cy="1828800"/>
          </a:xfrm>
        </p:spPr>
        <p:txBody>
          <a:bodyPr/>
          <a:lstStyle/>
          <a:p>
            <a:pPr algn="ctr">
              <a:spcBef>
                <a:spcPts val="0"/>
              </a:spcBef>
            </a:pPr>
            <a:r>
              <a:rPr lang="en-US" sz="3600" dirty="0"/>
              <a:t>Course Introduction</a:t>
            </a:r>
            <a:endParaRPr lang="en-US" dirty="0"/>
          </a:p>
          <a:p>
            <a:pPr algn="ctr">
              <a:spcBef>
                <a:spcPts val="0"/>
              </a:spcBef>
            </a:pPr>
            <a:r>
              <a:rPr lang="en-US" dirty="0"/>
              <a:t>Text Reference :None</a:t>
            </a:r>
          </a:p>
          <a:p>
            <a:pPr>
              <a:spcBef>
                <a:spcPts val="0"/>
              </a:spcBef>
            </a:pPr>
            <a:endParaRPr lang="en-US" dirty="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1905000"/>
            <a:ext cx="7772400" cy="1600200"/>
          </a:xfrm>
        </p:spPr>
        <p:txBody>
          <a:bodyPr>
            <a:normAutofit/>
          </a:bodyPr>
          <a:lstStyle/>
          <a:p>
            <a:pPr algn="l"/>
            <a:r>
              <a:rPr lang="en-US" dirty="0" err="1"/>
              <a:t>Comptia</a:t>
            </a:r>
            <a:r>
              <a:rPr lang="en-US" dirty="0"/>
              <a:t> security  Plus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10600" cy="762000"/>
          </a:xfrm>
        </p:spPr>
        <p:txBody>
          <a:bodyPr>
            <a:normAutofit/>
          </a:bodyPr>
          <a:lstStyle/>
          <a:p>
            <a:r>
              <a:rPr lang="en-US" dirty="0"/>
              <a:t>Welcome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9FE1-EFD1-41A5-8085-DF4D87AE07C7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32771" name="Rectangle 1027"/>
          <p:cNvSpPr>
            <a:spLocks noGrp="1" noChangeArrowheads="1"/>
          </p:cNvSpPr>
          <p:nvPr>
            <p:ph sz="quarter" idx="13"/>
          </p:nvPr>
        </p:nvSpPr>
        <p:spPr>
          <a:xfrm>
            <a:off x="228600" y="914400"/>
            <a:ext cx="8713788" cy="52578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“</a:t>
            </a:r>
            <a:r>
              <a:rPr lang="en-US" sz="2800" b="1" i="1" u="sng" dirty="0">
                <a:solidFill>
                  <a:srgbClr val="00B0F0"/>
                </a:solidFill>
              </a:rPr>
              <a:t>Security Plus</a:t>
            </a:r>
            <a:r>
              <a:rPr lang="en-US" sz="2800" dirty="0"/>
              <a:t>”</a:t>
            </a:r>
          </a:p>
          <a:p>
            <a:pPr lvl="1"/>
            <a:r>
              <a:rPr lang="en-US" b="1" i="1" u="sng" dirty="0"/>
              <a:t>Custom</a:t>
            </a:r>
            <a:r>
              <a:rPr lang="en-US" dirty="0"/>
              <a:t> Virtual Instructor Led Training (VILT) course specifically for LS</a:t>
            </a:r>
          </a:p>
          <a:p>
            <a:pPr lvl="2"/>
            <a:r>
              <a:rPr lang="en-US" dirty="0"/>
              <a:t>Total of 10 Sessions (4 hours per session)</a:t>
            </a:r>
          </a:p>
          <a:p>
            <a:pPr lvl="3"/>
            <a:r>
              <a:rPr lang="en-US" dirty="0"/>
              <a:t>Last Session = </a:t>
            </a:r>
            <a:r>
              <a:rPr lang="en-US" b="1" i="1" u="sng" dirty="0">
                <a:solidFill>
                  <a:schemeClr val="bg1"/>
                </a:solidFill>
                <a:highlight>
                  <a:srgbClr val="FFFF00"/>
                </a:highlight>
              </a:rPr>
              <a:t>Wednesday May 06, 2020</a:t>
            </a:r>
          </a:p>
          <a:p>
            <a:pPr lvl="2"/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Monday and  Wednesday evenings</a:t>
            </a:r>
          </a:p>
          <a:p>
            <a:pPr lvl="3"/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– we should have ample time to cover all the material ... </a:t>
            </a:r>
            <a:r>
              <a:rPr lang="en-US" b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</a:t>
            </a:r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</a:t>
            </a:r>
            <a:endParaRPr lang="en-US" b="1" i="1" u="sng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/>
              <a:t>The latest in:</a:t>
            </a:r>
          </a:p>
          <a:p>
            <a:pPr lvl="1"/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</a:t>
            </a:r>
            <a:r>
              <a:rPr lang="en-US" b="1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Concepts</a:t>
            </a:r>
          </a:p>
          <a:p>
            <a:pPr lvl="1"/>
            <a:r>
              <a:rPr lang="en-US" b="1" i="1" u="sng" dirty="0">
                <a:solidFill>
                  <a:srgbClr val="FF0000"/>
                </a:solidFill>
              </a:rPr>
              <a:t>Security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</a:rPr>
              <a:t>Best Practices</a:t>
            </a:r>
          </a:p>
          <a:p>
            <a:pPr lvl="1"/>
            <a:r>
              <a:rPr lang="en-US" b="1" i="1" u="sng" dirty="0">
                <a:solidFill>
                  <a:srgbClr val="FF0000"/>
                </a:solidFill>
              </a:rPr>
              <a:t>Security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FF00"/>
                </a:solidFill>
              </a:rPr>
              <a:t>Expectations</a:t>
            </a:r>
          </a:p>
          <a:p>
            <a:r>
              <a:rPr lang="en-US" dirty="0"/>
              <a:t>We Utilize </a:t>
            </a:r>
            <a:r>
              <a:rPr 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Adobe Connect </a:t>
            </a:r>
            <a:r>
              <a:rPr lang="en-US" dirty="0"/>
              <a:t>for our On-Line delivery of Course Information</a:t>
            </a:r>
          </a:p>
          <a:p>
            <a:pPr lvl="1"/>
            <a:r>
              <a:rPr lang="en-US" b="1" dirty="0"/>
              <a:t>“</a:t>
            </a:r>
            <a:r>
              <a:rPr lang="en-US" b="1" dirty="0">
                <a:solidFill>
                  <a:srgbClr val="00B050"/>
                </a:solidFill>
              </a:rPr>
              <a:t>AC</a:t>
            </a:r>
            <a:r>
              <a:rPr lang="en-US" b="1" dirty="0"/>
              <a:t>”, for short</a:t>
            </a:r>
          </a:p>
          <a:p>
            <a:pPr lvl="2"/>
            <a:r>
              <a:rPr lang="en-US" b="1" i="1" u="sng" dirty="0">
                <a:solidFill>
                  <a:srgbClr val="FF3399"/>
                </a:solidFill>
              </a:rPr>
              <a:t>{ Demo Shortly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>
            <a:normAutofit/>
          </a:bodyPr>
          <a:lstStyle/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Contact Information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457200" y="990600"/>
            <a:ext cx="8153400" cy="5135563"/>
          </a:xfrm>
        </p:spPr>
        <p:txBody>
          <a:bodyPr>
            <a:normAutofit lnSpcReduction="10000"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Rick Gibson</a:t>
            </a:r>
          </a:p>
          <a:p>
            <a:pPr lvl="1"/>
            <a:r>
              <a:rPr lang="en-US" b="1" u="sng" dirty="0"/>
              <a:t>(970) 556-5150 Cell</a:t>
            </a:r>
          </a:p>
          <a:p>
            <a:pPr lvl="2"/>
            <a:r>
              <a:rPr lang="en-US" u="sng" dirty="0">
                <a:solidFill>
                  <a:srgbClr val="FF3399"/>
                </a:solidFill>
              </a:rPr>
              <a:t>You may TEXT me </a:t>
            </a:r>
          </a:p>
          <a:p>
            <a:pPr lvl="3"/>
            <a:r>
              <a:rPr lang="en-US" u="sng" dirty="0">
                <a:solidFill>
                  <a:srgbClr val="FF3399"/>
                </a:solidFill>
              </a:rPr>
              <a:t>Please ID yourself in that text, should you use this feature </a:t>
            </a:r>
          </a:p>
          <a:p>
            <a:r>
              <a:rPr lang="en-US" b="1" u="sng" dirty="0"/>
              <a:t>Email:</a:t>
            </a:r>
          </a:p>
          <a:p>
            <a:pPr lvl="1"/>
            <a:r>
              <a:rPr lang="en-US" u="sng" dirty="0">
                <a:hlinkClick r:id="rId2"/>
              </a:rPr>
              <a:t>rgibson@iq-share.com</a:t>
            </a:r>
            <a:r>
              <a:rPr lang="en-US" u="sng" dirty="0"/>
              <a:t> (Main Email)</a:t>
            </a:r>
          </a:p>
          <a:p>
            <a:pPr lvl="1"/>
            <a:r>
              <a:rPr lang="en-US" u="sng" dirty="0">
                <a:hlinkClick r:id="rId3"/>
              </a:rPr>
              <a:t>drrick@iqcx.net</a:t>
            </a:r>
            <a:r>
              <a:rPr lang="en-US" u="sng" dirty="0"/>
              <a:t> (Alternate Email)</a:t>
            </a:r>
          </a:p>
          <a:p>
            <a:pPr lvl="1"/>
            <a:r>
              <a:rPr lang="en-US" u="sng" dirty="0">
                <a:hlinkClick r:id="rId4"/>
              </a:rPr>
              <a:t>drrxofc@risebroadband.net</a:t>
            </a:r>
            <a:r>
              <a:rPr lang="en-US" u="sng" dirty="0"/>
              <a:t> (Alternate Email)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Bryan VanSickle </a:t>
            </a:r>
            <a:r>
              <a:rPr lang="en-US" u="sng" dirty="0"/>
              <a:t>(IQ Customer Care)</a:t>
            </a:r>
          </a:p>
          <a:p>
            <a:pPr lvl="1"/>
            <a:r>
              <a:rPr lang="en-US" u="sng" dirty="0"/>
              <a:t>(303)  503-9212</a:t>
            </a:r>
          </a:p>
          <a:p>
            <a:pPr lvl="1"/>
            <a:r>
              <a:rPr lang="en-US" u="sng" dirty="0">
                <a:hlinkClick r:id="rId5"/>
              </a:rPr>
              <a:t>bvansickle@iq-share.com</a:t>
            </a:r>
            <a:endParaRPr lang="en-US" u="sn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28600" y="990600"/>
            <a:ext cx="8686800" cy="5257800"/>
          </a:xfrm>
        </p:spPr>
        <p:txBody>
          <a:bodyPr>
            <a:normAutofit/>
          </a:bodyPr>
          <a:lstStyle/>
          <a:p>
            <a:r>
              <a:rPr lang="en-US" sz="2800" dirty="0"/>
              <a:t>Course Materials:</a:t>
            </a:r>
          </a:p>
          <a:p>
            <a:pPr lvl="1"/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2400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+ Version 501</a:t>
            </a:r>
            <a:r>
              <a:rPr lang="en-US" sz="2400" b="1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</a:p>
          <a:p>
            <a:pPr lvl="2"/>
            <a:r>
              <a:rPr lang="en-US" sz="2400" b="1" dirty="0">
                <a:solidFill>
                  <a:srgbClr val="00B0F0"/>
                </a:solidFill>
              </a:rPr>
              <a:t>E-Book is in the AC Files Pod</a:t>
            </a:r>
          </a:p>
          <a:p>
            <a:r>
              <a:rPr lang="en-US" sz="2800" dirty="0"/>
              <a:t>[</a:t>
            </a:r>
            <a:r>
              <a:rPr 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 Slides</a:t>
            </a:r>
            <a:r>
              <a:rPr lang="en-US" sz="2800" dirty="0"/>
              <a:t>], as needed</a:t>
            </a:r>
          </a:p>
          <a:p>
            <a:pPr lvl="1"/>
            <a:r>
              <a:rPr lang="en-US" sz="2400" dirty="0"/>
              <a:t>This will </a:t>
            </a:r>
            <a:r>
              <a:rPr lang="en-US" sz="2400" i="1" u="sng" dirty="0"/>
              <a:t>likely be adjusted daily</a:t>
            </a:r>
            <a:r>
              <a:rPr lang="en-US" sz="2400" dirty="0"/>
              <a:t>, as questions / discussion arise</a:t>
            </a:r>
          </a:p>
          <a:p>
            <a:pPr lvl="1"/>
            <a:r>
              <a:rPr lang="en-US" sz="2400" dirty="0"/>
              <a:t>I will keep updated-copies in the </a:t>
            </a:r>
            <a:r>
              <a:rPr lang="en-US" sz="2400" b="1" i="1" dirty="0">
                <a:solidFill>
                  <a:srgbClr val="00B050"/>
                </a:solidFill>
              </a:rPr>
              <a:t>AC</a:t>
            </a:r>
            <a:r>
              <a:rPr lang="en-US" sz="2400" dirty="0"/>
              <a:t> “</a:t>
            </a:r>
            <a:r>
              <a:rPr lang="en-US" sz="2400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Files Pod</a:t>
            </a:r>
            <a:r>
              <a:rPr lang="en-US" sz="2400" dirty="0"/>
              <a:t>”, and will notify you of any CHANGED-FILES during each of the Sessions</a:t>
            </a:r>
          </a:p>
          <a:p>
            <a:r>
              <a:rPr lang="en-US" sz="2800" b="1" u="sng" dirty="0">
                <a:solidFill>
                  <a:srgbClr val="FFC000"/>
                </a:solidFill>
              </a:rPr>
              <a:t>Any Additional Materials (in answer to Student Questions)</a:t>
            </a:r>
          </a:p>
          <a:p>
            <a:r>
              <a:rPr lang="en-US" sz="2800" b="1" u="sng" dirty="0">
                <a:solidFill>
                  <a:srgbClr val="FF3399"/>
                </a:solidFill>
              </a:rPr>
              <a:t>FYI – SESSIONS ARE NOT Recorded </a:t>
            </a:r>
            <a:r>
              <a:rPr lang="en-US" sz="2800" b="1" u="sng" dirty="0">
                <a:solidFill>
                  <a:srgbClr val="00B050"/>
                </a:solidFill>
              </a:rPr>
              <a:t>at LMCO Request</a:t>
            </a:r>
          </a:p>
        </p:txBody>
      </p:sp>
    </p:spTree>
    <p:extLst>
      <p:ext uri="{BB962C8B-B14F-4D97-AF65-F5344CB8AC3E}">
        <p14:creationId xmlns:p14="http://schemas.microsoft.com/office/powerpoint/2010/main" val="1435130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Lab 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There will be work done </a:t>
            </a:r>
            <a:r>
              <a:rPr lang="en-US" b="1" i="1" u="sng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outside of our Virtual Sessions</a:t>
            </a:r>
          </a:p>
          <a:p>
            <a:pPr lvl="1"/>
            <a:r>
              <a:rPr lang="en-US" dirty="0"/>
              <a:t>Generally, for 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b="1" i="1" u="sng" dirty="0">
                <a:solidFill>
                  <a:srgbClr val="FFCC99"/>
                </a:solidFill>
              </a:rPr>
              <a:t>Reading</a:t>
            </a:r>
            <a:r>
              <a:rPr lang="en-US" dirty="0"/>
              <a:t> / </a:t>
            </a:r>
            <a:r>
              <a:rPr lang="en-US" b="1" i="1" u="sng" dirty="0">
                <a:solidFill>
                  <a:srgbClr val="FFCC99"/>
                </a:solidFill>
              </a:rPr>
              <a:t>Studying</a:t>
            </a:r>
            <a:r>
              <a:rPr lang="en-US" dirty="0"/>
              <a:t> what we covered in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Answering </a:t>
            </a:r>
            <a:r>
              <a:rPr lang="en-US" b="1" i="1" u="sng" dirty="0">
                <a:solidFill>
                  <a:srgbClr val="FF6600"/>
                </a:solidFill>
              </a:rPr>
              <a:t>Chapter Questions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b="1" i="1" u="sng" dirty="0">
                <a:solidFill>
                  <a:srgbClr val="00B0F0"/>
                </a:solidFill>
              </a:rPr>
              <a:t>BONUS QUESTIONS – DOC </a:t>
            </a:r>
          </a:p>
          <a:p>
            <a:r>
              <a:rPr lang="en-US" b="1" dirty="0">
                <a:solidFill>
                  <a:srgbClr val="FFC000"/>
                </a:solidFill>
              </a:rPr>
              <a:t>NOTE – The above work will be done on </a:t>
            </a:r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your time!</a:t>
            </a:r>
            <a:endParaRPr lang="en-US" b="1" dirty="0">
              <a:solidFill>
                <a:srgbClr val="FF7C80"/>
              </a:solidFill>
            </a:endParaRPr>
          </a:p>
          <a:p>
            <a:pPr lvl="1"/>
            <a:r>
              <a:rPr lang="en-US" b="1" dirty="0"/>
              <a:t>Actual time varies according to the assigned Homework</a:t>
            </a:r>
          </a:p>
          <a:p>
            <a:pPr lvl="2"/>
            <a:r>
              <a:rPr lang="en-US" b="1" i="1" u="sng" dirty="0">
                <a:solidFill>
                  <a:srgbClr val="FF7C80"/>
                </a:solidFill>
              </a:rPr>
              <a:t>Expect at least </a:t>
            </a:r>
            <a:r>
              <a:rPr lang="en-US" b="1" i="1" u="sng" dirty="0">
                <a:solidFill>
                  <a:srgbClr val="FFFF00"/>
                </a:solidFill>
              </a:rPr>
              <a:t>1-2 hour additional </a:t>
            </a:r>
            <a:r>
              <a:rPr lang="en-US" b="1" i="1" u="sng" dirty="0">
                <a:solidFill>
                  <a:srgbClr val="FF7C80"/>
                </a:solidFill>
              </a:rPr>
              <a:t>“Outside Study” per Session </a:t>
            </a:r>
            <a:r>
              <a:rPr lang="en-US" b="1" dirty="0"/>
              <a:t>to complete the Course</a:t>
            </a:r>
          </a:p>
          <a:p>
            <a:r>
              <a:rPr lang="en-US" b="1" dirty="0"/>
              <a:t>FYI – Testing:</a:t>
            </a:r>
          </a:p>
          <a:p>
            <a:pPr lvl="1"/>
            <a:r>
              <a:rPr lang="en-US" b="1" dirty="0"/>
              <a:t>Don’t rush to complete the test too quickly following Course Completion:</a:t>
            </a:r>
          </a:p>
          <a:p>
            <a:pPr lvl="2"/>
            <a:r>
              <a:rPr lang="en-US" b="1" dirty="0"/>
              <a:t>Give yourself approx. 3 weeks of regular preparation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10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Adobe Connect: Demonstration of Features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Window / Collaboration Layout </a:t>
            </a:r>
            <a:r>
              <a:rPr lang="en-US" dirty="0"/>
              <a:t>:: </a:t>
            </a:r>
          </a:p>
          <a:p>
            <a:pPr lvl="1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White Board</a:t>
            </a:r>
          </a:p>
          <a:p>
            <a:pPr lvl="2"/>
            <a:r>
              <a:rPr lang="en-US" dirty="0"/>
              <a:t>Please try to join 15 minutes early …</a:t>
            </a:r>
          </a:p>
          <a:p>
            <a:pPr lvl="3"/>
            <a:r>
              <a:rPr lang="en-US" dirty="0"/>
              <a:t>This way we do not delay the start of our Session with Connection Issues.</a:t>
            </a:r>
          </a:p>
          <a:p>
            <a:pPr lvl="2"/>
            <a:r>
              <a:rPr lang="en-US" dirty="0"/>
              <a:t>Where I place that Sessions Startup-Details</a:t>
            </a:r>
          </a:p>
          <a:p>
            <a:pPr lvl="3"/>
            <a:r>
              <a:rPr lang="en-US" dirty="0"/>
              <a:t>Usually, the White Board Contains:</a:t>
            </a:r>
          </a:p>
          <a:p>
            <a:pPr lvl="4"/>
            <a:r>
              <a:rPr lang="en-US" dirty="0"/>
              <a:t>A request to CHAT your Name so I know you are connected and working properly</a:t>
            </a:r>
          </a:p>
          <a:p>
            <a:pPr lvl="4"/>
            <a:r>
              <a:rPr lang="en-US" dirty="0"/>
              <a:t>What we will be covering that particular Session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Audio Conference</a:t>
            </a:r>
            <a:r>
              <a:rPr lang="en-US" dirty="0"/>
              <a:t> (when you first “connect” to AC…)</a:t>
            </a:r>
            <a:endParaRPr lang="en-US" b="1" i="1" u="sng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en-US" b="1" i="1" u="sng" dirty="0">
                <a:solidFill>
                  <a:srgbClr val="FF7C80"/>
                </a:solidFill>
              </a:rPr>
              <a:t>Audio Setup Wizard </a:t>
            </a:r>
            <a:r>
              <a:rPr lang="en-US" dirty="0"/>
              <a:t>(Mic. And Speakers)</a:t>
            </a:r>
          </a:p>
          <a:p>
            <a:pPr lvl="3"/>
            <a:r>
              <a:rPr lang="en-US" dirty="0"/>
              <a:t>To be run on YOUR end of the connection as soon as you connect with AC</a:t>
            </a:r>
          </a:p>
          <a:p>
            <a:pPr lvl="3"/>
            <a:r>
              <a:rPr lang="en-US" dirty="0"/>
              <a:t>NOTE – Audio and Video are DISABLED on My End UNTIL we start our Session</a:t>
            </a:r>
          </a:p>
          <a:p>
            <a:pPr lvl="2"/>
            <a:r>
              <a:rPr lang="en-US" b="1" i="1" u="sng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will be conducting “Audio Checks” as soon as we start our Session</a:t>
            </a:r>
          </a:p>
        </p:txBody>
      </p:sp>
    </p:spTree>
    <p:extLst>
      <p:ext uri="{BB962C8B-B14F-4D97-AF65-F5344CB8AC3E}">
        <p14:creationId xmlns:p14="http://schemas.microsoft.com/office/powerpoint/2010/main" val="774712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Adobe Connect: Demonstration …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28600" y="990600"/>
            <a:ext cx="86868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b="1" i="1" u="sng" dirty="0">
                <a:solidFill>
                  <a:srgbClr val="FF7C80"/>
                </a:solidFill>
              </a:rPr>
              <a:t>Video</a:t>
            </a:r>
          </a:p>
          <a:p>
            <a:pPr lvl="1"/>
            <a:r>
              <a:rPr lang="en-US" dirty="0"/>
              <a:t>Used to indicate the start of a Session / Lecture</a:t>
            </a:r>
          </a:p>
          <a:p>
            <a:pPr lvl="2"/>
            <a:r>
              <a:rPr lang="en-US" dirty="0"/>
              <a:t>Get your attention</a:t>
            </a:r>
          </a:p>
          <a:p>
            <a:pPr lvl="3"/>
            <a:r>
              <a:rPr lang="en-US" dirty="0"/>
              <a:t>Normally, I do not use the Video too much as it may slow down your reception</a:t>
            </a:r>
            <a:endParaRPr lang="en-US" b="1" i="1" u="sng" dirty="0">
              <a:solidFill>
                <a:srgbClr val="FF7C80"/>
              </a:solidFill>
            </a:endParaRPr>
          </a:p>
          <a:p>
            <a:r>
              <a:rPr lang="en-US" b="1" i="1" u="sng" dirty="0">
                <a:solidFill>
                  <a:srgbClr val="FF7C80"/>
                </a:solidFill>
              </a:rPr>
              <a:t>Raise Hand</a:t>
            </a:r>
          </a:p>
          <a:p>
            <a:pPr lvl="1"/>
            <a:r>
              <a:rPr lang="en-US" dirty="0"/>
              <a:t>Easy-To-Use, Large set of Icons near the bottom of your AC Screen</a:t>
            </a:r>
          </a:p>
          <a:p>
            <a:pPr lvl="1"/>
            <a:r>
              <a:rPr lang="en-US" dirty="0"/>
              <a:t>NOTE – When you click on any of the Icons, I receive </a:t>
            </a:r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Video and Audio Alert</a:t>
            </a:r>
          </a:p>
          <a:p>
            <a:r>
              <a:rPr lang="en-US" b="1" i="1" u="sng" dirty="0">
                <a:solidFill>
                  <a:srgbClr val="FF7C80"/>
                </a:solidFill>
              </a:rPr>
              <a:t>Chat</a:t>
            </a:r>
          </a:p>
          <a:p>
            <a:pPr lvl="1"/>
            <a:r>
              <a:rPr lang="en-US" dirty="0"/>
              <a:t>NOTE – Attendance is Generally Automatic (via the NH LMS), but send me a Chat with your name as soon as you connect, every day.</a:t>
            </a:r>
          </a:p>
          <a:p>
            <a:r>
              <a:rPr lang="en-US" dirty="0"/>
              <a:t>Normal Session Startup…</a:t>
            </a:r>
          </a:p>
          <a:p>
            <a:pPr lvl="1"/>
            <a:r>
              <a:rPr lang="en-US" dirty="0"/>
              <a:t>Start with white board during “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Login Period</a:t>
            </a:r>
            <a:r>
              <a:rPr lang="en-US" dirty="0"/>
              <a:t>”</a:t>
            </a:r>
          </a:p>
          <a:p>
            <a:pPr lvl="2"/>
            <a:r>
              <a:rPr lang="en-US" dirty="0"/>
              <a:t>Which starts at least 15 min. prior to our planned “Session Startup Time”</a:t>
            </a:r>
          </a:p>
          <a:p>
            <a:pPr lvl="1"/>
            <a:r>
              <a:rPr lang="en-US" b="1" u="sng" dirty="0">
                <a:solidFill>
                  <a:srgbClr val="FFC000"/>
                </a:solidFill>
              </a:rPr>
              <a:t>Audio / Video will start </a:t>
            </a:r>
            <a:r>
              <a:rPr lang="en-US" dirty="0">
                <a:solidFill>
                  <a:srgbClr val="FFC000"/>
                </a:solidFill>
              </a:rPr>
              <a:t>when “Login Period” has expired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478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Introductions</a:t>
            </a:r>
            <a:r>
              <a:rPr lang="en-US" dirty="0">
                <a:solidFill>
                  <a:srgbClr val="FF3399"/>
                </a:solidFill>
              </a:rPr>
              <a:t> (</a:t>
            </a:r>
            <a:r>
              <a:rPr lang="en-US" i="1" u="sng" dirty="0">
                <a:solidFill>
                  <a:srgbClr val="FF3399"/>
                </a:solidFill>
              </a:rPr>
              <a:t>Please send an email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Name and Title (or job function)</a:t>
            </a:r>
          </a:p>
          <a:p>
            <a:r>
              <a:rPr lang="en-US" dirty="0"/>
              <a:t>O/S Experience</a:t>
            </a:r>
          </a:p>
          <a:p>
            <a:pPr lvl="1"/>
            <a:r>
              <a:rPr lang="en-US" dirty="0"/>
              <a:t>Windows</a:t>
            </a:r>
          </a:p>
          <a:p>
            <a:pPr lvl="2"/>
            <a:r>
              <a:rPr lang="en-US" dirty="0"/>
              <a:t>Server</a:t>
            </a:r>
          </a:p>
          <a:p>
            <a:pPr lvl="2"/>
            <a:r>
              <a:rPr lang="en-US" dirty="0"/>
              <a:t>Client</a:t>
            </a:r>
          </a:p>
          <a:p>
            <a:pPr lvl="1"/>
            <a:r>
              <a:rPr lang="en-US" dirty="0"/>
              <a:t>Linux </a:t>
            </a:r>
          </a:p>
          <a:p>
            <a:pPr lvl="2"/>
            <a:r>
              <a:rPr lang="en-US" dirty="0"/>
              <a:t>Server</a:t>
            </a:r>
          </a:p>
          <a:p>
            <a:pPr lvl="2"/>
            <a:r>
              <a:rPr lang="en-US" dirty="0"/>
              <a:t>Client</a:t>
            </a:r>
          </a:p>
          <a:p>
            <a:pPr lvl="1"/>
            <a:r>
              <a:rPr lang="en-US" dirty="0"/>
              <a:t>OS X</a:t>
            </a:r>
          </a:p>
          <a:p>
            <a:r>
              <a:rPr lang="en-US" dirty="0"/>
              <a:t>Network Experience</a:t>
            </a:r>
          </a:p>
          <a:p>
            <a:r>
              <a:rPr lang="en-US" dirty="0"/>
              <a:t>Security Experience</a:t>
            </a:r>
          </a:p>
          <a:p>
            <a:r>
              <a:rPr lang="en-US" dirty="0"/>
              <a:t>Expectations</a:t>
            </a:r>
          </a:p>
          <a:p>
            <a:r>
              <a:rPr lang="en-US" dirty="0"/>
              <a:t>Other IQ-Share Courses you may have had in the past</a:t>
            </a:r>
          </a:p>
          <a:p>
            <a:r>
              <a:rPr lang="en-US" b="1" u="sng" dirty="0">
                <a:solidFill>
                  <a:srgbClr val="FF7C80"/>
                </a:solidFill>
              </a:rPr>
              <a:t>Send this all to </a:t>
            </a:r>
            <a:r>
              <a:rPr lang="en-US" dirty="0">
                <a:hlinkClick r:id="rId2"/>
              </a:rPr>
              <a:t>rgibson@iq-share.com</a:t>
            </a:r>
            <a:r>
              <a:rPr lang="en-US" dirty="0"/>
              <a:t> (by the end of First Break today, Monday)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Details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52400" y="882650"/>
            <a:ext cx="86868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Each AC Session is p/o the same </a:t>
            </a:r>
            <a:r>
              <a:rPr lang="en-US" dirty="0">
                <a:solidFill>
                  <a:srgbClr val="00B0F0"/>
                </a:solidFill>
              </a:rPr>
              <a:t>Adobe Connect </a:t>
            </a:r>
            <a:r>
              <a:rPr lang="en-US" dirty="0"/>
              <a:t>“</a:t>
            </a:r>
            <a:r>
              <a:rPr lang="en-US" b="1" u="sng" dirty="0">
                <a:solidFill>
                  <a:srgbClr val="FFC000"/>
                </a:solidFill>
              </a:rPr>
              <a:t>Meeting Room</a:t>
            </a:r>
            <a:r>
              <a:rPr lang="en-US" dirty="0"/>
              <a:t>” (based on a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URL</a:t>
            </a:r>
            <a:r>
              <a:rPr lang="en-US" dirty="0"/>
              <a:t>)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URLs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and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Dial-up numbers </a:t>
            </a:r>
            <a:r>
              <a:rPr lang="en-US" dirty="0"/>
              <a:t>are </a:t>
            </a:r>
            <a:r>
              <a:rPr lang="en-US" b="1" i="1" u="sng" dirty="0">
                <a:solidFill>
                  <a:srgbClr val="FF7C80"/>
                </a:solidFill>
              </a:rPr>
              <a:t>the same</a:t>
            </a:r>
            <a:r>
              <a:rPr lang="en-US" b="1" dirty="0">
                <a:solidFill>
                  <a:srgbClr val="FF7C80"/>
                </a:solidFill>
              </a:rPr>
              <a:t> throughout the Course of Sessions (Max. of 10 each)</a:t>
            </a:r>
            <a:r>
              <a:rPr lang="en-US" dirty="0">
                <a:solidFill>
                  <a:srgbClr val="FFC000"/>
                </a:solidFill>
              </a:rPr>
              <a:t>	</a:t>
            </a:r>
          </a:p>
          <a:p>
            <a:r>
              <a:rPr lang="en-US" dirty="0"/>
              <a:t>You have access to </a:t>
            </a:r>
            <a:r>
              <a:rPr lang="en-US" dirty="0">
                <a:solidFill>
                  <a:srgbClr val="FFC000"/>
                </a:solidFill>
              </a:rPr>
              <a:t>the URL </a:t>
            </a:r>
            <a:r>
              <a:rPr lang="en-US" b="1" i="1" u="sng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ANY TIME</a:t>
            </a:r>
            <a:endParaRPr lang="en-US" sz="2600" b="1" i="1" u="sng" dirty="0">
              <a:solidFill>
                <a:srgbClr val="FF7C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dirty="0"/>
              <a:t>{I do not need to be “logged-in” to the Session for you to access the URL 7x24}</a:t>
            </a:r>
          </a:p>
          <a:p>
            <a:pPr lvl="1"/>
            <a:r>
              <a:rPr lang="en-US" dirty="0"/>
              <a:t>Therefore, </a:t>
            </a:r>
            <a:r>
              <a:rPr lang="en-US" dirty="0">
                <a:solidFill>
                  <a:srgbClr val="FFC000"/>
                </a:solidFill>
              </a:rPr>
              <a:t>you are free to “</a:t>
            </a:r>
            <a:r>
              <a:rPr lang="en-US" b="1" i="1" u="sng" dirty="0">
                <a:solidFill>
                  <a:srgbClr val="FFC000"/>
                </a:solidFill>
              </a:rPr>
              <a:t>Connect</a:t>
            </a:r>
            <a:r>
              <a:rPr lang="en-US" dirty="0">
                <a:solidFill>
                  <a:srgbClr val="FFC000"/>
                </a:solidFill>
              </a:rPr>
              <a:t>” with the </a:t>
            </a:r>
            <a:r>
              <a:rPr lang="en-US" b="1" i="1" u="sng" dirty="0">
                <a:solidFill>
                  <a:srgbClr val="FFC000"/>
                </a:solidFill>
              </a:rPr>
              <a:t>Meeting Room </a:t>
            </a:r>
            <a:r>
              <a:rPr lang="en-US" dirty="0">
                <a:solidFill>
                  <a:srgbClr val="FFC000"/>
                </a:solidFill>
              </a:rPr>
              <a:t>to:</a:t>
            </a:r>
          </a:p>
          <a:p>
            <a:pPr lvl="2"/>
            <a:r>
              <a:rPr lang="en-US" b="1" i="1" u="sng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Copy the Chat window</a:t>
            </a:r>
          </a:p>
          <a:p>
            <a:pPr lvl="3"/>
            <a:r>
              <a:rPr lang="en-US" dirty="0"/>
              <a:t>Into which </a:t>
            </a:r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type numerous notes for your benefit</a:t>
            </a:r>
          </a:p>
          <a:p>
            <a:pPr lvl="3"/>
            <a:r>
              <a:rPr lang="en-US" dirty="0"/>
              <a:t>You will be responsible to copy any Chat-Notes yourself.</a:t>
            </a:r>
          </a:p>
          <a:p>
            <a:pPr lvl="2"/>
            <a:r>
              <a:rPr lang="en-US" b="1" i="1" u="sng" dirty="0">
                <a:solidFill>
                  <a:srgbClr val="FF7C80"/>
                </a:solidFill>
              </a:rPr>
              <a:t>Download Files from the Course File Share</a:t>
            </a:r>
          </a:p>
          <a:p>
            <a:pPr lvl="3"/>
            <a:r>
              <a:rPr lang="en-US" dirty="0"/>
              <a:t>“</a:t>
            </a:r>
            <a:r>
              <a:rPr 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Files POD</a:t>
            </a:r>
            <a:r>
              <a:rPr lang="en-US" dirty="0"/>
              <a:t>”, lower left corner of the Adobe Connect “Collaboration Window”.</a:t>
            </a:r>
          </a:p>
          <a:p>
            <a:pPr lvl="2"/>
            <a:r>
              <a:rPr lang="en-US" dirty="0"/>
              <a:t>Review any Homework Assignments, which will </a:t>
            </a:r>
            <a:r>
              <a:rPr lang="en-US" b="1" i="1" u="sng" dirty="0">
                <a:solidFill>
                  <a:srgbClr val="FFC000"/>
                </a:solidFill>
              </a:rPr>
              <a:t>always</a:t>
            </a:r>
            <a:r>
              <a:rPr lang="en-US" dirty="0"/>
              <a:t> be displayed on the </a:t>
            </a:r>
            <a:r>
              <a:rPr lang="en-US" b="1" i="1" u="sng" dirty="0">
                <a:solidFill>
                  <a:srgbClr val="FFC000"/>
                </a:solidFill>
              </a:rPr>
              <a:t>White Board</a:t>
            </a:r>
          </a:p>
        </p:txBody>
      </p:sp>
    </p:spTree>
    <p:extLst>
      <p:ext uri="{BB962C8B-B14F-4D97-AF65-F5344CB8AC3E}">
        <p14:creationId xmlns:p14="http://schemas.microsoft.com/office/powerpoint/2010/main" val="3107835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2400" y="381000"/>
            <a:ext cx="8763000" cy="609600"/>
          </a:xfrm>
        </p:spPr>
        <p:txBody>
          <a:bodyPr/>
          <a:lstStyle/>
          <a:p>
            <a:r>
              <a:rPr lang="en-US" dirty="0"/>
              <a:t>A Word on SmartPhones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3"/>
          </p:nvPr>
        </p:nvSpPr>
        <p:spPr>
          <a:xfrm>
            <a:off x="152400" y="1143000"/>
            <a:ext cx="8763000" cy="5135563"/>
          </a:xfrm>
        </p:spPr>
        <p:txBody>
          <a:bodyPr>
            <a:normAutofit/>
          </a:bodyPr>
          <a:lstStyle/>
          <a:p>
            <a:r>
              <a:rPr lang="en-US" dirty="0"/>
              <a:t>Yes! </a:t>
            </a:r>
            <a:r>
              <a:rPr lang="en-US" b="1" i="1" u="sng" dirty="0">
                <a:solidFill>
                  <a:srgbClr val="FF7C80"/>
                </a:solidFill>
              </a:rPr>
              <a:t>Adobe Connect </a:t>
            </a:r>
            <a:r>
              <a:rPr lang="en-US" dirty="0"/>
              <a:t>works with:</a:t>
            </a:r>
          </a:p>
          <a:p>
            <a:pPr lvl="1"/>
            <a:r>
              <a:rPr lang="en-US" b="1" i="1" u="sng" dirty="0">
                <a:solidFill>
                  <a:srgbClr val="FF7C80"/>
                </a:solidFill>
              </a:rPr>
              <a:t>iPhone</a:t>
            </a:r>
          </a:p>
          <a:p>
            <a:pPr lvl="1"/>
            <a:r>
              <a:rPr lang="en-US" b="1" i="1" u="sng" dirty="0">
                <a:solidFill>
                  <a:srgbClr val="FF7C80"/>
                </a:solidFill>
              </a:rPr>
              <a:t>Android</a:t>
            </a:r>
          </a:p>
          <a:p>
            <a:pPr lvl="2"/>
            <a:r>
              <a:rPr lang="en-US" dirty="0"/>
              <a:t>Any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3G / 4G </a:t>
            </a:r>
            <a:r>
              <a:rPr lang="en-US" dirty="0"/>
              <a:t>enabled device BUT …</a:t>
            </a:r>
          </a:p>
          <a:p>
            <a:pPr lvl="3"/>
            <a:r>
              <a:rPr lang="en-US" dirty="0"/>
              <a:t>You need to research the Adobe Connect site to set up your specific device !</a:t>
            </a:r>
          </a:p>
          <a:p>
            <a:pPr lvl="3"/>
            <a:r>
              <a:rPr lang="en-US" dirty="0"/>
              <a:t>URL</a:t>
            </a:r>
          </a:p>
          <a:p>
            <a:pPr lvl="3"/>
            <a:r>
              <a:rPr lang="en-US" u="sng" dirty="0">
                <a:hlinkClick r:id="rId2"/>
              </a:rPr>
              <a:t>http://www.adobe.com/products/adobeconnect/apps/adobe-connectmobile.html</a:t>
            </a:r>
            <a:r>
              <a:rPr lang="en-US" u="sng" dirty="0"/>
              <a:t> </a:t>
            </a:r>
          </a:p>
          <a:p>
            <a:pPr lvl="2"/>
            <a:r>
              <a:rPr lang="en-US" dirty="0"/>
              <a:t>You </a:t>
            </a:r>
            <a:r>
              <a:rPr lang="en-US" b="1" i="1" u="sng" dirty="0">
                <a:solidFill>
                  <a:srgbClr val="FFC000"/>
                </a:solidFill>
              </a:rPr>
              <a:t>may not have all the functionality</a:t>
            </a:r>
            <a:r>
              <a:rPr lang="en-US" dirty="0"/>
              <a:t> of the standard (non-mobile) client, but you can attend (only using a smaller screen).</a:t>
            </a:r>
          </a:p>
        </p:txBody>
      </p:sp>
      <p:sp>
        <p:nvSpPr>
          <p:cNvPr id="10" name="Footer Placeholder 3"/>
          <p:cNvSpPr txBox="1">
            <a:spLocks/>
          </p:cNvSpPr>
          <p:nvPr/>
        </p:nvSpPr>
        <p:spPr>
          <a:xfrm>
            <a:off x="3276600" y="65744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defPPr>
              <a:defRPr lang="en-US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2">
                    <a:shade val="50000"/>
                  </a:schemeClr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/>
              <a:t>Copyright  IQ Consulting Services 2009</a:t>
            </a:r>
          </a:p>
        </p:txBody>
      </p:sp>
      <p:sp>
        <p:nvSpPr>
          <p:cNvPr id="11" name="Slide Number Placeholder 4"/>
          <p:cNvSpPr txBox="1">
            <a:spLocks/>
          </p:cNvSpPr>
          <p:nvPr/>
        </p:nvSpPr>
        <p:spPr>
          <a:xfrm>
            <a:off x="8305800" y="65744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2">
                    <a:shade val="50000"/>
                  </a:schemeClr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10EF361D-460A-43E8-BEEA-4C966CB6690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51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We Communicate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990600"/>
            <a:ext cx="8686800" cy="53657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During the Sessions ::</a:t>
            </a:r>
          </a:p>
          <a:p>
            <a:pPr lvl="1"/>
            <a:r>
              <a:rPr lang="en-US" b="1" u="sng" dirty="0">
                <a:solidFill>
                  <a:srgbClr val="FF7C80"/>
                </a:solidFill>
              </a:rPr>
              <a:t>Audio is preferred</a:t>
            </a:r>
          </a:p>
          <a:p>
            <a:pPr lvl="2"/>
            <a:r>
              <a:rPr lang="en-US" b="1" i="1" u="sng" dirty="0">
                <a:solidFill>
                  <a:srgbClr val="FF6600"/>
                </a:solidFill>
              </a:rPr>
              <a:t>if you have a microphone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F6600"/>
                </a:solidFill>
              </a:rPr>
              <a:t>then</a:t>
            </a:r>
            <a:r>
              <a:rPr lang="en-US" dirty="0"/>
              <a:t> you </a:t>
            </a:r>
            <a:r>
              <a:rPr lang="en-US" b="1" i="1" u="sng" dirty="0">
                <a:solidFill>
                  <a:srgbClr val="FF6600"/>
                </a:solidFill>
              </a:rPr>
              <a:t>may use it to get my attention during the Session</a:t>
            </a:r>
          </a:p>
          <a:p>
            <a:pPr lvl="2"/>
            <a:r>
              <a:rPr lang="en-US" b="1" u="sng" dirty="0">
                <a:solidFill>
                  <a:srgbClr val="FFC000"/>
                </a:solidFill>
              </a:rPr>
              <a:t>Ask a question at any time</a:t>
            </a:r>
          </a:p>
          <a:p>
            <a:pPr lvl="3"/>
            <a:r>
              <a:rPr lang="en-US" dirty="0"/>
              <a:t>If I will be covering the answer to your question shortly, I will so-notify you.</a:t>
            </a:r>
            <a:endParaRPr lang="en-US" b="1" u="sng" dirty="0">
              <a:solidFill>
                <a:srgbClr val="FF7C80"/>
              </a:solidFill>
            </a:endParaRPr>
          </a:p>
          <a:p>
            <a:pPr lvl="1"/>
            <a:r>
              <a:rPr lang="en-US" b="1" u="sng" dirty="0">
                <a:solidFill>
                  <a:srgbClr val="FF7C80"/>
                </a:solidFill>
              </a:rPr>
              <a:t>CHAT</a:t>
            </a:r>
            <a:r>
              <a:rPr lang="en-US" b="1" u="sng" dirty="0">
                <a:solidFill>
                  <a:srgbClr val="FFC000"/>
                </a:solidFill>
              </a:rPr>
              <a:t> is the good alternate</a:t>
            </a:r>
            <a:r>
              <a:rPr lang="en-US" dirty="0"/>
              <a:t> should your microphone stop working</a:t>
            </a:r>
          </a:p>
          <a:p>
            <a:pPr lvl="2"/>
            <a:r>
              <a:rPr lang="en-US" dirty="0"/>
              <a:t>NOTE – Frequently during our Sessions (as a background task) I “Snap-shot” the CHAT WINDOW</a:t>
            </a:r>
          </a:p>
          <a:p>
            <a:pPr lvl="3"/>
            <a:r>
              <a:rPr lang="en-US" dirty="0"/>
              <a:t>Over time, AC will warn be that the CHAT window is becoming too large to “marshal” between all Session Attendees.  At that time I will SNAP-SHOT and CLEAR, first NOTIFYING you, so YOU CAN SAVE YOUR CHAT WINDOW!!! </a:t>
            </a:r>
          </a:p>
          <a:p>
            <a:r>
              <a:rPr lang="en-US" dirty="0"/>
              <a:t>Outside the Sessions ::</a:t>
            </a:r>
          </a:p>
          <a:p>
            <a:pPr lvl="1"/>
            <a:r>
              <a:rPr lang="en-US" dirty="0"/>
              <a:t>Always a “</a:t>
            </a:r>
            <a:r>
              <a:rPr lang="en-US" b="1" i="1" u="sng" dirty="0">
                <a:solidFill>
                  <a:srgbClr val="FF7C80"/>
                </a:solidFill>
              </a:rPr>
              <a:t>Student Pull</a:t>
            </a:r>
            <a:r>
              <a:rPr lang="en-US" dirty="0"/>
              <a:t>” Model …</a:t>
            </a:r>
          </a:p>
          <a:p>
            <a:pPr lvl="2"/>
            <a:r>
              <a:rPr lang="en-US" dirty="0"/>
              <a:t>You </a:t>
            </a:r>
            <a:r>
              <a:rPr lang="en-US" b="1" u="sng" dirty="0">
                <a:solidFill>
                  <a:srgbClr val="FF7C80"/>
                </a:solidFill>
              </a:rPr>
              <a:t>send an email </a:t>
            </a:r>
            <a:r>
              <a:rPr lang="en-US" dirty="0"/>
              <a:t>and …</a:t>
            </a:r>
          </a:p>
          <a:p>
            <a:pPr lvl="2"/>
            <a:r>
              <a:rPr lang="en-US" dirty="0">
                <a:solidFill>
                  <a:srgbClr val="FFC000"/>
                </a:solidFill>
              </a:rPr>
              <a:t>… </a:t>
            </a:r>
            <a:r>
              <a:rPr lang="en-US" b="1" i="1" u="sng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will respond </a:t>
            </a:r>
            <a:r>
              <a:rPr lang="en-US" dirty="0"/>
              <a:t>in one (or both) of the following ways:</a:t>
            </a:r>
          </a:p>
          <a:p>
            <a:pPr lvl="3"/>
            <a:r>
              <a:rPr lang="en-US" dirty="0">
                <a:solidFill>
                  <a:srgbClr val="FFC000"/>
                </a:solidFill>
              </a:rPr>
              <a:t>Place information in our “File Share</a:t>
            </a:r>
            <a:r>
              <a:rPr lang="en-US" dirty="0"/>
              <a:t>” for all to download at their convenience</a:t>
            </a:r>
          </a:p>
          <a:p>
            <a:pPr lvl="3"/>
            <a:r>
              <a:rPr lang="en-US" dirty="0">
                <a:solidFill>
                  <a:srgbClr val="FFC000"/>
                </a:solidFill>
              </a:rPr>
              <a:t>Reply to your email with an attachment</a:t>
            </a:r>
          </a:p>
        </p:txBody>
      </p:sp>
    </p:spTree>
    <p:extLst>
      <p:ext uri="{BB962C8B-B14F-4D97-AF65-F5344CB8AC3E}">
        <p14:creationId xmlns:p14="http://schemas.microsoft.com/office/powerpoint/2010/main" val="294898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File Share for This Course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Is the </a:t>
            </a:r>
            <a:r>
              <a:rPr lang="en-US" b="1" i="1" u="sng" dirty="0">
                <a:solidFill>
                  <a:srgbClr val="00B050"/>
                </a:solidFill>
              </a:rPr>
              <a:t>AC</a:t>
            </a:r>
            <a:r>
              <a:rPr lang="en-US" dirty="0"/>
              <a:t> “</a:t>
            </a:r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Files Pod</a:t>
            </a:r>
            <a:r>
              <a:rPr lang="en-US" dirty="0"/>
              <a:t>”:</a:t>
            </a:r>
          </a:p>
          <a:p>
            <a:pPr lvl="1"/>
            <a:r>
              <a:rPr lang="en-US" dirty="0"/>
              <a:t>Always available as long </a:t>
            </a:r>
            <a:r>
              <a:rPr lang="en-US" b="1" i="1" u="sng" dirty="0">
                <a:solidFill>
                  <a:srgbClr val="FF6600"/>
                </a:solidFill>
              </a:rPr>
              <a:t>as I am NOT </a:t>
            </a:r>
            <a:r>
              <a:rPr lang="en-US" b="1" i="1" u="sng" dirty="0">
                <a:solidFill>
                  <a:srgbClr val="00FF00"/>
                </a:solidFill>
              </a:rPr>
              <a:t>Sharing my </a:t>
            </a:r>
            <a:r>
              <a:rPr lang="en-US" dirty="0"/>
              <a:t>Desktop</a:t>
            </a:r>
          </a:p>
          <a:p>
            <a:pPr lvl="2"/>
            <a:r>
              <a:rPr lang="en-US" dirty="0"/>
              <a:t>NOTE – when we end a Session, I will always “END” it on the default AC “Layout” (“</a:t>
            </a:r>
            <a:r>
              <a:rPr lang="en-US" b="1" i="1" u="sng" dirty="0">
                <a:solidFill>
                  <a:srgbClr val="FFC000"/>
                </a:solidFill>
              </a:rPr>
              <a:t>Collaboration View</a:t>
            </a:r>
            <a:r>
              <a:rPr lang="en-US" dirty="0"/>
              <a:t>”) you see before you</a:t>
            </a:r>
          </a:p>
          <a:p>
            <a:pPr lvl="3"/>
            <a:r>
              <a:rPr lang="en-US" dirty="0"/>
              <a:t>That way, the Files Pod is always available outside of Class.</a:t>
            </a:r>
          </a:p>
          <a:p>
            <a:r>
              <a:rPr lang="en-US" dirty="0"/>
              <a:t>As the course progresses, I </a:t>
            </a:r>
            <a:r>
              <a:rPr lang="en-US" b="1" i="1" u="sng" dirty="0">
                <a:solidFill>
                  <a:srgbClr val="FFC000"/>
                </a:solidFill>
              </a:rPr>
              <a:t>may</a:t>
            </a:r>
            <a:r>
              <a:rPr lang="en-US" dirty="0"/>
              <a:t> be adding material (as needed) to this folder</a:t>
            </a:r>
          </a:p>
          <a:p>
            <a:pPr lvl="1"/>
            <a:r>
              <a:rPr lang="en-US" dirty="0"/>
              <a:t>(depends on discussion items, Student Questions, etc.</a:t>
            </a:r>
          </a:p>
        </p:txBody>
      </p:sp>
    </p:spTree>
    <p:extLst>
      <p:ext uri="{BB962C8B-B14F-4D97-AF65-F5344CB8AC3E}">
        <p14:creationId xmlns:p14="http://schemas.microsoft.com/office/powerpoint/2010/main" val="2525282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 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Soul versus Spirit</Template>
  <TotalTime>5114</TotalTime>
  <Words>1311</Words>
  <Application>Microsoft Office PowerPoint</Application>
  <PresentationFormat>On-screen Show (4:3)</PresentationFormat>
  <Paragraphs>164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Narrow</vt:lpstr>
      <vt:lpstr>Calibri</vt:lpstr>
      <vt:lpstr>Times New Roman</vt:lpstr>
      <vt:lpstr>Horizon</vt:lpstr>
      <vt:lpstr>Comptia security  Plus </vt:lpstr>
      <vt:lpstr>Welcome</vt:lpstr>
      <vt:lpstr>Contact Information</vt:lpstr>
      <vt:lpstr>Course Materials</vt:lpstr>
      <vt:lpstr>Lab Work</vt:lpstr>
      <vt:lpstr>Adobe Connect: Demonstration of Features</vt:lpstr>
      <vt:lpstr>Adobe Connect: Demonstration …</vt:lpstr>
      <vt:lpstr>Introductions (Please send an email)</vt:lpstr>
      <vt:lpstr>Session Details</vt:lpstr>
      <vt:lpstr>A Word on SmartPhones</vt:lpstr>
      <vt:lpstr>How We Communicate </vt:lpstr>
      <vt:lpstr>File Share for This Course</vt:lpstr>
      <vt:lpstr>Questions ?</vt:lpstr>
    </vt:vector>
  </TitlesOfParts>
  <Company>Certification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Analysis and Design</dc:title>
  <dc:creator>Rick Gibson</dc:creator>
  <cp:lastModifiedBy>Ricky Gibson</cp:lastModifiedBy>
  <cp:revision>360</cp:revision>
  <cp:lastPrinted>1601-01-01T00:00:00Z</cp:lastPrinted>
  <dcterms:created xsi:type="dcterms:W3CDTF">2000-11-13T23:16:30Z</dcterms:created>
  <dcterms:modified xsi:type="dcterms:W3CDTF">2020-04-06T17:43:48Z</dcterms:modified>
</cp:coreProperties>
</file>