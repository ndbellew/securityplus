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9" r:id="rId3"/>
    <p:sldId id="260" r:id="rId4"/>
    <p:sldId id="261" r:id="rId5"/>
    <p:sldId id="262" r:id="rId6"/>
    <p:sldId id="276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7" r:id="rId18"/>
    <p:sldId id="273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9933"/>
    <a:srgbClr val="FF3300"/>
    <a:srgbClr val="FFFFCC"/>
    <a:srgbClr val="FF7C80"/>
    <a:srgbClr val="FFCC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5" autoAdjust="0"/>
    <p:restoredTop sz="94660"/>
  </p:normalViewPr>
  <p:slideViewPr>
    <p:cSldViewPr>
      <p:cViewPr varScale="1">
        <p:scale>
          <a:sx n="82" d="100"/>
          <a:sy n="82" d="100"/>
        </p:scale>
        <p:origin x="16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8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EAF1B-7AFA-4FED-BE15-B45A2E3AC6F5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540E0-A613-4087-86B8-AF1BB0E116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18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10E2AE0-5C15-49BD-99C9-4FD89764F1A2}" type="slidenum">
              <a:rPr lang="en-US" altLang="en-US" sz="1200" smtClean="0"/>
              <a:pPr/>
              <a:t>1</a:t>
            </a:fld>
            <a:endParaRPr lang="en-US" altLang="en-US" sz="1200" dirty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563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3C3C238-9A65-4388-B9FF-37F08954E1EF}" type="slidenum">
              <a:rPr lang="en-US" altLang="en-US" sz="1200" smtClean="0"/>
              <a:pPr/>
              <a:t>2</a:t>
            </a:fld>
            <a:endParaRPr lang="en-US" altLang="en-US" sz="1200" dirty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6881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D4ED5ADA-5231-4FBE-86AD-8A44EB707B4F}" type="slidenum">
              <a:rPr lang="en-US" altLang="en-US" sz="1200" smtClean="0"/>
              <a:pPr/>
              <a:t>3</a:t>
            </a:fld>
            <a:endParaRPr lang="en-US" altLang="en-US" sz="1200" dirty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25338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152A0629-4B54-419B-9192-08DAE2176232}" type="slidenum">
              <a:rPr lang="en-US" altLang="en-US" sz="1200" smtClean="0"/>
              <a:pPr/>
              <a:t>4</a:t>
            </a:fld>
            <a:endParaRPr lang="en-US" altLang="en-US" sz="1200" dirty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74331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398E1BBF-3CD4-40AB-BBFA-ECBDD9F79E0C}" type="slidenum">
              <a:rPr lang="en-US" altLang="en-US" sz="1200" smtClean="0"/>
              <a:pPr/>
              <a:t>5</a:t>
            </a:fld>
            <a:endParaRPr lang="en-US" altLang="en-US" sz="1200" dirty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1443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E6F36EF6-357E-4454-A4B3-5656F2AE9E82}" type="slidenum">
              <a:rPr lang="en-US" altLang="en-US" sz="1200" smtClean="0"/>
              <a:pPr/>
              <a:t>7</a:t>
            </a:fld>
            <a:endParaRPr lang="en-US" altLang="en-US" sz="1200" dirty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76814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632DE9C-2BA2-4348-896F-43064219483C}" type="slidenum">
              <a:rPr lang="en-US" altLang="en-US" sz="1200" smtClean="0"/>
              <a:pPr/>
              <a:t>8</a:t>
            </a:fld>
            <a:endParaRPr lang="en-US" altLang="en-US" sz="1200" dirty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67869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97B8DF83-F771-4784-812B-4C36B4D9AD6D}" type="slidenum">
              <a:rPr lang="en-US" altLang="en-US" sz="1200" smtClean="0"/>
              <a:pPr/>
              <a:t>9</a:t>
            </a:fld>
            <a:endParaRPr lang="en-US" altLang="en-US" sz="1200" dirty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7392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BD47BF4-F936-4812-B79B-D52FEC6F93B3}" type="slidenum">
              <a:rPr lang="en-US" altLang="en-US" sz="1200" smtClean="0"/>
              <a:pPr/>
              <a:t>10</a:t>
            </a:fld>
            <a:endParaRPr lang="en-US" altLang="en-US" sz="1200" dirty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0384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C6F7AF8E-87AE-435F-8F2E-B1CCB16161FE}" type="slidenum">
              <a:rPr lang="en-US" altLang="en-US" sz="1200" smtClean="0"/>
              <a:pPr/>
              <a:t>11</a:t>
            </a:fld>
            <a:endParaRPr lang="en-US" altLang="en-US" sz="1200" dirty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1343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9725A52-747B-4060-85A4-D165D34FAEE5}" type="slidenum">
              <a:rPr lang="en-US" altLang="en-US" sz="1200" smtClean="0"/>
              <a:pPr/>
              <a:t>12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82642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F4D0AAF1-5923-47F0-8350-EE1EA43E8B9A}" type="slidenum">
              <a:rPr lang="en-US" altLang="en-US" sz="1200" smtClean="0"/>
              <a:pPr/>
              <a:t>13</a:t>
            </a:fld>
            <a:endParaRPr lang="en-US" altLang="en-US" sz="1200" dirty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17967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4D3E404D-2B39-4A1E-A695-C49760B22F62}" type="slidenum">
              <a:rPr lang="en-US" altLang="en-US" sz="1200" smtClean="0"/>
              <a:pPr/>
              <a:t>14</a:t>
            </a:fld>
            <a:endParaRPr lang="en-US" altLang="en-US" sz="1200" dirty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96276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6F86BFCD-2B05-405C-89CF-C8EB085C41D0}" type="slidenum">
              <a:rPr lang="en-US" altLang="en-US" sz="1200" smtClean="0"/>
              <a:pPr/>
              <a:t>15</a:t>
            </a:fld>
            <a:endParaRPr lang="en-US" altLang="en-US" sz="1200" dirty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49948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C33B580-F3A0-49EC-A2FA-69909FEA5982}" type="slidenum">
              <a:rPr lang="en-US" altLang="en-US" sz="1200" smtClean="0"/>
              <a:pPr/>
              <a:t>16</a:t>
            </a:fld>
            <a:endParaRPr lang="en-US" altLang="en-US" sz="1200" dirty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2406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0C33B580-F3A0-49EC-A2FA-69909FEA5982}" type="slidenum">
              <a:rPr lang="en-US" altLang="en-US" sz="1200" smtClean="0">
                <a:solidFill>
                  <a:prstClr val="black"/>
                </a:solidFill>
              </a:rPr>
              <a:pPr/>
              <a:t>17</a:t>
            </a:fld>
            <a:endParaRPr lang="en-US" altLang="en-US" sz="1200" dirty="0">
              <a:solidFill>
                <a:prstClr val="black"/>
              </a:solidFill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61028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fld id="{5D76280F-97B0-414B-8284-9675D14D6C85}" type="slidenum">
              <a:rPr lang="en-US" altLang="en-US" sz="1200" smtClean="0"/>
              <a:pPr/>
              <a:t>18</a:t>
            </a:fld>
            <a:endParaRPr lang="en-US" altLang="en-US" sz="1200" dirty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419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-9525" y="0"/>
            <a:ext cx="9144000" cy="6858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65088"/>
            <a:ext cx="1676400" cy="61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0"/>
            <a:ext cx="1820863" cy="67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3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1600200"/>
            <a:ext cx="6400800" cy="4525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3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9" y="4406900"/>
            <a:ext cx="6208713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5999" y="2906713"/>
            <a:ext cx="6208713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68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62200" y="1586816"/>
            <a:ext cx="2895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1600200"/>
            <a:ext cx="32004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2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1535113"/>
            <a:ext cx="2895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0" y="2209800"/>
            <a:ext cx="2897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0200" y="1535113"/>
            <a:ext cx="327660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0200" y="2174874"/>
            <a:ext cx="3276600" cy="399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67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38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866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0"/>
            <a:ext cx="220980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273050"/>
            <a:ext cx="41910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9800" y="1430860"/>
            <a:ext cx="220980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47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67000" y="609600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67000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auto">
          <a:xfrm>
            <a:off x="3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4491"/>
            <a:ext cx="2060575" cy="76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3175" y="0"/>
            <a:ext cx="2057399" cy="83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3" descr="T:\Sybex\Admin\Instructor Materials\Instructor Material Instructions\logoGraphics\sybex_awb_ko_50.tif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23" y="166116"/>
            <a:ext cx="1371601" cy="5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5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50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D81E-C9EA-4359-B926-F4C2977B0011}" type="datetimeFigureOut">
              <a:rPr lang="en-US" smtClean="0"/>
              <a:t>4/6/2020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1A4B1-F47F-41B7-8B82-B81D0023B6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5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CompTIA Security+ Study Guide (SY0-501)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Chapter 1:</a:t>
            </a:r>
          </a:p>
          <a:p>
            <a:r>
              <a:rPr lang="en-US" altLang="en-US" dirty="0"/>
              <a:t>Managing Risk</a:t>
            </a:r>
          </a:p>
        </p:txBody>
      </p:sp>
    </p:spTree>
    <p:extLst>
      <p:ext uri="{BB962C8B-B14F-4D97-AF65-F5344CB8AC3E}">
        <p14:creationId xmlns:p14="http://schemas.microsoft.com/office/powerpoint/2010/main" val="256663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Chapter 1: Managing </a:t>
            </a:r>
            <a:r>
              <a:rPr lang="en-US" altLang="en-US" sz="4000" b="1" i="1" u="sng" dirty="0">
                <a:solidFill>
                  <a:srgbClr val="FF0000"/>
                </a:solidFill>
              </a:rPr>
              <a:t>Risk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00200"/>
            <a:ext cx="6858000" cy="4525963"/>
          </a:xfrm>
          <a:noFill/>
        </p:spPr>
        <p:txBody>
          <a:bodyPr/>
          <a:lstStyle/>
          <a:p>
            <a:r>
              <a:rPr lang="en-US" altLang="en-US" sz="2800" b="0" dirty="0"/>
              <a:t>Explain how resiliency and automation strategies reduce risk</a:t>
            </a:r>
          </a:p>
          <a:p>
            <a:r>
              <a:rPr lang="en-US" altLang="en-US" sz="2800" b="0" dirty="0"/>
              <a:t>Explain the importance of policies, plans, and procedures related to organizational security</a:t>
            </a:r>
          </a:p>
        </p:txBody>
      </p:sp>
    </p:spTree>
    <p:extLst>
      <p:ext uri="{BB962C8B-B14F-4D97-AF65-F5344CB8AC3E}">
        <p14:creationId xmlns:p14="http://schemas.microsoft.com/office/powerpoint/2010/main" val="3926615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274638"/>
            <a:ext cx="6400800" cy="639762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Threat Assessment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914400"/>
            <a:ext cx="6400800" cy="5668962"/>
          </a:xfrm>
          <a:noFill/>
        </p:spPr>
        <p:txBody>
          <a:bodyPr>
            <a:normAutofit fontScale="55000" lnSpcReduction="20000"/>
          </a:bodyPr>
          <a:lstStyle/>
          <a:p>
            <a:r>
              <a:rPr lang="en-US" altLang="en-US" sz="3800" b="1" i="1" u="sng" dirty="0">
                <a:solidFill>
                  <a:srgbClr val="FF0000"/>
                </a:solidFill>
              </a:rPr>
              <a:t>Threats</a:t>
            </a:r>
            <a:r>
              <a:rPr lang="en-US" altLang="en-US" sz="3800" b="0" dirty="0"/>
              <a:t> can be categorized as: </a:t>
            </a:r>
          </a:p>
          <a:p>
            <a:pPr lvl="1"/>
            <a:r>
              <a:rPr lang="en-US" altLang="en-US" sz="3200" b="1" i="1" u="sng" dirty="0">
                <a:solidFill>
                  <a:srgbClr val="FFC000"/>
                </a:solidFill>
                <a:highlight>
                  <a:srgbClr val="000000"/>
                </a:highlight>
              </a:rPr>
              <a:t>Anything</a:t>
            </a:r>
            <a:r>
              <a:rPr lang="en-US" altLang="en-US" sz="3200" dirty="0"/>
              <a:t> that has the </a:t>
            </a:r>
            <a:r>
              <a:rPr lang="en-US" altLang="en-US" sz="3200" b="1" i="1" u="sng" dirty="0">
                <a:solidFill>
                  <a:srgbClr val="FFC000"/>
                </a:solidFill>
                <a:highlight>
                  <a:srgbClr val="000000"/>
                </a:highlight>
              </a:rPr>
              <a:t>Potential</a:t>
            </a:r>
            <a:r>
              <a:rPr lang="en-US" altLang="en-US" sz="3200" dirty="0"/>
              <a:t> to cause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Serious Harm </a:t>
            </a:r>
            <a:r>
              <a:rPr lang="en-US" altLang="en-US" sz="3200" dirty="0"/>
              <a:t>to a Computer System or its Resources</a:t>
            </a:r>
          </a:p>
          <a:p>
            <a:pPr lvl="2"/>
            <a:r>
              <a:rPr lang="en-US" altLang="en-US" sz="2600" dirty="0"/>
              <a:t>May or may not happen</a:t>
            </a:r>
          </a:p>
          <a:p>
            <a:pPr lvl="2"/>
            <a:r>
              <a:rPr lang="en-US" altLang="en-US" sz="2600" dirty="0"/>
              <a:t>Has the </a:t>
            </a:r>
            <a:r>
              <a:rPr lang="en-US" altLang="en-US" sz="2600" b="1" i="1" u="sng" dirty="0">
                <a:solidFill>
                  <a:srgbClr val="FFC000"/>
                </a:solidFill>
                <a:highlight>
                  <a:srgbClr val="000000"/>
                </a:highlight>
              </a:rPr>
              <a:t>Potential</a:t>
            </a:r>
            <a:r>
              <a:rPr lang="en-US" altLang="en-US" sz="2600" dirty="0"/>
              <a:t> to cause serious damage</a:t>
            </a:r>
          </a:p>
          <a:p>
            <a:pPr lvl="2"/>
            <a:r>
              <a:rPr lang="en-US" altLang="en-US" sz="2600" dirty="0"/>
              <a:t>Can lead to attacks on computer systems, networks and more</a:t>
            </a:r>
          </a:p>
          <a:p>
            <a:pPr lvl="1"/>
            <a:r>
              <a:rPr lang="en-US" altLang="en-US" sz="3200" dirty="0"/>
              <a:t>Environmental</a:t>
            </a:r>
          </a:p>
          <a:p>
            <a:pPr lvl="1"/>
            <a:r>
              <a:rPr lang="en-US" altLang="en-US" sz="3200" dirty="0"/>
              <a:t>Manmade</a:t>
            </a:r>
          </a:p>
          <a:p>
            <a:pPr lvl="1"/>
            <a:r>
              <a:rPr lang="en-US" altLang="en-US" sz="3200" dirty="0"/>
              <a:t>Internal vs. External</a:t>
            </a:r>
            <a:endParaRPr lang="en-US" altLang="en-US" sz="3200" b="0" dirty="0"/>
          </a:p>
          <a:p>
            <a:r>
              <a:rPr lang="en-US" altLang="en-US" sz="3800" b="1" i="1" u="sng" dirty="0">
                <a:solidFill>
                  <a:srgbClr val="FF0000"/>
                </a:solidFill>
              </a:rPr>
              <a:t>Risk</a:t>
            </a:r>
          </a:p>
          <a:p>
            <a:pPr lvl="1"/>
            <a:r>
              <a:rPr lang="en-US" sz="3200" dirty="0"/>
              <a:t>A </a:t>
            </a:r>
            <a:r>
              <a:rPr lang="en-US" sz="3200" b="1" i="1" u="sng" dirty="0">
                <a:solidFill>
                  <a:srgbClr val="00B0F0"/>
                </a:solidFill>
              </a:rPr>
              <a:t>Person</a:t>
            </a:r>
            <a:r>
              <a:rPr lang="en-US" sz="3200" dirty="0"/>
              <a:t> or </a:t>
            </a:r>
            <a:r>
              <a:rPr lang="en-US" sz="3200" b="1" i="1" u="sng" dirty="0"/>
              <a:t>Situation</a:t>
            </a:r>
            <a:r>
              <a:rPr lang="en-US" sz="3200" dirty="0"/>
              <a:t> which poses a </a:t>
            </a:r>
            <a:r>
              <a:rPr lang="en-US" sz="3200" b="1" i="1" u="sng" dirty="0">
                <a:solidFill>
                  <a:srgbClr val="FFC000"/>
                </a:solidFill>
              </a:rPr>
              <a:t>Possible</a:t>
            </a:r>
            <a:r>
              <a:rPr lang="en-US" sz="3200" dirty="0"/>
              <a:t> </a:t>
            </a:r>
            <a:r>
              <a:rPr lang="en-US" sz="3200" b="1" i="1" u="sng" dirty="0">
                <a:solidFill>
                  <a:srgbClr val="FF0000"/>
                </a:solidFill>
              </a:rPr>
              <a:t>Threat</a:t>
            </a:r>
            <a:r>
              <a:rPr lang="en-US" sz="3200" dirty="0"/>
              <a:t> to the security of </a:t>
            </a:r>
            <a:r>
              <a:rPr lang="en-US" sz="3200" b="1" i="1" dirty="0">
                <a:solidFill>
                  <a:srgbClr val="0070C0"/>
                </a:solidFill>
              </a:rPr>
              <a:t>Resources</a:t>
            </a:r>
            <a:endParaRPr lang="en-US" altLang="en-US" sz="3200" b="1" i="1" dirty="0">
              <a:solidFill>
                <a:srgbClr val="0070C0"/>
              </a:solidFill>
            </a:endParaRPr>
          </a:p>
          <a:p>
            <a:r>
              <a:rPr lang="en-US" altLang="en-US" sz="3800" b="1" i="1" u="sng" dirty="0">
                <a:solidFill>
                  <a:srgbClr val="FF3300"/>
                </a:solidFill>
              </a:rPr>
              <a:t>Risk Assessment </a:t>
            </a:r>
            <a:r>
              <a:rPr lang="en-US" altLang="en-US" sz="3800" b="0" dirty="0"/>
              <a:t>(</a:t>
            </a:r>
            <a:r>
              <a:rPr lang="en-US" altLang="en-US" sz="3800" b="1" i="1" u="sng" dirty="0">
                <a:solidFill>
                  <a:srgbClr val="FF3300"/>
                </a:solidFill>
              </a:rPr>
              <a:t>Risk Analysis</a:t>
            </a:r>
            <a:r>
              <a:rPr lang="en-US" altLang="en-US" sz="3800" b="0" dirty="0"/>
              <a:t>)</a:t>
            </a:r>
          </a:p>
          <a:p>
            <a:pPr lvl="1"/>
            <a:r>
              <a:rPr lang="en-US" altLang="en-US" sz="3200" b="1" i="1" u="sng" dirty="0">
                <a:solidFill>
                  <a:srgbClr val="FF3300"/>
                </a:solidFill>
              </a:rPr>
              <a:t>Risk Assessment</a:t>
            </a:r>
          </a:p>
          <a:p>
            <a:pPr lvl="2"/>
            <a:r>
              <a:rPr lang="en-US" altLang="en-US" sz="3200" b="1" i="1" u="sng" dirty="0">
                <a:solidFill>
                  <a:srgbClr val="FF9933"/>
                </a:solidFill>
              </a:rPr>
              <a:t>PROCESS</a:t>
            </a:r>
            <a:r>
              <a:rPr lang="en-US" altLang="en-US" sz="2200" dirty="0"/>
              <a:t> that Deals with the </a:t>
            </a:r>
            <a:r>
              <a:rPr lang="en-US" altLang="en-US" sz="2200" b="1" i="1" u="sng" dirty="0">
                <a:solidFill>
                  <a:srgbClr val="FF0000"/>
                </a:solidFill>
              </a:rPr>
              <a:t>Threats</a:t>
            </a:r>
            <a:r>
              <a:rPr lang="en-US" altLang="en-US" sz="2200" dirty="0"/>
              <a:t>, </a:t>
            </a:r>
            <a:r>
              <a:rPr lang="en-US" altLang="en-US" sz="2200" b="1" i="1" u="sng" dirty="0">
                <a:solidFill>
                  <a:srgbClr val="FF0000"/>
                </a:solidFill>
              </a:rPr>
              <a:t>Vulnerabilities</a:t>
            </a:r>
            <a:r>
              <a:rPr lang="en-US" altLang="en-US" sz="2200" dirty="0"/>
              <a:t>, and </a:t>
            </a:r>
            <a:r>
              <a:rPr lang="en-US" altLang="en-US" sz="2200" b="1" i="1" u="sng" dirty="0">
                <a:highlight>
                  <a:srgbClr val="FFFF00"/>
                </a:highlight>
              </a:rPr>
              <a:t>Impacts</a:t>
            </a:r>
            <a:r>
              <a:rPr lang="en-US" altLang="en-US" sz="2200" dirty="0"/>
              <a:t> of a </a:t>
            </a:r>
            <a:r>
              <a:rPr lang="en-US" altLang="en-US" sz="2200" b="1" i="1" u="sng" dirty="0">
                <a:solidFill>
                  <a:srgbClr val="FF0000"/>
                </a:solidFill>
              </a:rPr>
              <a:t>Loss</a:t>
            </a:r>
            <a:r>
              <a:rPr lang="en-US" altLang="en-US" sz="2200" dirty="0"/>
              <a:t> of information-processing capabilities or information itself</a:t>
            </a:r>
            <a:endParaRPr lang="en-US" altLang="en-US" sz="2200" b="1" dirty="0"/>
          </a:p>
          <a:p>
            <a:pPr lvl="1"/>
            <a:r>
              <a:rPr lang="en-US" altLang="en-US" sz="3200" b="1" dirty="0"/>
              <a:t>Key </a:t>
            </a:r>
            <a:r>
              <a:rPr lang="en-US" altLang="en-US" sz="3200" b="1" i="1" u="sng" dirty="0">
                <a:solidFill>
                  <a:srgbClr val="FF6600"/>
                </a:solidFill>
              </a:rPr>
              <a:t>Components</a:t>
            </a:r>
            <a:r>
              <a:rPr lang="en-US" altLang="en-US" sz="3200" b="1" dirty="0"/>
              <a:t> of </a:t>
            </a:r>
            <a:r>
              <a:rPr lang="en-US" altLang="en-US" sz="3200" b="1" i="1" u="sng" dirty="0">
                <a:solidFill>
                  <a:srgbClr val="FF3300"/>
                </a:solidFill>
              </a:rPr>
              <a:t>Risk Assessment</a:t>
            </a:r>
          </a:p>
          <a:p>
            <a:pPr lvl="2"/>
            <a:r>
              <a:rPr lang="en-US" altLang="en-US" sz="2200" dirty="0"/>
              <a:t>Risks to which the organization is exposed </a:t>
            </a:r>
          </a:p>
          <a:p>
            <a:pPr lvl="2"/>
            <a:r>
              <a:rPr lang="en-US" altLang="en-US" sz="2200" dirty="0"/>
              <a:t>Risks that need addressing </a:t>
            </a:r>
          </a:p>
          <a:p>
            <a:pPr lvl="2"/>
            <a:r>
              <a:rPr lang="en-US" altLang="en-US" sz="2200" dirty="0"/>
              <a:t>Coordination with </a:t>
            </a:r>
            <a:r>
              <a:rPr lang="en-US" altLang="en-US" sz="2200" b="1" i="1" u="sng" dirty="0">
                <a:solidFill>
                  <a:srgbClr val="FF3300"/>
                </a:solidFill>
              </a:rPr>
              <a:t>BIA</a:t>
            </a:r>
            <a:r>
              <a:rPr lang="en-US" altLang="en-US" sz="2200" dirty="0"/>
              <a:t> </a:t>
            </a:r>
            <a:endParaRPr lang="en-US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16706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274638"/>
            <a:ext cx="6400800" cy="411162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Computing Risk Assessment</a:t>
            </a:r>
            <a:endParaRPr lang="en-US" altLang="en-US" sz="4000" b="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838200"/>
            <a:ext cx="6400800" cy="5745162"/>
          </a:xfrm>
        </p:spPr>
        <p:txBody>
          <a:bodyPr>
            <a:normAutofit lnSpcReduction="10000"/>
          </a:bodyPr>
          <a:lstStyle/>
          <a:p>
            <a:r>
              <a:rPr lang="en-US" altLang="en-US" b="0" dirty="0"/>
              <a:t>Methods of </a:t>
            </a:r>
            <a:r>
              <a:rPr lang="en-US" altLang="en-US" b="1" i="1" u="sng" dirty="0">
                <a:highlight>
                  <a:srgbClr val="FFFF00"/>
                </a:highlight>
              </a:rPr>
              <a:t>Measurement</a:t>
            </a:r>
            <a:r>
              <a:rPr lang="en-US" altLang="en-US" b="0" dirty="0"/>
              <a:t> 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</a:rPr>
              <a:t>Annualized Rate of Occurrence  </a:t>
            </a:r>
            <a:r>
              <a:rPr lang="en-US" altLang="en-US" b="1" dirty="0"/>
              <a:t>(</a:t>
            </a:r>
            <a:r>
              <a:rPr lang="en-US" altLang="en-US" b="1" i="1" u="sng" dirty="0">
                <a:solidFill>
                  <a:srgbClr val="0070C0"/>
                </a:solidFill>
              </a:rPr>
              <a:t>ARO</a:t>
            </a:r>
            <a:r>
              <a:rPr lang="en-US" altLang="en-US" b="1" dirty="0"/>
              <a:t>)</a:t>
            </a:r>
          </a:p>
          <a:p>
            <a:pPr lvl="2"/>
            <a:r>
              <a:rPr lang="en-US" altLang="en-US" sz="1800" dirty="0"/>
              <a:t>Likelihood, often from </a:t>
            </a:r>
            <a:r>
              <a:rPr lang="en-US" altLang="en-US" sz="1800" b="1" i="1" u="sng" dirty="0">
                <a:highlight>
                  <a:srgbClr val="FFFF00"/>
                </a:highlight>
              </a:rPr>
              <a:t>Historical Data</a:t>
            </a:r>
            <a:r>
              <a:rPr lang="en-US" altLang="en-US" sz="1800" dirty="0"/>
              <a:t>, of an event occurring within a year</a:t>
            </a:r>
            <a:endParaRPr lang="en-US" altLang="en-US" sz="1800" b="1" dirty="0"/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</a:rPr>
              <a:t>ARO</a:t>
            </a:r>
            <a:r>
              <a:rPr lang="en-US" altLang="en-US" b="1" dirty="0"/>
              <a:t> can be used in conjunction with:</a:t>
            </a:r>
          </a:p>
          <a:p>
            <a:pPr lvl="2"/>
            <a:r>
              <a:rPr lang="en-US" altLang="en-US" b="1" i="1" u="sng" dirty="0">
                <a:solidFill>
                  <a:srgbClr val="0070C0"/>
                </a:solidFill>
              </a:rPr>
              <a:t>Single Loss Expectancy </a:t>
            </a:r>
            <a:r>
              <a:rPr lang="en-US" altLang="en-US" dirty="0"/>
              <a:t>(</a:t>
            </a:r>
            <a:r>
              <a:rPr lang="en-US" altLang="en-US" b="1" i="1" u="sng" dirty="0">
                <a:solidFill>
                  <a:srgbClr val="0070C0"/>
                </a:solidFill>
              </a:rPr>
              <a:t>SLE</a:t>
            </a:r>
            <a:r>
              <a:rPr lang="en-US" altLang="en-US" dirty="0"/>
              <a:t>)</a:t>
            </a:r>
          </a:p>
          <a:p>
            <a:pPr lvl="3"/>
            <a:r>
              <a:rPr lang="en-US" altLang="en-US" sz="1800" dirty="0"/>
              <a:t>EF x Asset Value</a:t>
            </a:r>
          </a:p>
          <a:p>
            <a:pPr lvl="3"/>
            <a:r>
              <a:rPr lang="en-US" altLang="en-US" sz="1800" dirty="0"/>
              <a:t>EF = </a:t>
            </a:r>
            <a:r>
              <a:rPr lang="en-US" sz="1800" dirty="0"/>
              <a:t>percentage of the asset value that will be affected by the successful execution of the threat</a:t>
            </a:r>
            <a:endParaRPr lang="en-US" altLang="en-US" sz="1800" dirty="0"/>
          </a:p>
          <a:p>
            <a:pPr lvl="2"/>
            <a:r>
              <a:rPr lang="en-US" altLang="en-US" b="1" i="1" u="sng" dirty="0">
                <a:solidFill>
                  <a:srgbClr val="0070C0"/>
                </a:solidFill>
              </a:rPr>
              <a:t>Annual Loss Expectancy </a:t>
            </a:r>
            <a:r>
              <a:rPr lang="en-US" altLang="en-US" dirty="0"/>
              <a:t>(</a:t>
            </a:r>
            <a:r>
              <a:rPr lang="en-US" altLang="en-US" b="1" i="1" u="sng" dirty="0">
                <a:solidFill>
                  <a:srgbClr val="0070C0"/>
                </a:solidFill>
              </a:rPr>
              <a:t>ALE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Formula:</a:t>
            </a:r>
          </a:p>
          <a:p>
            <a:pPr lvl="3">
              <a:buFontTx/>
              <a:buNone/>
            </a:pPr>
            <a:r>
              <a:rPr lang="en-US" altLang="en-US" sz="2800" b="1" i="1" u="sng" dirty="0">
                <a:solidFill>
                  <a:srgbClr val="0070C0"/>
                </a:solidFill>
                <a:highlight>
                  <a:srgbClr val="FFFF00"/>
                </a:highlight>
              </a:rPr>
              <a:t>SLE x ARO = ALE</a:t>
            </a:r>
            <a:endParaRPr lang="en-US" altLang="en-US" sz="1800" dirty="0">
              <a:highlight>
                <a:srgbClr val="FFFF00"/>
              </a:highlight>
            </a:endParaRPr>
          </a:p>
          <a:p>
            <a:pPr>
              <a:buFontTx/>
              <a:buNone/>
            </a:pP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885425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Computing Risk Assessment Continued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6934200" cy="4525963"/>
          </a:xfrm>
          <a:noFill/>
        </p:spPr>
        <p:txBody>
          <a:bodyPr>
            <a:normAutofit/>
          </a:bodyPr>
          <a:lstStyle/>
          <a:p>
            <a:r>
              <a:rPr lang="en-US" altLang="en-US" sz="4400" b="0" dirty="0"/>
              <a:t>Risk assessment can be qualitative or quantitative </a:t>
            </a:r>
          </a:p>
          <a:p>
            <a:pPr lvl="1"/>
            <a:r>
              <a:rPr lang="en-US" altLang="en-US" sz="4000" b="1" dirty="0">
                <a:highlight>
                  <a:srgbClr val="00FFFF"/>
                </a:highlight>
              </a:rPr>
              <a:t>Qualitative</a:t>
            </a:r>
          </a:p>
          <a:p>
            <a:pPr lvl="2"/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Opinion-based</a:t>
            </a:r>
            <a:r>
              <a:rPr lang="en-US" altLang="en-US" sz="2800" dirty="0"/>
              <a:t> and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Subjective</a:t>
            </a:r>
          </a:p>
          <a:p>
            <a:pPr lvl="1"/>
            <a:r>
              <a:rPr lang="en-US" altLang="en-US" sz="4000" b="1" dirty="0">
                <a:highlight>
                  <a:srgbClr val="FFFF00"/>
                </a:highlight>
              </a:rPr>
              <a:t>Quantitative</a:t>
            </a:r>
          </a:p>
          <a:p>
            <a:pPr lvl="2"/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00"/>
                </a:highlight>
              </a:rPr>
              <a:t>Cost-based</a:t>
            </a:r>
            <a:r>
              <a:rPr lang="en-US" altLang="en-US" sz="2800" dirty="0"/>
              <a:t> and </a:t>
            </a:r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Objective</a:t>
            </a:r>
            <a:r>
              <a:rPr lang="en-US" alt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7197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MTBF</a:t>
            </a:r>
            <a:r>
              <a:rPr lang="en-US" dirty="0"/>
              <a:t>: Mean Time Between Failures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MTTF</a:t>
            </a:r>
            <a:r>
              <a:rPr lang="en-US" dirty="0"/>
              <a:t>: Mean Time To Failure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MTTR</a:t>
            </a:r>
            <a:r>
              <a:rPr lang="en-US" dirty="0"/>
              <a:t>: Mean Time To Restore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RTO</a:t>
            </a:r>
            <a:r>
              <a:rPr lang="en-US" dirty="0"/>
              <a:t>: Recovery Time Objective</a:t>
            </a:r>
          </a:p>
          <a:p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RPO</a:t>
            </a:r>
            <a:r>
              <a:rPr lang="en-US" dirty="0"/>
              <a:t>: Recovery Point Objective</a:t>
            </a:r>
          </a:p>
        </p:txBody>
      </p:sp>
    </p:spTree>
    <p:extLst>
      <p:ext uri="{BB962C8B-B14F-4D97-AF65-F5344CB8AC3E}">
        <p14:creationId xmlns:p14="http://schemas.microsoft.com/office/powerpoint/2010/main" val="2831078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Acting on Your Risk Assessment-</a:t>
            </a:r>
            <a:br>
              <a:rPr lang="en-US" altLang="en-US" sz="4000" dirty="0"/>
            </a:br>
            <a:r>
              <a:rPr lang="en-US" altLang="en-US" sz="4000" dirty="0"/>
              <a:t>What to do for Each Risk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600200"/>
            <a:ext cx="6400800" cy="4983162"/>
          </a:xfrm>
          <a:noFill/>
        </p:spPr>
        <p:txBody>
          <a:bodyPr>
            <a:normAutofit/>
          </a:bodyPr>
          <a:lstStyle/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Avoidance  </a:t>
            </a:r>
          </a:p>
          <a:p>
            <a:pPr lvl="1"/>
            <a:r>
              <a:rPr lang="en-US" altLang="en-US" sz="2400" dirty="0"/>
              <a:t>Involves:</a:t>
            </a:r>
          </a:p>
          <a:p>
            <a:pPr lvl="2"/>
            <a:r>
              <a:rPr lang="en-US" altLang="en-US" sz="2000" b="1" i="1" u="sng" dirty="0"/>
              <a:t>Identifying</a:t>
            </a:r>
            <a:r>
              <a:rPr lang="en-US" altLang="en-US" sz="2000" dirty="0"/>
              <a:t> a </a:t>
            </a:r>
            <a:r>
              <a:rPr lang="en-US" altLang="en-US" sz="2000" b="1" i="1" u="sng" dirty="0"/>
              <a:t>Risk</a:t>
            </a:r>
            <a:r>
              <a:rPr lang="en-US" altLang="en-US" sz="2000" dirty="0"/>
              <a:t> </a:t>
            </a:r>
          </a:p>
          <a:p>
            <a:pPr lvl="2"/>
            <a:r>
              <a:rPr lang="en-US" altLang="en-US" sz="2000" dirty="0"/>
              <a:t>Deciding </a:t>
            </a:r>
            <a:r>
              <a:rPr lang="en-US" altLang="en-US" sz="2000" b="1" i="1" u="sng" dirty="0"/>
              <a:t>Not To Engage </a:t>
            </a:r>
            <a:r>
              <a:rPr lang="en-US" altLang="en-US" sz="2000" dirty="0"/>
              <a:t>in actions associated with that risk</a:t>
            </a:r>
            <a:endParaRPr lang="en-US" altLang="en-US" b="1" dirty="0"/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Transference</a:t>
            </a:r>
          </a:p>
          <a:p>
            <a:pPr lvl="1"/>
            <a:r>
              <a:rPr lang="en-US" altLang="en-US" sz="2400" b="1" i="1" u="sng" dirty="0"/>
              <a:t>Sharing</a:t>
            </a:r>
            <a:r>
              <a:rPr lang="en-US" altLang="en-US" sz="2400" dirty="0"/>
              <a:t> some of the </a:t>
            </a:r>
            <a:r>
              <a:rPr lang="en-US" altLang="en-US" sz="2400" b="1" i="1" u="sng" dirty="0"/>
              <a:t>Burden</a:t>
            </a:r>
            <a:r>
              <a:rPr lang="en-US" altLang="en-US" sz="2400" dirty="0"/>
              <a:t> of the </a:t>
            </a:r>
            <a:r>
              <a:rPr lang="en-US" altLang="en-US" sz="2400" b="1" i="1" u="sng" dirty="0"/>
              <a:t>Risk</a:t>
            </a:r>
            <a:r>
              <a:rPr lang="en-US" altLang="en-US" sz="2400" dirty="0"/>
              <a:t> with someone else</a:t>
            </a:r>
            <a:endParaRPr lang="en-US" altLang="en-US" sz="2400" b="1" dirty="0"/>
          </a:p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Mitigation</a:t>
            </a:r>
          </a:p>
          <a:p>
            <a:pPr lvl="1"/>
            <a:r>
              <a:rPr lang="en-US" altLang="en-US" sz="2400" dirty="0"/>
              <a:t>Accomplished anytime steps are taken to </a:t>
            </a:r>
            <a:r>
              <a:rPr lang="en-US" altLang="en-US" sz="2400" b="1" i="1" u="sng" dirty="0"/>
              <a:t>Reduce</a:t>
            </a:r>
            <a:r>
              <a:rPr lang="en-US" altLang="en-US" sz="2400" dirty="0"/>
              <a:t> risk</a:t>
            </a:r>
          </a:p>
          <a:p>
            <a:pPr lvl="1">
              <a:buFontTx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264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Acting on Your Risk Assessment…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0"/>
            <a:ext cx="7086600" cy="4525963"/>
          </a:xfrm>
          <a:noFill/>
        </p:spPr>
        <p:txBody>
          <a:bodyPr/>
          <a:lstStyle/>
          <a:p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Risk Acceptance </a:t>
            </a:r>
          </a:p>
          <a:p>
            <a:pPr lvl="1"/>
            <a:r>
              <a:rPr lang="en-US" altLang="en-US" sz="2400" dirty="0"/>
              <a:t>When the </a:t>
            </a:r>
            <a:r>
              <a:rPr lang="en-US" altLang="en-US" sz="2400" b="1" i="1" u="sng" dirty="0"/>
              <a:t>Cost</a:t>
            </a:r>
            <a:r>
              <a:rPr lang="en-US" altLang="en-US" sz="2400" dirty="0"/>
              <a:t> of </a:t>
            </a:r>
            <a:r>
              <a:rPr lang="en-US" altLang="en-US" sz="2400" b="1" i="1" u="sng" dirty="0"/>
              <a:t>Implementing</a:t>
            </a:r>
            <a:r>
              <a:rPr lang="en-US" altLang="en-US" sz="2400" dirty="0"/>
              <a:t> any Mitigation Action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Exceeds</a:t>
            </a:r>
            <a:r>
              <a:rPr lang="en-US" altLang="en-US" sz="2400" dirty="0"/>
              <a:t> the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Value</a:t>
            </a:r>
            <a:r>
              <a:rPr lang="en-US" altLang="en-US" sz="2400" dirty="0"/>
              <a:t> of the </a:t>
            </a:r>
            <a:r>
              <a:rPr lang="en-US" altLang="en-US" sz="2400" b="1" i="1" u="sng" dirty="0">
                <a:solidFill>
                  <a:srgbClr val="FF0000"/>
                </a:solidFill>
              </a:rPr>
              <a:t>Harm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579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6400800" cy="457199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Risks and Cloud Computing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609600"/>
            <a:ext cx="6629400" cy="5516564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b="1" i="1" u="sng" dirty="0"/>
              <a:t>Dual Responsibility:</a:t>
            </a:r>
          </a:p>
          <a:p>
            <a:pPr lvl="1">
              <a:defRPr/>
            </a:pPr>
            <a:r>
              <a:rPr lang="en-US" b="1" i="1" u="sng" dirty="0"/>
              <a:t>YOU</a:t>
            </a:r>
          </a:p>
          <a:p>
            <a:pPr lvl="1">
              <a:defRPr/>
            </a:pPr>
            <a:r>
              <a:rPr lang="en-US" b="1" i="1" u="sng" dirty="0">
                <a:solidFill>
                  <a:srgbClr val="0070C0"/>
                </a:solidFill>
              </a:rPr>
              <a:t>Cloud Provider</a:t>
            </a:r>
          </a:p>
          <a:p>
            <a:pPr>
              <a:defRPr/>
            </a:pPr>
            <a:r>
              <a:rPr lang="en-US" b="1" i="1" u="sng" dirty="0">
                <a:solidFill>
                  <a:srgbClr val="0070C0"/>
                </a:solidFill>
              </a:rPr>
              <a:t>Cloud Computing</a:t>
            </a:r>
          </a:p>
          <a:p>
            <a:pPr lvl="1">
              <a:defRPr/>
            </a:pPr>
            <a:r>
              <a:rPr lang="en-US" dirty="0"/>
              <a:t>Using the </a:t>
            </a:r>
            <a:r>
              <a:rPr lang="en-US" b="1" i="1" u="sng" dirty="0">
                <a:solidFill>
                  <a:srgbClr val="0070C0"/>
                </a:solidFill>
              </a:rPr>
              <a:t>Internet</a:t>
            </a:r>
            <a:r>
              <a:rPr lang="en-US" dirty="0"/>
              <a:t> to </a:t>
            </a:r>
            <a:r>
              <a:rPr lang="en-US" b="1" i="1" u="sng" dirty="0">
                <a:solidFill>
                  <a:srgbClr val="FF7C80"/>
                </a:solidFill>
              </a:rPr>
              <a:t>Host</a:t>
            </a:r>
            <a:r>
              <a:rPr lang="en-US" b="1" i="1" u="sng" dirty="0"/>
              <a:t> </a:t>
            </a:r>
            <a:r>
              <a:rPr lang="en-US" b="1" i="1" u="sng" dirty="0">
                <a:solidFill>
                  <a:srgbClr val="0070C0"/>
                </a:solidFill>
              </a:rPr>
              <a:t>Services</a:t>
            </a:r>
            <a:r>
              <a:rPr lang="en-US" b="1" i="1" u="sng" dirty="0"/>
              <a:t> </a:t>
            </a:r>
            <a:r>
              <a:rPr lang="en-US" dirty="0"/>
              <a:t>and </a:t>
            </a:r>
            <a:r>
              <a:rPr lang="en-US" b="1" i="1" u="sng" dirty="0">
                <a:solidFill>
                  <a:srgbClr val="FFCC66"/>
                </a:solidFill>
                <a:highlight>
                  <a:srgbClr val="000000"/>
                </a:highlight>
              </a:rPr>
              <a:t>Data</a:t>
            </a:r>
            <a:r>
              <a:rPr lang="en-US" dirty="0"/>
              <a:t> instead of hosting it locally </a:t>
            </a:r>
          </a:p>
          <a:p>
            <a:pPr lvl="2">
              <a:defRPr/>
            </a:pPr>
            <a:r>
              <a:rPr lang="en-US" dirty="0"/>
              <a:t>{ </a:t>
            </a:r>
            <a:r>
              <a:rPr lang="en-US" b="1" i="1" u="sng" dirty="0">
                <a:solidFill>
                  <a:srgbClr val="0070C0"/>
                </a:solidFill>
              </a:rPr>
              <a:t>On Premises</a:t>
            </a:r>
            <a:r>
              <a:rPr lang="en-US" dirty="0"/>
              <a:t>}</a:t>
            </a:r>
          </a:p>
          <a:p>
            <a:pPr>
              <a:defRPr/>
            </a:pPr>
            <a:r>
              <a:rPr lang="en-US" dirty="0"/>
              <a:t>Three ways to implement </a:t>
            </a:r>
            <a:r>
              <a:rPr lang="en-US" b="1" i="1" u="sng" dirty="0">
                <a:solidFill>
                  <a:srgbClr val="0070C0"/>
                </a:solidFill>
              </a:rPr>
              <a:t>Cloud</a:t>
            </a:r>
            <a:r>
              <a:rPr lang="en-US" dirty="0"/>
              <a:t> </a:t>
            </a:r>
            <a:r>
              <a:rPr lang="en-US" b="1" i="1" u="sng" dirty="0">
                <a:solidFill>
                  <a:srgbClr val="0070C0"/>
                </a:solidFill>
              </a:rPr>
              <a:t>Computing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dirty="0"/>
              <a:t>Platform as a Service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PaaS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dirty="0"/>
              <a:t>Software as a Service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SaaS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dirty="0"/>
              <a:t>Infrastructure as a Service  - </a:t>
            </a:r>
            <a:r>
              <a:rPr 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IaaS</a:t>
            </a:r>
          </a:p>
        </p:txBody>
      </p:sp>
    </p:spTree>
    <p:extLst>
      <p:ext uri="{BB962C8B-B14F-4D97-AF65-F5344CB8AC3E}">
        <p14:creationId xmlns:p14="http://schemas.microsoft.com/office/powerpoint/2010/main" val="3534528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Risks and Cloud Computing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0"/>
            <a:ext cx="6553200" cy="4724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dirty="0"/>
              <a:t>Risk-related issues associated with cloud computing</a:t>
            </a:r>
          </a:p>
          <a:p>
            <a:pPr lvl="1">
              <a:lnSpc>
                <a:spcPct val="90000"/>
              </a:lnSpc>
            </a:pPr>
            <a:r>
              <a:rPr lang="en-US" altLang="en-US" sz="3200" b="1" i="1" u="sng" dirty="0">
                <a:solidFill>
                  <a:srgbClr val="FF0000"/>
                </a:solidFill>
              </a:rPr>
              <a:t>Regulatory</a:t>
            </a:r>
            <a:r>
              <a:rPr lang="en-US" altLang="en-US" sz="3200" b="1" i="1" u="sng" dirty="0">
                <a:solidFill>
                  <a:srgbClr val="0070C0"/>
                </a:solidFill>
              </a:rPr>
              <a:t> Compliance 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User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Permissions</a:t>
            </a:r>
            <a:r>
              <a:rPr lang="en-US" altLang="en-US" sz="3200" dirty="0"/>
              <a:t> &amp; </a:t>
            </a:r>
            <a:r>
              <a:rPr lang="en-US" altLang="en-US" sz="3200" b="1" i="1" u="sng" dirty="0">
                <a:solidFill>
                  <a:srgbClr val="FF0000"/>
                </a:solidFill>
              </a:rPr>
              <a:t>Privileges</a:t>
            </a:r>
          </a:p>
          <a:p>
            <a:pPr lvl="1">
              <a:lnSpc>
                <a:spcPct val="90000"/>
              </a:lnSpc>
            </a:pPr>
            <a:r>
              <a:rPr lang="en-US" altLang="en-US" sz="3200" b="1" i="1" u="sng" dirty="0">
                <a:solidFill>
                  <a:srgbClr val="FFFFCC"/>
                </a:solidFill>
                <a:highlight>
                  <a:srgbClr val="808080"/>
                </a:highlight>
              </a:rPr>
              <a:t>Data</a:t>
            </a:r>
            <a:r>
              <a:rPr lang="en-US" altLang="en-US" sz="3200" dirty="0"/>
              <a:t> </a:t>
            </a:r>
            <a:r>
              <a:rPr lang="en-US" altLang="en-US" sz="3200" b="1" i="1" u="sng" dirty="0">
                <a:solidFill>
                  <a:srgbClr val="FF7C80"/>
                </a:solidFill>
                <a:highlight>
                  <a:srgbClr val="808080"/>
                </a:highlight>
              </a:rPr>
              <a:t>Integration</a:t>
            </a:r>
            <a:r>
              <a:rPr lang="en-US" altLang="en-US" sz="3200" dirty="0">
                <a:solidFill>
                  <a:srgbClr val="0070C0"/>
                </a:solidFill>
              </a:rPr>
              <a:t>/</a:t>
            </a:r>
            <a:r>
              <a:rPr lang="en-US" altLang="en-US" sz="3200" b="1" i="1" u="sng" dirty="0">
                <a:solidFill>
                  <a:srgbClr val="FF7C80"/>
                </a:solidFill>
                <a:highlight>
                  <a:srgbClr val="808080"/>
                </a:highlight>
              </a:rPr>
              <a:t>Segregation</a:t>
            </a:r>
            <a:r>
              <a:rPr lang="en-US" altLang="en-US" sz="3200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833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Risks Associated with </a:t>
            </a:r>
            <a:r>
              <a:rPr lang="en-US" altLang="en-US" sz="4000" b="1" i="1" u="sng" dirty="0">
                <a:solidFill>
                  <a:srgbClr val="0070C0"/>
                </a:solidFill>
              </a:rPr>
              <a:t>Virtualization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0"/>
            <a:ext cx="6934200" cy="4525963"/>
          </a:xfrm>
          <a:noFill/>
        </p:spPr>
        <p:txBody>
          <a:bodyPr>
            <a:normAutofit lnSpcReduction="10000"/>
          </a:bodyPr>
          <a:lstStyle/>
          <a:p>
            <a:r>
              <a:rPr lang="en-US" altLang="en-US" b="0" dirty="0"/>
              <a:t>FYI – Review - </a:t>
            </a:r>
            <a:r>
              <a:rPr lang="en-US" altLang="en-US" b="1" i="1" u="sng" dirty="0">
                <a:solidFill>
                  <a:srgbClr val="0070C0"/>
                </a:solidFill>
              </a:rPr>
              <a:t>Virtualization</a:t>
            </a:r>
            <a:r>
              <a:rPr lang="en-US" altLang="en-US" b="0" dirty="0"/>
              <a:t>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b="1" i="1" u="sng" dirty="0"/>
              <a:t>Act</a:t>
            </a:r>
            <a:r>
              <a:rPr lang="en-US" altLang="en-US" dirty="0"/>
              <a:t> of </a:t>
            </a:r>
            <a:r>
              <a:rPr lang="en-US" altLang="en-US" b="1" i="1" u="sng" dirty="0"/>
              <a:t>Creating</a:t>
            </a:r>
            <a:r>
              <a:rPr lang="en-US" altLang="en-US" dirty="0"/>
              <a:t> a </a:t>
            </a:r>
            <a:r>
              <a:rPr lang="en-US" altLang="en-US" b="1" i="1" u="sng" dirty="0"/>
              <a:t>Virtual</a:t>
            </a:r>
            <a:r>
              <a:rPr lang="en-US" altLang="en-US" dirty="0"/>
              <a:t> ( </a:t>
            </a:r>
            <a:r>
              <a:rPr lang="en-US" altLang="en-US" b="1" i="1" u="sng" dirty="0" err="1"/>
              <a:t>Sw</a:t>
            </a:r>
            <a:r>
              <a:rPr lang="en-US" altLang="en-US" b="1" i="1" u="sng" dirty="0"/>
              <a:t>-controlled</a:t>
            </a:r>
            <a:r>
              <a:rPr lang="en-US" altLang="en-US" dirty="0"/>
              <a:t>) version of something</a:t>
            </a:r>
            <a:endParaRPr lang="en-US" altLang="en-US" b="0" dirty="0"/>
          </a:p>
          <a:p>
            <a:r>
              <a:rPr lang="en-US" altLang="en-US" b="0" dirty="0"/>
              <a:t>Breaking out of the </a:t>
            </a:r>
            <a:r>
              <a:rPr lang="en-US" altLang="en-US" b="1" i="1" u="sng" dirty="0">
                <a:solidFill>
                  <a:srgbClr val="0070C0"/>
                </a:solidFill>
              </a:rPr>
              <a:t>Virtual Machine</a:t>
            </a:r>
          </a:p>
          <a:p>
            <a:r>
              <a:rPr lang="en-US" altLang="en-US" b="1" i="1" u="sng" dirty="0">
                <a:solidFill>
                  <a:srgbClr val="0070C0"/>
                </a:solidFill>
              </a:rPr>
              <a:t>Network</a:t>
            </a:r>
            <a:r>
              <a:rPr lang="en-US" altLang="en-US" b="0" dirty="0"/>
              <a:t> and </a:t>
            </a:r>
            <a:r>
              <a:rPr lang="en-US" altLang="en-US" b="1" i="1" u="sng" dirty="0">
                <a:solidFill>
                  <a:srgbClr val="FF0000"/>
                </a:solidFill>
              </a:rPr>
              <a:t>Security</a:t>
            </a:r>
            <a:r>
              <a:rPr lang="en-US" altLang="en-US" b="0" dirty="0"/>
              <a:t> </a:t>
            </a:r>
            <a:r>
              <a:rPr lang="en-US" altLang="en-US" b="1" i="1" u="sng" dirty="0">
                <a:solidFill>
                  <a:srgbClr val="C00000"/>
                </a:solidFill>
              </a:rPr>
              <a:t>Controls</a:t>
            </a:r>
            <a:r>
              <a:rPr lang="en-US" altLang="en-US" b="0" dirty="0"/>
              <a:t> can intermingle 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</a:rPr>
              <a:t>Hypervisor</a:t>
            </a:r>
            <a:r>
              <a:rPr lang="en-US" altLang="en-US" dirty="0"/>
              <a:t>: the virtual machine monitoring the software that allows the virtual machines to exist</a:t>
            </a:r>
          </a:p>
        </p:txBody>
      </p:sp>
    </p:spTree>
    <p:extLst>
      <p:ext uri="{BB962C8B-B14F-4D97-AF65-F5344CB8AC3E}">
        <p14:creationId xmlns:p14="http://schemas.microsoft.com/office/powerpoint/2010/main" val="211601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Developing Policies, Standards, and Guidelines 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Implementing </a:t>
            </a:r>
            <a:r>
              <a:rPr lang="en-US" altLang="en-US" b="1" i="1" u="sng" dirty="0">
                <a:solidFill>
                  <a:srgbClr val="0070C0"/>
                </a:solidFill>
              </a:rPr>
              <a:t>Policies</a:t>
            </a:r>
          </a:p>
          <a:p>
            <a:pPr lvl="1"/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  <a:r>
              <a:rPr lang="en-US" altLang="en-US" dirty="0"/>
              <a:t> provide people in an organization with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Guidance</a:t>
            </a:r>
            <a:r>
              <a:rPr lang="en-US" altLang="en-US" dirty="0"/>
              <a:t> about their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Expected</a:t>
            </a:r>
            <a:r>
              <a:rPr lang="en-US" altLang="en-US" dirty="0"/>
              <a:t>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Behavior</a:t>
            </a:r>
          </a:p>
          <a:p>
            <a:pPr lvl="1"/>
            <a:r>
              <a:rPr lang="en-US" altLang="en-US" dirty="0"/>
              <a:t>Well-written policies are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Clear</a:t>
            </a:r>
            <a:r>
              <a:rPr lang="en-US" altLang="en-US" dirty="0"/>
              <a:t> and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Concise</a:t>
            </a:r>
            <a:r>
              <a:rPr lang="en-US" altLang="en-US" dirty="0"/>
              <a:t> and outline the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Consequences</a:t>
            </a:r>
            <a:r>
              <a:rPr lang="en-US" altLang="en-US" dirty="0"/>
              <a:t> when they are not followed </a:t>
            </a:r>
          </a:p>
          <a:p>
            <a:pPr lvl="2"/>
            <a:r>
              <a:rPr lang="en-US" altLang="en-US" dirty="0"/>
              <a:t>Note – this is a “Direction-Setting” Document” to guide peoples behavior</a:t>
            </a:r>
          </a:p>
        </p:txBody>
      </p:sp>
    </p:spTree>
    <p:extLst>
      <p:ext uri="{BB962C8B-B14F-4D97-AF65-F5344CB8AC3E}">
        <p14:creationId xmlns:p14="http://schemas.microsoft.com/office/powerpoint/2010/main" val="3128369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Key Areas of a </a:t>
            </a:r>
            <a:r>
              <a:rPr lang="en-US" altLang="en-US" sz="4000" b="1" i="1" u="sng" dirty="0">
                <a:solidFill>
                  <a:srgbClr val="00FF00"/>
                </a:solidFill>
              </a:rPr>
              <a:t>Good</a:t>
            </a:r>
            <a:r>
              <a:rPr lang="en-US" altLang="en-US" sz="4000" dirty="0"/>
              <a:t> </a:t>
            </a:r>
            <a:r>
              <a:rPr lang="en-US" altLang="en-US" sz="4000" b="1" i="1" u="sng" dirty="0">
                <a:solidFill>
                  <a:srgbClr val="0070C0"/>
                </a:solidFill>
              </a:rPr>
              <a:t>Policy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143000"/>
            <a:ext cx="7086600" cy="4983163"/>
          </a:xfrm>
          <a:noFill/>
        </p:spPr>
        <p:txBody>
          <a:bodyPr>
            <a:normAutofit fontScale="92500" lnSpcReduction="10000"/>
          </a:bodyPr>
          <a:lstStyle/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Statement</a:t>
            </a:r>
          </a:p>
          <a:p>
            <a:pPr lvl="1"/>
            <a:r>
              <a:rPr lang="en-US" altLang="en-US" sz="2000" dirty="0"/>
              <a:t>Outlines what the policy intends to accomplish and which documents, laws, and practices the policy addresses 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Policy Overview Statement </a:t>
            </a:r>
          </a:p>
          <a:p>
            <a:pPr lvl="1"/>
            <a:r>
              <a:rPr lang="en-US" altLang="en-US" sz="2000" dirty="0"/>
              <a:t>Provides goal of the policy, why it’s important, and how to comply with it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Policy Statement</a:t>
            </a:r>
          </a:p>
          <a:p>
            <a:pPr lvl="1"/>
            <a:r>
              <a:rPr lang="en-US" altLang="en-US" sz="2000" dirty="0"/>
              <a:t>Should be as clear and unambiguous as possible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Accountability Statement </a:t>
            </a:r>
          </a:p>
          <a:p>
            <a:pPr lvl="1"/>
            <a:r>
              <a:rPr lang="en-US" altLang="en-US" sz="2000" dirty="0"/>
              <a:t>Provides additional information to readers about who to contact if a problem is discovered</a:t>
            </a:r>
          </a:p>
          <a:p>
            <a:r>
              <a:rPr lang="en-US" altLang="en-US" sz="2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Exception Statement</a:t>
            </a:r>
          </a:p>
          <a:p>
            <a:pPr lvl="1"/>
            <a:r>
              <a:rPr lang="en-US" altLang="en-US" sz="2000" dirty="0"/>
              <a:t>Provides specific guidance about the procedure or process that must be followed in order to deviate from the policy </a:t>
            </a:r>
          </a:p>
        </p:txBody>
      </p:sp>
    </p:spTree>
    <p:extLst>
      <p:ext uri="{BB962C8B-B14F-4D97-AF65-F5344CB8AC3E}">
        <p14:creationId xmlns:p14="http://schemas.microsoft.com/office/powerpoint/2010/main" val="2860799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457200"/>
            <a:ext cx="62484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Chapter 1: Measuring and Weighing Risk</a:t>
            </a:r>
            <a:endParaRPr lang="en-US" altLang="en-US" sz="4000" b="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dirty="0"/>
              <a:t>Incorporating standards: </a:t>
            </a:r>
            <a:r>
              <a:rPr lang="en-US" altLang="en-US" b="1" i="1" u="sng" dirty="0"/>
              <a:t>Five</a:t>
            </a:r>
            <a:r>
              <a:rPr lang="en-US" altLang="en-US" dirty="0"/>
              <a:t> </a:t>
            </a:r>
            <a:r>
              <a:rPr lang="en-US" altLang="en-US" b="1" i="1" u="sng" dirty="0"/>
              <a:t>Points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Roles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Responsibilities</a:t>
            </a:r>
            <a:r>
              <a:rPr lang="en-US" altLang="en-US" dirty="0"/>
              <a:t> 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</a:t>
            </a:r>
            <a:r>
              <a:rPr lang="en-US" altLang="en-US" dirty="0"/>
              <a:t> documents 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</a:t>
            </a:r>
            <a:r>
              <a:rPr lang="en-US" altLang="en-US" dirty="0"/>
              <a:t>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Criteria</a:t>
            </a:r>
            <a:r>
              <a:rPr lang="en-US" altLang="en-US" dirty="0"/>
              <a:t> 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Maintenance</a:t>
            </a:r>
            <a:r>
              <a:rPr lang="en-US" altLang="en-US" dirty="0"/>
              <a:t> and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Administrative</a:t>
            </a:r>
            <a:r>
              <a:rPr lang="en-US" altLang="en-US" dirty="0"/>
              <a:t> </a:t>
            </a:r>
            <a:r>
              <a:rPr lang="en-US" altLang="en-US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679889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Following Guidelines</a:t>
            </a:r>
            <a:endParaRPr lang="en-US" altLang="en-US" sz="4000" b="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6400800" cy="45259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400" b="1" i="1" u="sng" dirty="0">
                <a:solidFill>
                  <a:srgbClr val="0070C0"/>
                </a:solidFill>
              </a:rPr>
              <a:t>Guidelines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/>
              <a:t>Help an organization implement or maintain standards by providing information on how to accomplish policies and maintain standards </a:t>
            </a:r>
          </a:p>
          <a:p>
            <a:pPr>
              <a:lnSpc>
                <a:spcPct val="90000"/>
              </a:lnSpc>
              <a:buFontTx/>
              <a:buNone/>
              <a:defRPr/>
            </a:pPr>
            <a:endParaRPr lang="en-US" sz="2400" dirty="0"/>
          </a:p>
          <a:p>
            <a:pPr>
              <a:lnSpc>
                <a:spcPct val="90000"/>
              </a:lnSpc>
              <a:buFontTx/>
              <a:buNone/>
              <a:defRPr/>
            </a:pPr>
            <a:r>
              <a:rPr lang="en-US" sz="2400" dirty="0"/>
              <a:t>Four Minimum Contents of Good Guidelines 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  <a:defRPr/>
            </a:pPr>
            <a:r>
              <a:rPr lang="en-US" sz="2400" dirty="0"/>
              <a:t>Scope and purpose </a:t>
            </a:r>
            <a:endParaRPr lang="en-US" sz="1600" dirty="0"/>
          </a:p>
          <a:p>
            <a:pPr marL="457200" indent="-457200">
              <a:lnSpc>
                <a:spcPct val="90000"/>
              </a:lnSpc>
              <a:buFontTx/>
              <a:buAutoNum type="arabicPeriod"/>
              <a:defRPr/>
            </a:pPr>
            <a:r>
              <a:rPr lang="en-US" sz="2400" dirty="0"/>
              <a:t>Roles and responsibilities 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  <a:defRPr/>
            </a:pPr>
            <a:r>
              <a:rPr lang="en-US" sz="2400" dirty="0"/>
              <a:t>Guideline statements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  <a:defRPr/>
            </a:pPr>
            <a:r>
              <a:rPr lang="en-US" sz="2400" dirty="0"/>
              <a:t>Operational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249958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i="1" u="sng" dirty="0"/>
              <a:t>Business Policies </a:t>
            </a:r>
            <a:r>
              <a:rPr lang="en-US" altLang="en-US" sz="4000" dirty="0"/>
              <a:t>Primary Areas of Concern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6477000" cy="4602163"/>
          </a:xfrm>
        </p:spPr>
        <p:txBody>
          <a:bodyPr>
            <a:normAutofit/>
          </a:bodyPr>
          <a:lstStyle/>
          <a:p>
            <a:r>
              <a:rPr lang="en-US" altLang="en-US" sz="2400" b="1" i="1" u="sng" dirty="0"/>
              <a:t>Mandatory vacations</a:t>
            </a:r>
          </a:p>
          <a:p>
            <a:r>
              <a:rPr lang="en-US" altLang="en-US" sz="2400" b="1" i="1" u="sng" dirty="0"/>
              <a:t>Job rotation</a:t>
            </a:r>
          </a:p>
          <a:p>
            <a:r>
              <a:rPr lang="en-US" altLang="en-US" sz="2400" b="1" i="1" u="sng" dirty="0"/>
              <a:t>Separation of duties</a:t>
            </a:r>
          </a:p>
          <a:p>
            <a:r>
              <a:rPr lang="en-US" altLang="en-US" sz="2400" b="1" i="1" u="sng" dirty="0"/>
              <a:t>Clean desk</a:t>
            </a:r>
          </a:p>
          <a:p>
            <a:r>
              <a:rPr lang="en-US" altLang="en-US" sz="2400" b="1" i="1" u="sng" dirty="0"/>
              <a:t>Background checks</a:t>
            </a:r>
          </a:p>
          <a:p>
            <a:r>
              <a:rPr lang="en-US" altLang="en-US" sz="2400" b="1" i="1" u="sng" dirty="0"/>
              <a:t>Nondisclosure</a:t>
            </a:r>
          </a:p>
          <a:p>
            <a:r>
              <a:rPr lang="en-US" altLang="en-US" sz="2400" b="1" i="1" u="sng" dirty="0"/>
              <a:t>Onboarding</a:t>
            </a:r>
          </a:p>
          <a:p>
            <a:r>
              <a:rPr lang="en-US" altLang="en-US" sz="2400" b="1" i="1" u="sng" dirty="0"/>
              <a:t>Continuing education</a:t>
            </a:r>
          </a:p>
          <a:p>
            <a:r>
              <a:rPr lang="en-US" altLang="en-US" sz="2400" b="1" i="1" u="sng" dirty="0"/>
              <a:t>Exit interviews</a:t>
            </a:r>
          </a:p>
          <a:p>
            <a:r>
              <a:rPr lang="en-US" altLang="en-US" sz="2400" b="1" i="1" u="sng" dirty="0"/>
              <a:t>Role-based awareness </a:t>
            </a:r>
          </a:p>
        </p:txBody>
      </p:sp>
    </p:spTree>
    <p:extLst>
      <p:ext uri="{BB962C8B-B14F-4D97-AF65-F5344CB8AC3E}">
        <p14:creationId xmlns:p14="http://schemas.microsoft.com/office/powerpoint/2010/main" val="2215819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Business Policies Primary Areas of Concern Continued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6477000" cy="4602163"/>
          </a:xfrm>
        </p:spPr>
        <p:txBody>
          <a:bodyPr>
            <a:normAutofit/>
          </a:bodyPr>
          <a:lstStyle/>
          <a:p>
            <a:r>
              <a:rPr lang="en-US" altLang="en-US" sz="2400" b="1" i="1" u="sng" dirty="0">
                <a:solidFill>
                  <a:srgbClr val="0070C0"/>
                </a:solidFill>
              </a:rPr>
              <a:t>Acceptable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Use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Policies</a:t>
            </a:r>
            <a:r>
              <a:rPr lang="en-US" altLang="en-US" sz="2400" dirty="0"/>
              <a:t> (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AUP</a:t>
            </a:r>
            <a:r>
              <a:rPr lang="en-US" altLang="en-US" sz="2400" dirty="0"/>
              <a:t>)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Adverse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Actions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</a:rPr>
              <a:t>General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</a:rPr>
              <a:t>Security Policies</a:t>
            </a:r>
          </a:p>
          <a:p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</a:t>
            </a:r>
            <a:r>
              <a:rPr lang="en-US" altLang="en-US" sz="2400" dirty="0"/>
              <a:t>/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</a:t>
            </a:r>
            <a:r>
              <a:rPr lang="en-US" altLang="en-US" sz="2400" dirty="0"/>
              <a:t> </a:t>
            </a:r>
            <a:r>
              <a:rPr lang="en-US" altLang="en-US" sz="24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Policies</a:t>
            </a:r>
          </a:p>
        </p:txBody>
      </p:sp>
    </p:spTree>
    <p:extLst>
      <p:ext uri="{BB962C8B-B14F-4D97-AF65-F5344CB8AC3E}">
        <p14:creationId xmlns:p14="http://schemas.microsoft.com/office/powerpoint/2010/main" val="200503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524000"/>
            <a:ext cx="6477000" cy="4602163"/>
          </a:xfrm>
        </p:spPr>
        <p:txBody>
          <a:bodyPr/>
          <a:lstStyle/>
          <a:p>
            <a:endParaRPr lang="en-US" altLang="en-US" sz="2800" b="0" dirty="0"/>
          </a:p>
          <a:p>
            <a:r>
              <a:rPr lang="en-US" altLang="en-US" sz="2800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 Positives</a:t>
            </a:r>
          </a:p>
          <a:p>
            <a:pPr lvl="1"/>
            <a:r>
              <a:rPr lang="en-US" altLang="en-US" sz="2400" b="1" i="1" u="sng" dirty="0"/>
              <a:t>Events</a:t>
            </a:r>
            <a:r>
              <a:rPr lang="en-US" altLang="en-US" sz="2400" dirty="0"/>
              <a:t> that </a:t>
            </a:r>
            <a:r>
              <a:rPr lang="en-US" altLang="en-US" sz="2400" b="1" i="1" u="sng" dirty="0">
                <a:solidFill>
                  <a:srgbClr val="92D050"/>
                </a:solidFill>
              </a:rPr>
              <a:t>aren’t really </a:t>
            </a:r>
            <a:r>
              <a:rPr lang="en-US" altLang="en-US" sz="2400" b="1" i="1" u="sng" dirty="0">
                <a:solidFill>
                  <a:srgbClr val="FF9933"/>
                </a:solidFill>
              </a:rPr>
              <a:t>Incidents</a:t>
            </a:r>
          </a:p>
          <a:p>
            <a:r>
              <a:rPr lang="en-US" altLang="en-US" dirty="0"/>
              <a:t>Risk management 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Best Practices</a:t>
            </a:r>
          </a:p>
          <a:p>
            <a:pPr lvl="1"/>
            <a:r>
              <a:rPr lang="en-US" altLang="en-US" dirty="0"/>
              <a:t>Business Impact Analysis (</a:t>
            </a:r>
            <a:r>
              <a:rPr lang="en-US" altLang="en-US" b="1" i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BIA</a:t>
            </a:r>
            <a:r>
              <a:rPr lang="en-US" altLang="en-US" dirty="0"/>
              <a:t>)</a:t>
            </a:r>
          </a:p>
          <a:p>
            <a:pPr lvl="1">
              <a:buFontTx/>
              <a:buNone/>
            </a:pPr>
            <a:endParaRPr lang="en-US" altLang="en-US" sz="2400" dirty="0"/>
          </a:p>
        </p:txBody>
      </p:sp>
      <p:sp>
        <p:nvSpPr>
          <p:cNvPr id="17411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Chapter 1: Measuring and Weighing Risk</a:t>
            </a:r>
          </a:p>
        </p:txBody>
      </p:sp>
    </p:spTree>
    <p:extLst>
      <p:ext uri="{BB962C8B-B14F-4D97-AF65-F5344CB8AC3E}">
        <p14:creationId xmlns:p14="http://schemas.microsoft.com/office/powerpoint/2010/main" val="723407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35CCA-65A9-4CC5-B04C-BBC99BC1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274638"/>
            <a:ext cx="6400800" cy="457199"/>
          </a:xfrm>
        </p:spPr>
        <p:txBody>
          <a:bodyPr>
            <a:normAutofit fontScale="90000"/>
          </a:bodyPr>
          <a:lstStyle/>
          <a:p>
            <a:r>
              <a:rPr lang="en-US" dirty="0"/>
              <a:t>RAID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2B7DE-D587-490B-81CA-E7D5886AF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731837"/>
            <a:ext cx="6400800" cy="58515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000" b="1" i="1" u="sng" dirty="0">
                <a:solidFill>
                  <a:srgbClr val="0070C0"/>
                </a:solidFill>
              </a:rPr>
              <a:t>Redundant Array Of Independent Di</a:t>
            </a:r>
            <a:r>
              <a:rPr lang="en-US" altLang="en-US" sz="2000" i="1" dirty="0"/>
              <a:t>sks (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RAID</a:t>
            </a:r>
            <a:r>
              <a:rPr lang="en-US" altLang="en-US" sz="2000" i="1" dirty="0"/>
              <a:t>)</a:t>
            </a:r>
          </a:p>
          <a:p>
            <a:pPr lvl="1"/>
            <a:r>
              <a:rPr lang="en-US" altLang="en-US" sz="2000" dirty="0"/>
              <a:t>A technology that uses multiple disks to provide varying degrees of:</a:t>
            </a:r>
          </a:p>
          <a:p>
            <a:pPr lvl="2"/>
            <a:r>
              <a:rPr lang="en-US" altLang="en-US" sz="1600" dirty="0"/>
              <a:t> </a:t>
            </a:r>
            <a:r>
              <a:rPr lang="en-US" altLang="en-US" sz="1600" b="1" i="1" u="sng" dirty="0">
                <a:solidFill>
                  <a:srgbClr val="0070C0"/>
                </a:solidFill>
              </a:rPr>
              <a:t>Fault Tolerance</a:t>
            </a:r>
          </a:p>
          <a:p>
            <a:pPr lvl="2"/>
            <a:r>
              <a:rPr lang="en-US" altLang="en-US" sz="1600" b="1" i="1" u="sng" dirty="0">
                <a:solidFill>
                  <a:srgbClr val="0070C0"/>
                </a:solidFill>
              </a:rPr>
              <a:t>High Availability</a:t>
            </a:r>
          </a:p>
          <a:p>
            <a:pPr lvl="2"/>
            <a:r>
              <a:rPr lang="en-US" altLang="en-US" sz="1600" b="1" i="1" u="sng" dirty="0">
                <a:solidFill>
                  <a:srgbClr val="0070C0"/>
                </a:solidFill>
              </a:rPr>
              <a:t>Higher Performance </a:t>
            </a:r>
            <a:r>
              <a:rPr lang="en-US" altLang="en-US" sz="1600" b="1" i="1" u="sng" dirty="0"/>
              <a:t>(R/W)</a:t>
            </a:r>
          </a:p>
          <a:p>
            <a:pPr>
              <a:buFontTx/>
              <a:buNone/>
            </a:pPr>
            <a:r>
              <a:rPr lang="en-US" altLang="en-US" sz="2400" dirty="0"/>
              <a:t>Several </a:t>
            </a:r>
            <a:r>
              <a:rPr lang="en-US" altLang="en-US" sz="2400" b="1" i="1" u="sng" dirty="0"/>
              <a:t>Designations</a:t>
            </a:r>
            <a:r>
              <a:rPr lang="en-US" altLang="en-US" sz="2400" dirty="0"/>
              <a:t> for RAID levels</a:t>
            </a:r>
            <a:endParaRPr lang="en-US" altLang="en-US" sz="2000" i="1" dirty="0"/>
          </a:p>
          <a:p>
            <a:r>
              <a:rPr lang="en-US" altLang="en-US" sz="2000" b="1" i="1" u="sng" dirty="0"/>
              <a:t>RAID Level 0</a:t>
            </a:r>
            <a:r>
              <a:rPr lang="en-US" altLang="en-US" sz="2000" dirty="0"/>
              <a:t> RAID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0</a:t>
            </a:r>
            <a:r>
              <a:rPr lang="en-US" altLang="en-US" sz="2000" dirty="0"/>
              <a:t> is Block-Level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Striping</a:t>
            </a:r>
            <a:r>
              <a:rPr lang="en-US" altLang="en-US" sz="2000" dirty="0"/>
              <a:t> (High Perf.)</a:t>
            </a:r>
            <a:endParaRPr lang="en-US" altLang="en-US" sz="2000" b="1" i="1" u="sng" dirty="0">
              <a:solidFill>
                <a:srgbClr val="0070C0"/>
              </a:solidFill>
            </a:endParaRPr>
          </a:p>
          <a:p>
            <a:r>
              <a:rPr lang="en-US" altLang="en-US" sz="2000" b="1" i="1" u="sng" dirty="0"/>
              <a:t>RAID Level 1 </a:t>
            </a:r>
            <a:r>
              <a:rPr lang="en-US" altLang="en-US" sz="2000" dirty="0"/>
              <a:t>RAID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1</a:t>
            </a:r>
            <a:r>
              <a:rPr lang="en-US" altLang="en-US" sz="2000" dirty="0"/>
              <a:t> is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Mirroring</a:t>
            </a:r>
            <a:r>
              <a:rPr lang="en-US" altLang="en-US" sz="2000" dirty="0"/>
              <a:t> (FT, NOT High Perf.)</a:t>
            </a:r>
            <a:endParaRPr lang="en-US" altLang="en-US" sz="2000" b="1" i="1" u="sng" dirty="0">
              <a:solidFill>
                <a:srgbClr val="0070C0"/>
              </a:solidFill>
            </a:endParaRPr>
          </a:p>
          <a:p>
            <a:r>
              <a:rPr lang="en-US" altLang="en-US" sz="2000" b="1" i="1" u="sng" dirty="0"/>
              <a:t>RAID Level 2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RAID 2 is </a:t>
            </a:r>
            <a:r>
              <a:rPr lang="en-US" altLang="en-US" sz="2000" b="1" i="1" u="sng" dirty="0"/>
              <a:t>Bit-Level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Striping – Spin Sync</a:t>
            </a:r>
          </a:p>
          <a:p>
            <a:pPr lvl="1"/>
            <a:r>
              <a:rPr lang="en-US" altLang="en-US" sz="1600" b="1" i="1" dirty="0">
                <a:solidFill>
                  <a:srgbClr val="FFC000"/>
                </a:solidFill>
                <a:highlight>
                  <a:srgbClr val="808080"/>
                </a:highlight>
              </a:rPr>
              <a:t>Rarely used today</a:t>
            </a:r>
          </a:p>
          <a:p>
            <a:pPr lvl="1"/>
            <a:r>
              <a:rPr lang="en-US" altLang="en-US" sz="1600" dirty="0"/>
              <a:t>Very High Perf</a:t>
            </a:r>
            <a:endParaRPr lang="en-US" altLang="en-US" sz="2000" dirty="0"/>
          </a:p>
          <a:p>
            <a:r>
              <a:rPr lang="en-US" altLang="en-US" sz="2000" b="1" i="1" u="sng" dirty="0"/>
              <a:t>RAID Level 3 </a:t>
            </a:r>
            <a:r>
              <a:rPr lang="en-US" altLang="en-US" sz="2000" dirty="0"/>
              <a:t>RAID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3</a:t>
            </a:r>
            <a:r>
              <a:rPr lang="en-US" altLang="en-US" sz="2000" dirty="0"/>
              <a:t> is </a:t>
            </a:r>
            <a:r>
              <a:rPr lang="en-US" altLang="en-US" sz="2000" b="1" i="1" u="sng" dirty="0"/>
              <a:t>Byte-Level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 Disk Striping</a:t>
            </a:r>
            <a:r>
              <a:rPr lang="en-US" altLang="en-US" sz="2000" dirty="0"/>
              <a:t> Single Parity Drive</a:t>
            </a:r>
            <a:endParaRPr lang="en-US" altLang="en-US" sz="2000" b="1" i="1" u="sng" dirty="0">
              <a:solidFill>
                <a:srgbClr val="0070C0"/>
              </a:solidFill>
            </a:endParaRPr>
          </a:p>
          <a:p>
            <a:pPr lvl="1"/>
            <a:r>
              <a:rPr lang="en-US" altLang="en-US" sz="1600" b="1" i="1" dirty="0">
                <a:solidFill>
                  <a:srgbClr val="FFC000"/>
                </a:solidFill>
                <a:highlight>
                  <a:srgbClr val="808080"/>
                </a:highlight>
              </a:rPr>
              <a:t>Rarely used today</a:t>
            </a:r>
          </a:p>
          <a:p>
            <a:pPr lvl="1"/>
            <a:r>
              <a:rPr lang="en-US" altLang="en-US" sz="1600" dirty="0"/>
              <a:t>FT + High Perf</a:t>
            </a:r>
          </a:p>
          <a:p>
            <a:r>
              <a:rPr lang="en-US" altLang="en-US" sz="2000" b="1" i="1" u="sng" dirty="0"/>
              <a:t>RAID 4</a:t>
            </a:r>
            <a:r>
              <a:rPr lang="en-US" altLang="en-US" sz="2000" i="1" dirty="0"/>
              <a:t> </a:t>
            </a:r>
            <a:r>
              <a:rPr lang="en-US" altLang="en-US" sz="2000" dirty="0"/>
              <a:t>is</a:t>
            </a:r>
            <a:r>
              <a:rPr lang="en-US" altLang="en-US" sz="2000" i="1" dirty="0"/>
              <a:t> </a:t>
            </a:r>
            <a:r>
              <a:rPr lang="en-US" altLang="en-US" sz="2000" b="1" i="1" u="sng" dirty="0"/>
              <a:t>Block-Level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 Striping with a </a:t>
            </a:r>
            <a:r>
              <a:rPr lang="en-US" altLang="en-US" sz="2000" b="1" i="1" u="sng" dirty="0">
                <a:solidFill>
                  <a:srgbClr val="FFC000"/>
                </a:solidFill>
              </a:rPr>
              <a:t>Single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 Parity (ECC) Disk</a:t>
            </a:r>
          </a:p>
          <a:p>
            <a:pPr lvl="1"/>
            <a:r>
              <a:rPr lang="en-US" altLang="en-US" sz="1600" dirty="0"/>
              <a:t>FT + High Perf</a:t>
            </a:r>
          </a:p>
          <a:p>
            <a:r>
              <a:rPr lang="en-US" altLang="en-US" sz="2000" b="1" i="1" u="sng" dirty="0"/>
              <a:t>RAID Level 5 </a:t>
            </a:r>
            <a:r>
              <a:rPr lang="en-US" altLang="en-US" sz="2000" dirty="0"/>
              <a:t>RAID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5</a:t>
            </a:r>
            <a:r>
              <a:rPr lang="en-US" altLang="en-US" sz="2000" dirty="0"/>
              <a:t> is Block-Level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Striping with Distributed Parity</a:t>
            </a:r>
          </a:p>
          <a:p>
            <a:r>
              <a:rPr lang="en-US" altLang="en-US" sz="2000" b="1" i="1" u="sng" dirty="0"/>
              <a:t>RAID 6</a:t>
            </a:r>
            <a:r>
              <a:rPr lang="en-US" altLang="en-US" sz="2000" i="1" dirty="0"/>
              <a:t> </a:t>
            </a:r>
            <a:r>
              <a:rPr lang="en-US" altLang="en-US" sz="2000" dirty="0"/>
              <a:t>is</a:t>
            </a:r>
            <a:r>
              <a:rPr lang="en-US" altLang="en-US" sz="2000" i="1" dirty="0"/>
              <a:t>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Disk Level Striping (Blocked) with an additional Parity Stripe (has 2 Parity Stripes)</a:t>
            </a:r>
          </a:p>
          <a:p>
            <a:r>
              <a:rPr lang="en-US" altLang="en-US" sz="2000" b="1" i="1" u="sng" dirty="0"/>
              <a:t>RAID 10 </a:t>
            </a:r>
            <a:r>
              <a:rPr lang="en-US" altLang="en-US" sz="2000" dirty="0"/>
              <a:t>is</a:t>
            </a:r>
            <a:r>
              <a:rPr lang="en-US" altLang="en-US" sz="2000" i="1" dirty="0"/>
              <a:t> </a:t>
            </a:r>
            <a:r>
              <a:rPr lang="en-US" altLang="en-US" sz="2000" b="1" i="1" u="sng" dirty="0">
                <a:solidFill>
                  <a:srgbClr val="0070C0"/>
                </a:solidFill>
              </a:rPr>
              <a:t>Hybrid RAID</a:t>
            </a:r>
            <a:r>
              <a:rPr lang="en-US" altLang="en-US" sz="2000" b="1" i="1" u="sng" dirty="0"/>
              <a:t>:</a:t>
            </a:r>
          </a:p>
          <a:p>
            <a:pPr lvl="1"/>
            <a:r>
              <a:rPr lang="en-US" altLang="en-US" sz="1600" b="1" dirty="0"/>
              <a:t>Combines 2 of the Common RAID LEVELS into a more FT Configuration</a:t>
            </a:r>
          </a:p>
          <a:p>
            <a:pPr lvl="1"/>
            <a:r>
              <a:rPr lang="en-US" altLang="en-US" sz="1600" b="1" dirty="0"/>
              <a:t>Most Common – 10 = 5 x 2:</a:t>
            </a:r>
          </a:p>
          <a:p>
            <a:pPr lvl="2"/>
            <a:r>
              <a:rPr lang="en-US" altLang="en-US" sz="1200" b="1" dirty="0"/>
              <a:t>2 RAID 5’s that are Mirrors</a:t>
            </a:r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69691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954</Words>
  <Application>Microsoft Office PowerPoint</Application>
  <PresentationFormat>On-screen Show (4:3)</PresentationFormat>
  <Paragraphs>175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CompTIA Security+ Study Guide (SY0-501)</vt:lpstr>
      <vt:lpstr>Chapter 1: Managing Risk</vt:lpstr>
      <vt:lpstr>Threat Assessment</vt:lpstr>
      <vt:lpstr>Computing Risk Assessment</vt:lpstr>
      <vt:lpstr>Computing Risk Assessment Continued</vt:lpstr>
      <vt:lpstr>Risk Measurements</vt:lpstr>
      <vt:lpstr>Acting on Your Risk Assessment- What to do for Each Risk</vt:lpstr>
      <vt:lpstr>Acting on Your Risk Assessment…</vt:lpstr>
      <vt:lpstr>Risks and Cloud Computing</vt:lpstr>
      <vt:lpstr>Risks and Cloud Computing</vt:lpstr>
      <vt:lpstr>Risks Associated with Virtualization</vt:lpstr>
      <vt:lpstr>Developing Policies, Standards, and Guidelines </vt:lpstr>
      <vt:lpstr>Key Areas of a Good Policy</vt:lpstr>
      <vt:lpstr>Chapter 1: Measuring and Weighing Risk</vt:lpstr>
      <vt:lpstr>Following Guidelines</vt:lpstr>
      <vt:lpstr>Business Policies Primary Areas of Concern</vt:lpstr>
      <vt:lpstr>Business Policies Primary Areas of Concern Continued</vt:lpstr>
      <vt:lpstr>Chapter 1: Measuring and Weighing Risk</vt:lpstr>
      <vt:lpstr>RAID</vt:lpstr>
    </vt:vector>
  </TitlesOfParts>
  <Company>John Wiley and Sons,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O'Brien, Connor - San Francisco</dc:creator>
  <cp:lastModifiedBy>Ricky Gibson</cp:lastModifiedBy>
  <cp:revision>41</cp:revision>
  <dcterms:created xsi:type="dcterms:W3CDTF">2013-06-05T20:52:46Z</dcterms:created>
  <dcterms:modified xsi:type="dcterms:W3CDTF">2020-04-06T18:04:06Z</dcterms:modified>
</cp:coreProperties>
</file>