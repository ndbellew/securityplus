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42E9CA-2BF1-46EA-B45C-F9785367178A}" type="datetimeFigureOut">
              <a:rPr lang="en-US" smtClean="0"/>
              <a:t>7/24/2019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46B0CE-0468-40BB-804A-EE395BF9B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623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E376C6FE-1F79-4A8A-A408-0FE37018C86B}" type="slidenum">
              <a:rPr lang="en-US" altLang="en-US" sz="1200" smtClean="0"/>
              <a:pPr/>
              <a:t>1</a:t>
            </a:fld>
            <a:endParaRPr lang="en-US" altLang="en-US" sz="120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79929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D28046EE-D7E7-4B05-BE66-58E34E1254F5}" type="slidenum">
              <a:rPr lang="en-US" altLang="en-US" sz="1200" smtClean="0"/>
              <a:pPr/>
              <a:t>2</a:t>
            </a:fld>
            <a:endParaRPr lang="en-US" altLang="en-US" sz="120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29409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726F2043-51AA-45B1-94E0-26F4A0556CD3}" type="slidenum">
              <a:rPr lang="en-US" altLang="en-US" sz="1200" smtClean="0"/>
              <a:pPr/>
              <a:t>3</a:t>
            </a:fld>
            <a:endParaRPr lang="en-US" altLang="en-US" sz="120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12882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7945CCC9-CBF2-49B0-A201-E1B00BF5153C}" type="slidenum">
              <a:rPr lang="en-US" altLang="en-US" sz="1200" smtClean="0"/>
              <a:pPr/>
              <a:t>4</a:t>
            </a:fld>
            <a:endParaRPr lang="en-US" altLang="en-US" sz="120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90744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E635E292-1655-4460-BAA2-077F9BDF3159}" type="slidenum">
              <a:rPr lang="en-US" altLang="en-US" sz="1200" smtClean="0"/>
              <a:pPr/>
              <a:t>5</a:t>
            </a:fld>
            <a:endParaRPr lang="en-US" altLang="en-US" sz="120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09406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2F5F6F06-71BB-4E9C-BB44-4C69D9AFE96A}" type="slidenum">
              <a:rPr lang="en-US" altLang="en-US" sz="1200" smtClean="0"/>
              <a:pPr/>
              <a:t>6</a:t>
            </a:fld>
            <a:endParaRPr lang="en-US" altLang="en-US" sz="120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20989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8F2988C5-7DFD-473B-BFED-58A9E792BFBD}" type="slidenum">
              <a:rPr lang="en-US" altLang="en-US" sz="1200" smtClean="0"/>
              <a:pPr/>
              <a:t>7</a:t>
            </a:fld>
            <a:endParaRPr lang="en-US" altLang="en-US" sz="120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40235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AB053038-F325-47C2-AFF0-97D2D80D4F82}" type="slidenum">
              <a:rPr lang="en-US" altLang="en-US" sz="1200" smtClean="0"/>
              <a:pPr/>
              <a:t>8</a:t>
            </a:fld>
            <a:endParaRPr lang="en-US" altLang="en-US" sz="120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06744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825FE1A7-00E0-478A-A0E1-986362115E8A}" type="slidenum">
              <a:rPr lang="en-US" altLang="en-US" sz="1200" smtClean="0"/>
              <a:pPr/>
              <a:t>9</a:t>
            </a:fld>
            <a:endParaRPr lang="en-US" altLang="en-US" sz="1200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33724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E4F6B13A-BF7A-4CFB-8B43-7CE371678045}" type="slidenum">
              <a:rPr lang="en-US" altLang="en-US" sz="1200" smtClean="0"/>
              <a:pPr/>
              <a:t>10</a:t>
            </a:fld>
            <a:endParaRPr lang="en-US" altLang="en-US" sz="120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94425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37AEA5B5-5616-450B-AB58-632FA7E90C2E}" type="slidenum">
              <a:rPr lang="en-US" altLang="en-US" sz="1200" smtClean="0"/>
              <a:pPr/>
              <a:t>11</a:t>
            </a:fld>
            <a:endParaRPr lang="en-US" altLang="en-US" sz="120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50936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C42C8536-C698-45C7-8221-C05276E55DB8}" type="slidenum">
              <a:rPr lang="en-US" altLang="en-US" sz="1200" smtClean="0"/>
              <a:pPr/>
              <a:t>14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33069943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260240EF-56B3-4751-BD24-511C5A6B5F94}" type="slidenum">
              <a:rPr lang="en-US" altLang="en-US" sz="1200" smtClean="0"/>
              <a:pPr/>
              <a:t>15</a:t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3283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9C97E54C-2820-44BC-ADAC-635C0C892E94}" type="slidenum">
              <a:rPr lang="en-US" altLang="en-US" sz="1200" smtClean="0"/>
              <a:pPr/>
              <a:t>16</a:t>
            </a:fld>
            <a:endParaRPr lang="en-US" altLang="en-US" sz="1200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29457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85B3F07E-37E9-40FA-8D66-27955419E530}" type="slidenum">
              <a:rPr lang="en-US" altLang="en-US" sz="1200" smtClean="0"/>
              <a:pPr/>
              <a:t>17</a:t>
            </a:fld>
            <a:endParaRPr lang="en-US" altLang="en-US" sz="120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11680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5FBC9697-4F81-4AAE-9EC8-B76106AA553F}" type="slidenum">
              <a:rPr lang="en-US" altLang="en-US" sz="1200" smtClean="0"/>
              <a:pPr/>
              <a:t>18</a:t>
            </a:fld>
            <a:endParaRPr lang="en-US" altLang="en-US" sz="1200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94195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1C2B3543-F779-4C01-8190-65E56DA4F52B}" type="slidenum">
              <a:rPr lang="en-US" altLang="en-US" sz="1200" smtClean="0"/>
              <a:pPr/>
              <a:t>19</a:t>
            </a:fld>
            <a:endParaRPr lang="en-US" altLang="en-US" sz="1200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6454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EB3193E4-B721-481A-9FC6-2F44838F7D1A}" type="slidenum">
              <a:rPr lang="en-US" altLang="en-US" sz="1200" smtClean="0"/>
              <a:pPr/>
              <a:t>20</a:t>
            </a:fld>
            <a:endParaRPr lang="en-US" altLang="en-US" sz="1200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37317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6B757EAB-284B-433A-9D01-BF278369E81B}" type="slidenum">
              <a:rPr lang="en-US" altLang="en-US" sz="1200" smtClean="0"/>
              <a:pPr/>
              <a:t>21</a:t>
            </a:fld>
            <a:endParaRPr lang="en-US" altLang="en-US" sz="1200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45537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7/24/2019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5"/>
          <p:cNvSpPr>
            <a:spLocks noChangeArrowheads="1"/>
          </p:cNvSpPr>
          <p:nvPr userDrawn="1"/>
        </p:nvSpPr>
        <p:spPr bwMode="auto">
          <a:xfrm>
            <a:off x="-9525" y="0"/>
            <a:ext cx="9144000" cy="6858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8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65088"/>
            <a:ext cx="1676400" cy="61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0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8" y="0"/>
            <a:ext cx="1820863" cy="674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68738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0" y="1600200"/>
            <a:ext cx="6400800" cy="4525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132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5999" y="4406900"/>
            <a:ext cx="6208713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5999" y="2906713"/>
            <a:ext cx="6208713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7/24/2019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7689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62200" y="1586816"/>
            <a:ext cx="2895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86400" y="1600200"/>
            <a:ext cx="32004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7/24/2019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9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8925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1535113"/>
            <a:ext cx="289560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86000" y="2209800"/>
            <a:ext cx="2897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0200" y="1535113"/>
            <a:ext cx="327660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0200" y="2174874"/>
            <a:ext cx="3276600" cy="399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7/24/2019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Rectangle 11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5679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7/24/2019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7382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7/24/2019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6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8663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273050"/>
            <a:ext cx="2209800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5800" y="273050"/>
            <a:ext cx="41910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9800" y="1430860"/>
            <a:ext cx="2209800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7/24/2019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9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479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0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667000" y="609600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67000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7/24/2019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9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3054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7/24/2019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505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7/24/2019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861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9D81E-C9EA-4359-B926-F4C2977B0011}" type="datetimeFigureOut">
              <a:rPr lang="en-US" smtClean="0"/>
              <a:t>7/24/2019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524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b="1" dirty="0"/>
              <a:t>CompTIA Security+ Study Guide (SY0-501)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noFill/>
        </p:spPr>
        <p:txBody>
          <a:bodyPr/>
          <a:lstStyle/>
          <a:p>
            <a:r>
              <a:rPr lang="en-US" altLang="en-US" dirty="0"/>
              <a:t>Chapter 8:</a:t>
            </a:r>
          </a:p>
          <a:p>
            <a:r>
              <a:rPr lang="en-US" altLang="en-US" dirty="0"/>
              <a:t>Cryptography</a:t>
            </a:r>
          </a:p>
        </p:txBody>
      </p:sp>
    </p:spTree>
    <p:extLst>
      <p:ext uri="{BB962C8B-B14F-4D97-AF65-F5344CB8AC3E}">
        <p14:creationId xmlns:p14="http://schemas.microsoft.com/office/powerpoint/2010/main" val="296745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Chapter 8: Cryptography</a:t>
            </a:r>
          </a:p>
        </p:txBody>
      </p:sp>
      <p:sp>
        <p:nvSpPr>
          <p:cNvPr id="3075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/>
              <a:t>Compare and contrast types of attacks</a:t>
            </a:r>
          </a:p>
          <a:p>
            <a:r>
              <a:rPr lang="en-US" altLang="en-US" sz="2400" dirty="0"/>
              <a:t>Compare and contrast basic concepts of cryptography</a:t>
            </a:r>
          </a:p>
          <a:p>
            <a:r>
              <a:rPr lang="en-US" altLang="en-US" sz="2400" dirty="0"/>
              <a:t>Explain cryptography algorithms and their basic characteristics</a:t>
            </a:r>
          </a:p>
          <a:p>
            <a:r>
              <a:rPr lang="en-US" altLang="en-US" sz="2400" dirty="0"/>
              <a:t>Given a scenario, install and configure wireless security settings</a:t>
            </a:r>
          </a:p>
          <a:p>
            <a:r>
              <a:rPr lang="en-US" altLang="en-US" sz="2400" dirty="0"/>
              <a:t>Given a scenario, implement public key infrastructure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97448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An Overview of Cryptography</a:t>
            </a:r>
          </a:p>
        </p:txBody>
      </p:sp>
      <p:sp>
        <p:nvSpPr>
          <p:cNvPr id="4099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dirty="0"/>
              <a:t>Cryptography is a field almost as old as humankind.</a:t>
            </a:r>
          </a:p>
          <a:p>
            <a:r>
              <a:rPr lang="en-US" altLang="en-US" sz="2000" dirty="0"/>
              <a:t>Parts of:</a:t>
            </a:r>
          </a:p>
          <a:p>
            <a:pPr lvl="1"/>
            <a:r>
              <a:rPr lang="en-US" altLang="en-US" sz="2000" dirty="0"/>
              <a:t>Understanding nonmathematical cryptography</a:t>
            </a:r>
          </a:p>
          <a:p>
            <a:pPr lvl="1"/>
            <a:r>
              <a:rPr lang="en-US" altLang="en-US" sz="2000" dirty="0"/>
              <a:t>Substitution ciphers</a:t>
            </a:r>
          </a:p>
          <a:p>
            <a:pPr lvl="2"/>
            <a:r>
              <a:rPr lang="en-US" altLang="en-US" sz="2000" dirty="0"/>
              <a:t>A type of coding or ciphering system that changes one character or symbol into another</a:t>
            </a:r>
            <a:endParaRPr lang="en-US" altLang="en-US" sz="2000" b="1" dirty="0"/>
          </a:p>
          <a:p>
            <a:pPr lvl="1"/>
            <a:r>
              <a:rPr lang="en-US" altLang="en-US" sz="2000" dirty="0"/>
              <a:t> Transposition ciphers (transportation code)</a:t>
            </a:r>
          </a:p>
          <a:p>
            <a:pPr lvl="2"/>
            <a:r>
              <a:rPr lang="en-US" altLang="en-US" sz="2000" dirty="0"/>
              <a:t>Involves transposing or scrambling the letters in a certain manner</a:t>
            </a:r>
          </a:p>
        </p:txBody>
      </p:sp>
    </p:spTree>
    <p:extLst>
      <p:ext uri="{BB962C8B-B14F-4D97-AF65-F5344CB8AC3E}">
        <p14:creationId xmlns:p14="http://schemas.microsoft.com/office/powerpoint/2010/main" val="247152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Chapter 8: Cryptography</a:t>
            </a:r>
            <a:endParaRPr lang="en-US" altLang="en-US" sz="4000" b="0"/>
          </a:p>
        </p:txBody>
      </p:sp>
      <p:sp>
        <p:nvSpPr>
          <p:cNvPr id="5123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000" dirty="0"/>
              <a:t>Steganography</a:t>
            </a:r>
          </a:p>
          <a:p>
            <a:pPr lvl="1"/>
            <a:r>
              <a:rPr lang="en-US" altLang="en-US" sz="2000" dirty="0"/>
              <a:t>The process of hiding a message in a medium such as a digital image, audio file, or other file</a:t>
            </a:r>
          </a:p>
          <a:p>
            <a:r>
              <a:rPr lang="en-US" altLang="en-US" sz="2000" dirty="0"/>
              <a:t>Hybrid systems</a:t>
            </a:r>
          </a:p>
          <a:p>
            <a:pPr lvl="1"/>
            <a:r>
              <a:rPr lang="en-US" altLang="en-US" sz="2000" dirty="0"/>
              <a:t>Best when two or more of these methods of nonmathematical cryptography are combined</a:t>
            </a:r>
          </a:p>
          <a:p>
            <a:r>
              <a:rPr lang="en-US" altLang="en-US" sz="2000" dirty="0"/>
              <a:t>Mathematical cryptography</a:t>
            </a:r>
          </a:p>
          <a:p>
            <a:pPr lvl="1"/>
            <a:r>
              <a:rPr lang="en-US" altLang="en-US" sz="2000" dirty="0"/>
              <a:t>Deals with using mathematical processes on characters or messages</a:t>
            </a:r>
          </a:p>
          <a:p>
            <a:r>
              <a:rPr lang="en-US" altLang="en-US" sz="2000" dirty="0"/>
              <a:t>Hashing</a:t>
            </a:r>
          </a:p>
          <a:p>
            <a:pPr lvl="1"/>
            <a:r>
              <a:rPr lang="en-US" altLang="en-US" sz="2000" dirty="0"/>
              <a:t>Refers to performing a calculation on a message and converting it into a numeric hash value</a:t>
            </a:r>
          </a:p>
          <a:p>
            <a:pPr lvl="1">
              <a:buFontTx/>
              <a:buNone/>
            </a:pP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799072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/>
              <a:t>Working with Symmetric Algorithms</a:t>
            </a:r>
          </a:p>
        </p:txBody>
      </p:sp>
      <p:sp>
        <p:nvSpPr>
          <p:cNvPr id="6147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b="0" dirty="0"/>
              <a:t>Symmetric algorithms require both ends of an encrypted message to have the same key and processing algorithms.</a:t>
            </a:r>
          </a:p>
          <a:p>
            <a:r>
              <a:rPr lang="en-US" altLang="en-US" sz="2400" dirty="0"/>
              <a:t>Some common standards that use symmetric algorithms are the following:</a:t>
            </a:r>
          </a:p>
          <a:p>
            <a:pPr lvl="1"/>
            <a:r>
              <a:rPr lang="en-US" altLang="en-US" sz="2000" i="1" dirty="0"/>
              <a:t>Data Encryption Standard (DES)</a:t>
            </a:r>
          </a:p>
          <a:p>
            <a:pPr lvl="1"/>
            <a:r>
              <a:rPr lang="en-US" altLang="en-US" sz="2000" i="1" dirty="0"/>
              <a:t>Triple-DES (3DES)</a:t>
            </a:r>
          </a:p>
          <a:p>
            <a:pPr lvl="1"/>
            <a:r>
              <a:rPr lang="en-US" altLang="en-US" sz="2000" i="1" dirty="0"/>
              <a:t>Advanced Encryption Standard (AES)</a:t>
            </a:r>
          </a:p>
          <a:p>
            <a:pPr lvl="1"/>
            <a:r>
              <a:rPr lang="en-US" altLang="en-US" sz="2000" i="1" dirty="0"/>
              <a:t>CAST</a:t>
            </a:r>
          </a:p>
          <a:p>
            <a:pPr lvl="1"/>
            <a:r>
              <a:rPr lang="en-US" altLang="en-US" sz="2000" i="1" dirty="0" err="1"/>
              <a:t>GOST</a:t>
            </a: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778955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/>
              <a:t>Working with Asymmetric Algorithms</a:t>
            </a:r>
          </a:p>
        </p:txBody>
      </p:sp>
      <p:sp>
        <p:nvSpPr>
          <p:cNvPr id="7171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b="0"/>
              <a:t>Asymmetric algorithms use two keys to encrypt and decrypt data.</a:t>
            </a:r>
          </a:p>
          <a:p>
            <a:pPr lvl="1"/>
            <a:r>
              <a:rPr lang="en-US" altLang="en-US" sz="2000" i="1"/>
              <a:t>Public key</a:t>
            </a:r>
          </a:p>
          <a:p>
            <a:pPr lvl="1"/>
            <a:r>
              <a:rPr lang="en-US" altLang="en-US" sz="2000" i="1"/>
              <a:t>Private key</a:t>
            </a:r>
          </a:p>
        </p:txBody>
      </p:sp>
    </p:spTree>
    <p:extLst>
      <p:ext uri="{BB962C8B-B14F-4D97-AF65-F5344CB8AC3E}">
        <p14:creationId xmlns:p14="http://schemas.microsoft.com/office/powerpoint/2010/main" val="2016715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Chapter 8: Cryptography</a:t>
            </a:r>
          </a:p>
        </p:txBody>
      </p:sp>
      <p:sp>
        <p:nvSpPr>
          <p:cNvPr id="8195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sz="2400" dirty="0"/>
              <a:t>Cryptographic algorithms</a:t>
            </a:r>
          </a:p>
          <a:p>
            <a:pPr lvl="1"/>
            <a:r>
              <a:rPr lang="en-US" altLang="en-US" sz="2400" dirty="0"/>
              <a:t>Are used to encode a message from its unencrypted or clear-text state into an encrypted message</a:t>
            </a:r>
            <a:endParaRPr lang="en-US" altLang="en-US" sz="2400" i="1" dirty="0"/>
          </a:p>
          <a:p>
            <a:r>
              <a:rPr lang="en-US" altLang="en-US" sz="2400" dirty="0"/>
              <a:t>Hashing</a:t>
            </a:r>
          </a:p>
          <a:p>
            <a:pPr lvl="1"/>
            <a:r>
              <a:rPr lang="en-US" altLang="en-US" sz="2400" dirty="0"/>
              <a:t>The process of converting a message, or data, into a numeric value</a:t>
            </a:r>
            <a:endParaRPr lang="en-US" altLang="en-US" sz="2400" i="1" dirty="0"/>
          </a:p>
          <a:p>
            <a:r>
              <a:rPr lang="en-US" altLang="en-US" sz="2400" dirty="0"/>
              <a:t>Secure Hash Algorithm (SHA)</a:t>
            </a:r>
          </a:p>
          <a:p>
            <a:r>
              <a:rPr lang="en-US" altLang="en-US" sz="2400" dirty="0"/>
              <a:t>Message Digest Algorithm (MD)</a:t>
            </a:r>
          </a:p>
          <a:p>
            <a:r>
              <a:rPr lang="en-US" altLang="en-US" sz="2400" dirty="0"/>
              <a:t>Rainbow tables and salt</a:t>
            </a:r>
          </a:p>
          <a:p>
            <a:r>
              <a:rPr lang="en-US" altLang="en-US" sz="2400" dirty="0"/>
              <a:t>Key stretching</a:t>
            </a:r>
          </a:p>
          <a:p>
            <a:pPr>
              <a:buFontTx/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57578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/>
              <a:t>Code-Breaking Techniques</a:t>
            </a:r>
          </a:p>
        </p:txBody>
      </p:sp>
      <p:sp>
        <p:nvSpPr>
          <p:cNvPr id="9219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000" dirty="0"/>
              <a:t>Frequency analysis</a:t>
            </a:r>
          </a:p>
          <a:p>
            <a:pPr lvl="1"/>
            <a:r>
              <a:rPr lang="en-US" altLang="en-US" sz="2000" dirty="0"/>
              <a:t>Involves looking at blocks of an encrypted message to determine if any common patterns exist</a:t>
            </a:r>
          </a:p>
          <a:p>
            <a:r>
              <a:rPr lang="en-US" altLang="en-US" sz="2000" dirty="0"/>
              <a:t>Algorithm errors</a:t>
            </a:r>
          </a:p>
          <a:p>
            <a:pPr lvl="1"/>
            <a:r>
              <a:rPr lang="en-US" altLang="en-US" sz="2000" dirty="0"/>
              <a:t>A method or set of instructions used to perform a task or instruction</a:t>
            </a:r>
          </a:p>
          <a:p>
            <a:r>
              <a:rPr lang="en-US" altLang="en-US" sz="2000" dirty="0"/>
              <a:t>Brute-force attacks</a:t>
            </a:r>
          </a:p>
          <a:p>
            <a:pPr lvl="1"/>
            <a:r>
              <a:rPr lang="en-US" altLang="en-US" sz="2000" dirty="0"/>
              <a:t>Can be accomplished by applying every possible combination of characters that could be the key</a:t>
            </a:r>
          </a:p>
          <a:p>
            <a:r>
              <a:rPr lang="en-US" altLang="en-US" sz="2000" dirty="0"/>
              <a:t>Exploiting human error</a:t>
            </a:r>
          </a:p>
          <a:p>
            <a:pPr lvl="1"/>
            <a:r>
              <a:rPr lang="en-US" altLang="en-US" sz="2000" dirty="0"/>
              <a:t>One of the major causes of encryption vulnerabilities</a:t>
            </a:r>
          </a:p>
        </p:txBody>
      </p:sp>
    </p:spTree>
    <p:extLst>
      <p:ext uri="{BB962C8B-B14F-4D97-AF65-F5344CB8AC3E}">
        <p14:creationId xmlns:p14="http://schemas.microsoft.com/office/powerpoint/2010/main" val="2364089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Chapter 8: Cryptography</a:t>
            </a:r>
          </a:p>
        </p:txBody>
      </p:sp>
      <p:sp>
        <p:nvSpPr>
          <p:cNvPr id="10243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Cryptographic system</a:t>
            </a:r>
          </a:p>
          <a:p>
            <a:pPr lvl="1"/>
            <a:r>
              <a:rPr lang="en-US" altLang="en-US" dirty="0"/>
              <a:t>A cryptographic system is a system, method, or process that is used to provide encryption and decryption.</a:t>
            </a:r>
          </a:p>
          <a:p>
            <a:r>
              <a:rPr lang="en-US" altLang="en-US" sz="2400" dirty="0"/>
              <a:t>Confidentiality and strength</a:t>
            </a:r>
          </a:p>
          <a:p>
            <a:r>
              <a:rPr lang="en-US" altLang="en-US" sz="2400" dirty="0"/>
              <a:t>Integrity</a:t>
            </a:r>
          </a:p>
          <a:p>
            <a:r>
              <a:rPr lang="en-US" altLang="en-US" sz="2400" dirty="0"/>
              <a:t>Digital signatures</a:t>
            </a:r>
          </a:p>
          <a:p>
            <a:r>
              <a:rPr lang="en-US" altLang="en-US" sz="2400" dirty="0"/>
              <a:t>Authentication</a:t>
            </a:r>
          </a:p>
          <a:p>
            <a:r>
              <a:rPr lang="en-US" altLang="en-US" sz="2400" dirty="0"/>
              <a:t>Nonrepudiation</a:t>
            </a:r>
          </a:p>
          <a:p>
            <a:pPr lvl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596950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0" y="457200"/>
            <a:ext cx="7543800" cy="685800"/>
          </a:xfrm>
        </p:spPr>
        <p:txBody>
          <a:bodyPr>
            <a:normAutofit fontScale="90000"/>
          </a:bodyPr>
          <a:lstStyle/>
          <a:p>
            <a:r>
              <a:rPr lang="en-US" altLang="en-US" sz="4000" dirty="0"/>
              <a:t>Origins of Encryption Standards</a:t>
            </a:r>
            <a:endParaRPr lang="en-US" altLang="en-US" sz="4000" b="0" dirty="0"/>
          </a:p>
        </p:txBody>
      </p:sp>
      <p:sp>
        <p:nvSpPr>
          <p:cNvPr id="11267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/>
              <a:t>Early cryptography standards were primarily designed to secure communications for the government and military.</a:t>
            </a:r>
          </a:p>
          <a:p>
            <a:r>
              <a:rPr lang="en-US" altLang="en-US" sz="2400" dirty="0"/>
              <a:t>Government agencies play a role.</a:t>
            </a:r>
          </a:p>
          <a:p>
            <a:pPr lvl="1"/>
            <a:r>
              <a:rPr lang="en-US" altLang="en-US" sz="2000" dirty="0"/>
              <a:t>National Security Agency (NSA)</a:t>
            </a:r>
          </a:p>
          <a:p>
            <a:pPr lvl="1"/>
            <a:r>
              <a:rPr lang="en-US" altLang="en-US" sz="2000" dirty="0"/>
              <a:t>National Security Agency/Central Security Service</a:t>
            </a:r>
          </a:p>
          <a:p>
            <a:pPr lvl="1"/>
            <a:r>
              <a:rPr lang="en-US" altLang="en-US" sz="2000" dirty="0"/>
              <a:t>National Institute of Standards and Technology</a:t>
            </a:r>
          </a:p>
          <a:p>
            <a:pPr lvl="1"/>
            <a:r>
              <a:rPr lang="en-US" altLang="en-US" sz="2000" dirty="0"/>
              <a:t>National Institute of Standards and Technology (NIST)</a:t>
            </a:r>
          </a:p>
        </p:txBody>
      </p:sp>
    </p:spTree>
    <p:extLst>
      <p:ext uri="{BB962C8B-B14F-4D97-AF65-F5344CB8AC3E}">
        <p14:creationId xmlns:p14="http://schemas.microsoft.com/office/powerpoint/2010/main" val="2198512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3"/>
          <p:cNvSpPr>
            <a:spLocks noGrp="1"/>
          </p:cNvSpPr>
          <p:nvPr>
            <p:ph type="title"/>
          </p:nvPr>
        </p:nvSpPr>
        <p:spPr>
          <a:xfrm>
            <a:off x="1066800" y="457200"/>
            <a:ext cx="7772400" cy="685800"/>
          </a:xfrm>
        </p:spPr>
        <p:txBody>
          <a:bodyPr>
            <a:normAutofit fontScale="90000"/>
          </a:bodyPr>
          <a:lstStyle/>
          <a:p>
            <a:br>
              <a:rPr lang="en-US" altLang="en-US" dirty="0"/>
            </a:br>
            <a:r>
              <a:rPr lang="en-US" altLang="en-US" dirty="0"/>
              <a:t>Public-Key Infrastructure X.509/Public-Key Cryptography Standards</a:t>
            </a:r>
          </a:p>
        </p:txBody>
      </p:sp>
      <p:sp>
        <p:nvSpPr>
          <p:cNvPr id="13315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endParaRPr lang="en-US" altLang="en-US" sz="2400" dirty="0"/>
          </a:p>
          <a:p>
            <a:r>
              <a:rPr lang="en-US" altLang="en-US" sz="2400" i="1" dirty="0"/>
              <a:t>Public-Key Infrastructure X.509 (PKIX)</a:t>
            </a:r>
          </a:p>
          <a:p>
            <a:pPr lvl="1"/>
            <a:r>
              <a:rPr lang="en-US" altLang="en-US" sz="2400" dirty="0"/>
              <a:t>The working group formed by the IETF to develop standards and models for the PKI environment</a:t>
            </a:r>
          </a:p>
          <a:p>
            <a:r>
              <a:rPr lang="en-US" altLang="en-US" sz="2400" i="1" dirty="0"/>
              <a:t>Public-Key Cryptography Standards (PKCS) </a:t>
            </a:r>
          </a:p>
          <a:p>
            <a:pPr lvl="1"/>
            <a:r>
              <a:rPr lang="en-US" altLang="en-US" sz="2400" dirty="0"/>
              <a:t>A set of voluntary standards created by RSA and security leaders</a:t>
            </a:r>
          </a:p>
        </p:txBody>
      </p:sp>
    </p:spTree>
    <p:extLst>
      <p:ext uri="{BB962C8B-B14F-4D97-AF65-F5344CB8AC3E}">
        <p14:creationId xmlns:p14="http://schemas.microsoft.com/office/powerpoint/2010/main" val="912837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Chapter 8: Cryptography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1800" dirty="0"/>
              <a:t>X.509</a:t>
            </a:r>
          </a:p>
          <a:p>
            <a:pPr lvl="1"/>
            <a:r>
              <a:rPr lang="en-US" altLang="en-US" sz="1800" dirty="0"/>
              <a:t>Defines the certificate formats and fields for public keys; also defines the procedures that should be used to distribute public keys</a:t>
            </a:r>
          </a:p>
          <a:p>
            <a:r>
              <a:rPr lang="en-US" altLang="en-US" sz="1800" dirty="0"/>
              <a:t>SSL and TLS</a:t>
            </a:r>
          </a:p>
          <a:p>
            <a:pPr lvl="1"/>
            <a:r>
              <a:rPr lang="en-US" altLang="en-US" sz="1800" i="1" dirty="0"/>
              <a:t>Secure Sockets Layer (SSL)</a:t>
            </a:r>
          </a:p>
          <a:p>
            <a:pPr lvl="2"/>
            <a:r>
              <a:rPr lang="en-US" altLang="en-US" sz="1800" dirty="0"/>
              <a:t>Used to establish a secure communication connection between two TCP-based machines</a:t>
            </a:r>
          </a:p>
          <a:p>
            <a:r>
              <a:rPr lang="en-US" altLang="en-US" sz="1800" dirty="0"/>
              <a:t>Certificate Management Protocol (CMP)</a:t>
            </a:r>
          </a:p>
          <a:p>
            <a:pPr lvl="1"/>
            <a:r>
              <a:rPr lang="en-US" altLang="en-US" sz="1800" dirty="0"/>
              <a:t>A messaging protocol used between PKI entities</a:t>
            </a:r>
          </a:p>
          <a:p>
            <a:pPr lvl="1">
              <a:buFontTx/>
              <a:buNone/>
            </a:pPr>
            <a:endParaRPr lang="en-US" altLang="en-US" sz="1800" dirty="0"/>
          </a:p>
          <a:p>
            <a:r>
              <a:rPr lang="en-US" altLang="en-US" sz="1800" dirty="0"/>
              <a:t>Secure Multipurpose Internet Mail Extensions (S/MIME)</a:t>
            </a:r>
          </a:p>
          <a:p>
            <a:pPr lvl="1"/>
            <a:r>
              <a:rPr lang="en-US" altLang="en-US" sz="1800" dirty="0"/>
              <a:t>A standard used for encrypting e-mail</a:t>
            </a:r>
          </a:p>
        </p:txBody>
      </p:sp>
    </p:spTree>
    <p:extLst>
      <p:ext uri="{BB962C8B-B14F-4D97-AF65-F5344CB8AC3E}">
        <p14:creationId xmlns:p14="http://schemas.microsoft.com/office/powerpoint/2010/main" val="25063085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Chapter 8: Cryptography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 dirty="0"/>
              <a:t>Pretty Good Privacy (PGP) </a:t>
            </a:r>
          </a:p>
          <a:p>
            <a:pPr lvl="1"/>
            <a:r>
              <a:rPr lang="en-US" altLang="en-US" sz="2400" dirty="0"/>
              <a:t>A freeware e‑mail encryption system</a:t>
            </a:r>
          </a:p>
          <a:p>
            <a:r>
              <a:rPr lang="en-US" altLang="en-US" sz="2800" dirty="0"/>
              <a:t>Hypertext Transport Protocol over SSL (HTTPS)</a:t>
            </a:r>
          </a:p>
          <a:p>
            <a:r>
              <a:rPr lang="en-US" altLang="en-US" sz="2800" dirty="0"/>
              <a:t>Secure Hypertext Transport Protocol (S-HTTP)</a:t>
            </a:r>
          </a:p>
          <a:p>
            <a:r>
              <a:rPr lang="en-US" altLang="en-US" sz="2800" dirty="0"/>
              <a:t>IP Security (</a:t>
            </a:r>
            <a:r>
              <a:rPr lang="en-US" altLang="en-US" sz="2800" dirty="0" err="1"/>
              <a:t>IPSec</a:t>
            </a:r>
            <a:r>
              <a:rPr lang="en-US" altLang="en-US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115200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Chapter 8: Cryptography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/>
              <a:t>Tunneling protocols</a:t>
            </a:r>
          </a:p>
          <a:p>
            <a:pPr lvl="1"/>
            <a:r>
              <a:rPr lang="en-US" altLang="en-US" sz="2000" dirty="0"/>
              <a:t>Adds a capability to the network</a:t>
            </a:r>
          </a:p>
          <a:p>
            <a:pPr lvl="1"/>
            <a:r>
              <a:rPr lang="en-US" altLang="en-US" sz="2000" dirty="0"/>
              <a:t>Common protocols used for tunneling</a:t>
            </a:r>
          </a:p>
          <a:p>
            <a:pPr lvl="2"/>
            <a:r>
              <a:rPr lang="en-US" altLang="en-US" sz="2000" dirty="0"/>
              <a:t>Point-to-Point Tunneling Protocol (PPTP)</a:t>
            </a:r>
          </a:p>
          <a:p>
            <a:pPr lvl="2"/>
            <a:r>
              <a:rPr lang="en-US" altLang="en-US" sz="2000" dirty="0"/>
              <a:t>Layer 2 Forwarding (L2F)</a:t>
            </a:r>
          </a:p>
          <a:p>
            <a:pPr lvl="2"/>
            <a:r>
              <a:rPr lang="en-US" altLang="en-US" sz="2000" dirty="0"/>
              <a:t>Tunneling Protocol (L2TP)</a:t>
            </a:r>
          </a:p>
          <a:p>
            <a:pPr lvl="2">
              <a:buFontTx/>
              <a:buNone/>
            </a:pPr>
            <a:endParaRPr lang="en-US" altLang="en-US" sz="2000" i="1" dirty="0"/>
          </a:p>
          <a:p>
            <a:r>
              <a:rPr lang="en-US" altLang="en-US" sz="2000" dirty="0"/>
              <a:t>Federal Information Processing Standard (FIPS)</a:t>
            </a:r>
          </a:p>
          <a:p>
            <a:pPr lvl="1"/>
            <a:r>
              <a:rPr lang="en-US" altLang="en-US" sz="2000" dirty="0"/>
              <a:t>A set of guidelines for the United States federal government information systems</a:t>
            </a:r>
            <a:endParaRPr lang="en-US" altLang="en-US" sz="2000" i="1" dirty="0"/>
          </a:p>
          <a:p>
            <a:pPr>
              <a:buFontTx/>
              <a:buNone/>
            </a:pPr>
            <a:endParaRPr lang="en-US" altLang="en-US" i="1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063969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Public Key Infrastructure</a:t>
            </a:r>
          </a:p>
        </p:txBody>
      </p:sp>
      <p:sp>
        <p:nvSpPr>
          <p:cNvPr id="4099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400" dirty="0"/>
              <a:t>Public Key Infrastructure (PKI) is intended to provide a means of providing security to messages and transactions on a grand scale.</a:t>
            </a:r>
          </a:p>
          <a:p>
            <a:pPr>
              <a:defRPr/>
            </a:pPr>
            <a:r>
              <a:rPr lang="en-US" sz="2400" dirty="0"/>
              <a:t>PKI is a two-key, asymmetric system with four main components.</a:t>
            </a:r>
            <a:endParaRPr lang="en-US" sz="2000" dirty="0"/>
          </a:p>
          <a:p>
            <a:pPr lvl="1">
              <a:defRPr/>
            </a:pPr>
            <a:r>
              <a:rPr lang="en-US" sz="2000" dirty="0"/>
              <a:t>Certificate authority (CA)</a:t>
            </a:r>
          </a:p>
          <a:p>
            <a:pPr lvl="1">
              <a:defRPr/>
            </a:pPr>
            <a:r>
              <a:rPr lang="en-US" sz="2000" dirty="0"/>
              <a:t>Registration authority (RA</a:t>
            </a:r>
          </a:p>
          <a:p>
            <a:pPr lvl="1">
              <a:defRPr/>
            </a:pPr>
            <a:r>
              <a:rPr lang="en-US" sz="2000" dirty="0"/>
              <a:t>RSA (the encryption algorithm)</a:t>
            </a:r>
          </a:p>
          <a:p>
            <a:pPr lvl="1">
              <a:defRPr/>
            </a:pPr>
            <a:r>
              <a:rPr lang="en-US" sz="2000" dirty="0"/>
              <a:t>Digital certificates</a:t>
            </a:r>
          </a:p>
        </p:txBody>
      </p:sp>
    </p:spTree>
    <p:extLst>
      <p:ext uri="{BB962C8B-B14F-4D97-AF65-F5344CB8AC3E}">
        <p14:creationId xmlns:p14="http://schemas.microsoft.com/office/powerpoint/2010/main" val="21422928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/>
              <a:t>Chapter 8: Cryptography</a:t>
            </a:r>
            <a:br>
              <a:rPr lang="en-US" altLang="en-US" sz="4000"/>
            </a:br>
            <a:endParaRPr lang="en-US" altLang="en-US" sz="4000" b="0"/>
          </a:p>
        </p:txBody>
      </p:sp>
      <p:sp>
        <p:nvSpPr>
          <p:cNvPr id="18435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dirty="0"/>
              <a:t>Certificate authority (CA)</a:t>
            </a:r>
          </a:p>
          <a:p>
            <a:pPr lvl="1"/>
            <a:r>
              <a:rPr lang="en-US" altLang="en-US" sz="2000" dirty="0"/>
              <a:t>An organization that is responsible for issuing, revoking, and distributing certificates</a:t>
            </a:r>
          </a:p>
          <a:p>
            <a:r>
              <a:rPr lang="en-US" altLang="en-US" sz="2000" dirty="0"/>
              <a:t>Registration authority (RA)</a:t>
            </a:r>
          </a:p>
          <a:p>
            <a:pPr lvl="1"/>
            <a:r>
              <a:rPr lang="en-US" altLang="en-US" sz="2000" dirty="0"/>
              <a:t>Can distribute keys, accept registrations for the CA, and validate identities</a:t>
            </a:r>
          </a:p>
          <a:p>
            <a:r>
              <a:rPr lang="en-US" altLang="en-US" sz="2000" dirty="0"/>
              <a:t>Local registration authority (LRA)</a:t>
            </a:r>
          </a:p>
          <a:p>
            <a:pPr lvl="1"/>
            <a:r>
              <a:rPr lang="en-US" altLang="en-US" sz="2000" dirty="0"/>
              <a:t>Can be used to identify or establish the identity of an individual for certificate issuance</a:t>
            </a:r>
            <a:endParaRPr lang="en-US" altLang="en-US" sz="2000" i="1" dirty="0"/>
          </a:p>
          <a:p>
            <a:pPr lvl="1">
              <a:buFontTx/>
              <a:buNone/>
            </a:pPr>
            <a:endParaRPr lang="en-US" altLang="en-US" i="1" dirty="0"/>
          </a:p>
          <a:p>
            <a:pPr>
              <a:buFontTx/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313987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dirty="0"/>
              <a:t>Certificates</a:t>
            </a:r>
          </a:p>
          <a:p>
            <a:r>
              <a:rPr lang="en-US" altLang="en-US" sz="2800" b="0" dirty="0"/>
              <a:t>provide the primary method of identifying that a given user is valid</a:t>
            </a:r>
          </a:p>
          <a:p>
            <a:r>
              <a:rPr lang="en-US" altLang="en-US" sz="2800" b="0" dirty="0"/>
              <a:t>can be used to store authorization information </a:t>
            </a:r>
          </a:p>
          <a:p>
            <a:r>
              <a:rPr lang="en-US" altLang="en-US" sz="2800" b="0" dirty="0"/>
              <a:t>can verify or certify that a system is using the correct software and processes to communicate</a:t>
            </a:r>
          </a:p>
          <a:p>
            <a:endParaRPr lang="en-US" altLang="en-US" dirty="0"/>
          </a:p>
        </p:txBody>
      </p:sp>
      <p:sp>
        <p:nvSpPr>
          <p:cNvPr id="19459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Implementing Certificates</a:t>
            </a:r>
          </a:p>
        </p:txBody>
      </p:sp>
    </p:spTree>
    <p:extLst>
      <p:ext uri="{BB962C8B-B14F-4D97-AF65-F5344CB8AC3E}">
        <p14:creationId xmlns:p14="http://schemas.microsoft.com/office/powerpoint/2010/main" val="39446764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 dirty="0"/>
              <a:t>Certificate policies</a:t>
            </a:r>
          </a:p>
          <a:p>
            <a:pPr lvl="1"/>
            <a:r>
              <a:rPr lang="en-US" altLang="en-US" dirty="0"/>
              <a:t>Define what certificates do</a:t>
            </a:r>
          </a:p>
          <a:p>
            <a:pPr lvl="1">
              <a:buFontTx/>
              <a:buNone/>
            </a:pPr>
            <a:endParaRPr lang="en-US" altLang="en-US" dirty="0"/>
          </a:p>
          <a:p>
            <a:r>
              <a:rPr lang="en-US" altLang="en-US" sz="2800" dirty="0"/>
              <a:t>Certificate practice statement (CPS)</a:t>
            </a:r>
          </a:p>
          <a:p>
            <a:pPr lvl="1"/>
            <a:r>
              <a:rPr lang="en-US" altLang="en-US" dirty="0"/>
              <a:t>A detailed statement the CA uses to issue certificates and implement its policies</a:t>
            </a:r>
          </a:p>
          <a:p>
            <a:pPr>
              <a:buFontTx/>
              <a:buNone/>
            </a:pPr>
            <a:endParaRPr lang="en-US" altLang="en-US" dirty="0"/>
          </a:p>
        </p:txBody>
      </p:sp>
      <p:sp>
        <p:nvSpPr>
          <p:cNvPr id="20483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Chapter 8: Cryptography</a:t>
            </a:r>
            <a:br>
              <a:rPr lang="en-US" altLang="en-US"/>
            </a:b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42487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 dirty="0"/>
              <a:t>Certificate revocation</a:t>
            </a:r>
          </a:p>
          <a:p>
            <a:pPr lvl="1"/>
            <a:r>
              <a:rPr lang="en-US" altLang="en-US" dirty="0"/>
              <a:t>The process of revoking a certificate before it expires</a:t>
            </a:r>
          </a:p>
          <a:p>
            <a:r>
              <a:rPr lang="en-US" altLang="en-US" sz="2800" dirty="0"/>
              <a:t>Certificate revocation list (CRL)</a:t>
            </a:r>
          </a:p>
          <a:p>
            <a:r>
              <a:rPr lang="it-IT" altLang="en-US" sz="2800" dirty="0"/>
              <a:t>Online Certificate Status Protocol (OCSP)</a:t>
            </a:r>
          </a:p>
          <a:p>
            <a:r>
              <a:rPr lang="en-US" altLang="en-US" sz="2800" i="1" dirty="0"/>
              <a:t>Repository</a:t>
            </a:r>
          </a:p>
          <a:p>
            <a:pPr lvl="1"/>
            <a:r>
              <a:rPr lang="en-US" altLang="en-US" dirty="0"/>
              <a:t>A database or database server where the certificates are stored</a:t>
            </a:r>
          </a:p>
          <a:p>
            <a:pPr>
              <a:buFontTx/>
              <a:buNone/>
            </a:pPr>
            <a:endParaRPr lang="en-US" altLang="en-US" i="1" dirty="0"/>
          </a:p>
        </p:txBody>
      </p:sp>
      <p:sp>
        <p:nvSpPr>
          <p:cNvPr id="21507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Certificate Revocation</a:t>
            </a:r>
          </a:p>
        </p:txBody>
      </p:sp>
    </p:spTree>
    <p:extLst>
      <p:ext uri="{BB962C8B-B14F-4D97-AF65-F5344CB8AC3E}">
        <p14:creationId xmlns:p14="http://schemas.microsoft.com/office/powerpoint/2010/main" val="25200040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dirty="0"/>
              <a:t>Four main types of trust models are used with PKI.</a:t>
            </a:r>
          </a:p>
          <a:p>
            <a:pPr lvl="1"/>
            <a:r>
              <a:rPr lang="en-US" altLang="en-US" b="0" dirty="0"/>
              <a:t>Hierarchical</a:t>
            </a:r>
          </a:p>
          <a:p>
            <a:pPr lvl="1"/>
            <a:r>
              <a:rPr lang="en-US" altLang="en-US" b="0" dirty="0"/>
              <a:t>Bridge</a:t>
            </a:r>
          </a:p>
          <a:p>
            <a:pPr lvl="1"/>
            <a:r>
              <a:rPr lang="en-US" altLang="en-US" b="0" dirty="0"/>
              <a:t>Mesh</a:t>
            </a:r>
          </a:p>
          <a:p>
            <a:pPr lvl="1"/>
            <a:r>
              <a:rPr lang="en-US" altLang="en-US" b="0" dirty="0"/>
              <a:t>Hybrid </a:t>
            </a:r>
          </a:p>
        </p:txBody>
      </p:sp>
      <p:sp>
        <p:nvSpPr>
          <p:cNvPr id="22531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Trust Models</a:t>
            </a:r>
          </a:p>
        </p:txBody>
      </p:sp>
    </p:spTree>
    <p:extLst>
      <p:ext uri="{BB962C8B-B14F-4D97-AF65-F5344CB8AC3E}">
        <p14:creationId xmlns:p14="http://schemas.microsoft.com/office/powerpoint/2010/main" val="12563638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1800" i="1" dirty="0"/>
              <a:t>Hierarchical trust model</a:t>
            </a:r>
          </a:p>
          <a:p>
            <a:pPr lvl="1"/>
            <a:r>
              <a:rPr lang="en-US" altLang="en-US" sz="1800" dirty="0"/>
              <a:t>Also known as a </a:t>
            </a:r>
            <a:r>
              <a:rPr lang="en-US" altLang="en-US" sz="1800" i="1" dirty="0"/>
              <a:t>tree; a root CA at the top provides all the </a:t>
            </a:r>
            <a:r>
              <a:rPr lang="en-US" altLang="en-US" sz="1800" dirty="0"/>
              <a:t>information</a:t>
            </a:r>
          </a:p>
          <a:p>
            <a:pPr lvl="1">
              <a:buFontTx/>
              <a:buNone/>
            </a:pPr>
            <a:endParaRPr lang="en-US" altLang="en-US" sz="1800" i="1" dirty="0"/>
          </a:p>
          <a:p>
            <a:r>
              <a:rPr lang="en-US" altLang="en-US" sz="1800" i="1" dirty="0" err="1"/>
              <a:t>Nridge</a:t>
            </a:r>
            <a:r>
              <a:rPr lang="en-US" altLang="en-US" sz="1800" i="1" dirty="0"/>
              <a:t> trust model</a:t>
            </a:r>
          </a:p>
          <a:p>
            <a:pPr lvl="1"/>
            <a:r>
              <a:rPr lang="en-US" altLang="en-US" sz="1800" dirty="0"/>
              <a:t>A peer-to-peer relationship exists between the root CAs</a:t>
            </a:r>
            <a:endParaRPr lang="en-US" altLang="en-US" sz="1800" i="1" dirty="0"/>
          </a:p>
          <a:p>
            <a:pPr lvl="1"/>
            <a:endParaRPr lang="en-US" altLang="en-US" sz="1800" i="1" dirty="0"/>
          </a:p>
          <a:p>
            <a:r>
              <a:rPr lang="en-US" altLang="en-US" sz="1800" i="1" dirty="0"/>
              <a:t>Mesh trust model</a:t>
            </a:r>
          </a:p>
          <a:p>
            <a:pPr lvl="1"/>
            <a:r>
              <a:rPr lang="en-US" altLang="en-US" sz="1800" dirty="0"/>
              <a:t>Expands the concepts of the bridge model by supporting multiple paths and multiple root CAs</a:t>
            </a:r>
          </a:p>
          <a:p>
            <a:pPr lvl="1">
              <a:buFontTx/>
              <a:buNone/>
            </a:pPr>
            <a:endParaRPr lang="en-US" altLang="en-US" sz="1800" i="1" dirty="0"/>
          </a:p>
          <a:p>
            <a:r>
              <a:rPr lang="en-US" altLang="en-US" sz="1800" i="1" dirty="0"/>
              <a:t>Hybrid trust model</a:t>
            </a:r>
          </a:p>
          <a:p>
            <a:pPr lvl="1"/>
            <a:r>
              <a:rPr lang="en-US" altLang="en-US" sz="1800" dirty="0"/>
              <a:t>Can use the capabilities of any or all of the structures discussed in the previous sections</a:t>
            </a:r>
          </a:p>
        </p:txBody>
      </p:sp>
      <p:sp>
        <p:nvSpPr>
          <p:cNvPr id="23555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Trust Models</a:t>
            </a:r>
          </a:p>
        </p:txBody>
      </p:sp>
    </p:spTree>
    <p:extLst>
      <p:ext uri="{BB962C8B-B14F-4D97-AF65-F5344CB8AC3E}">
        <p14:creationId xmlns:p14="http://schemas.microsoft.com/office/powerpoint/2010/main" val="3277814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986</Words>
  <Application>Microsoft Office PowerPoint</Application>
  <PresentationFormat>On-screen Show (4:3)</PresentationFormat>
  <Paragraphs>173</Paragraphs>
  <Slides>21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Times New Roman</vt:lpstr>
      <vt:lpstr>Office Theme</vt:lpstr>
      <vt:lpstr>CompTIA Security+ Study Guide (SY0-501)</vt:lpstr>
      <vt:lpstr>Chapter 8: Cryptography</vt:lpstr>
      <vt:lpstr>An Overview of Cryptography</vt:lpstr>
      <vt:lpstr>Chapter 8: Cryptography</vt:lpstr>
      <vt:lpstr>Working with Symmetric Algorithms</vt:lpstr>
      <vt:lpstr>Working with Asymmetric Algorithms</vt:lpstr>
      <vt:lpstr>Chapter 8: Cryptography</vt:lpstr>
      <vt:lpstr>Code-Breaking Techniques</vt:lpstr>
      <vt:lpstr>Chapter 8: Cryptography</vt:lpstr>
      <vt:lpstr>Origins of Encryption Standards</vt:lpstr>
      <vt:lpstr> Public-Key Infrastructure X.509/Public-Key Cryptography Standards</vt:lpstr>
      <vt:lpstr>Chapter 8: Cryptography</vt:lpstr>
      <vt:lpstr>Chapter 8: Cryptography</vt:lpstr>
      <vt:lpstr>Chapter 8: Cryptography</vt:lpstr>
      <vt:lpstr>Public Key Infrastructure</vt:lpstr>
      <vt:lpstr>Chapter 8: Cryptography </vt:lpstr>
      <vt:lpstr>Implementing Certificates</vt:lpstr>
      <vt:lpstr>Chapter 8: Cryptography </vt:lpstr>
      <vt:lpstr>Certificate Revocation</vt:lpstr>
      <vt:lpstr>Trust Models</vt:lpstr>
      <vt:lpstr>Trust Models</vt:lpstr>
    </vt:vector>
  </TitlesOfParts>
  <Company>John Wiley and Sons,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O'Brien, Connor - San Francisco</dc:creator>
  <cp:lastModifiedBy>rgibson iq-share.com</cp:lastModifiedBy>
  <cp:revision>6</cp:revision>
  <dcterms:created xsi:type="dcterms:W3CDTF">2013-06-05T20:52:46Z</dcterms:created>
  <dcterms:modified xsi:type="dcterms:W3CDTF">2019-07-24T13:09:45Z</dcterms:modified>
</cp:coreProperties>
</file>