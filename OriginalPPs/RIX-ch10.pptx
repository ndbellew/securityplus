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73" r:id="rId9"/>
    <p:sldId id="274" r:id="rId10"/>
    <p:sldId id="265" r:id="rId11"/>
    <p:sldId id="275" r:id="rId12"/>
    <p:sldId id="276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00FF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B0BEA-2FB1-483E-A8AC-C8DB0946BDD6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8249C-45A8-4298-9468-1F763D279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1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4F7311B5-74BA-4F31-BA5C-6AA60DE793EF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9628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6FBD7803-1846-4266-B374-503C475B3463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9995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AFEEEDA0-C010-4CB3-A4EC-0B757897B261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7127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DC9C81B5-409D-4908-8266-68DCF622BF5E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2282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C72180F9-3998-433E-9A16-8D7E1712F8EF}" type="slidenum">
              <a:rPr lang="en-US" altLang="en-US" sz="1200" smtClean="0"/>
              <a:pPr/>
              <a:t>14</a:t>
            </a:fld>
            <a:endParaRPr lang="en-US" altLang="en-US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0486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E38DEE28-862C-423D-AB01-C617E0CE4983}" type="slidenum">
              <a:rPr lang="en-US" altLang="en-US" sz="1200" smtClean="0"/>
              <a:pPr/>
              <a:t>15</a:t>
            </a:fld>
            <a:endParaRPr lang="en-US" altLang="en-US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000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15890FB5-7BB9-45C4-BB6D-15CCE3E299F5}" type="slidenum">
              <a:rPr lang="en-US" altLang="en-US" sz="1200" smtClean="0"/>
              <a:pPr/>
              <a:t>17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4458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3A6BC715-2E6B-4E4B-B6F8-2BC741B3E442}" type="slidenum">
              <a:rPr lang="en-US" altLang="en-US" sz="1200" smtClean="0"/>
              <a:pPr/>
              <a:t>18</a:t>
            </a:fld>
            <a:endParaRPr lang="en-US" altLang="en-US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7482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3/16/2020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i="1" dirty="0"/>
              <a:t>CompTIA Security+ Study Guide (SY0-501)</a:t>
            </a:r>
            <a:endParaRPr lang="en-US" altLang="en-US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Chapter 10: Social Engineering and Other Foes</a:t>
            </a:r>
          </a:p>
        </p:txBody>
      </p:sp>
    </p:spTree>
    <p:extLst>
      <p:ext uri="{BB962C8B-B14F-4D97-AF65-F5344CB8AC3E}">
        <p14:creationId xmlns:p14="http://schemas.microsoft.com/office/powerpoint/2010/main" val="2056370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3"/>
          <p:cNvSpPr>
            <a:spLocks noGrp="1"/>
          </p:cNvSpPr>
          <p:nvPr>
            <p:ph idx="1"/>
          </p:nvPr>
        </p:nvSpPr>
        <p:spPr>
          <a:xfrm>
            <a:off x="2209800" y="1905000"/>
            <a:ext cx="6705600" cy="4525963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Compare and contrast types of attacks</a:t>
            </a:r>
          </a:p>
          <a:p>
            <a:r>
              <a:rPr lang="en-US" altLang="en-US" sz="2400" dirty="0"/>
              <a:t>Explain the importance of physical security controls</a:t>
            </a:r>
          </a:p>
          <a:p>
            <a:r>
              <a:rPr lang="en-US" altLang="en-US" sz="2400" dirty="0"/>
              <a:t>Compare and contrast various types of controls</a:t>
            </a:r>
          </a:p>
          <a:p>
            <a:r>
              <a:rPr lang="en-US" altLang="en-US" sz="2400" dirty="0"/>
              <a:t>Given a scenario, carry out data security and privacy practices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307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Chapter 10: Social Engineering and Other Foes</a:t>
            </a:r>
          </a:p>
        </p:txBody>
      </p:sp>
    </p:spTree>
    <p:extLst>
      <p:ext uri="{BB962C8B-B14F-4D97-AF65-F5344CB8AC3E}">
        <p14:creationId xmlns:p14="http://schemas.microsoft.com/office/powerpoint/2010/main" val="3096213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7159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	Social Engineering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2438400" y="1219200"/>
            <a:ext cx="6477000" cy="5486400"/>
          </a:xfrm>
        </p:spPr>
        <p:txBody>
          <a:bodyPr>
            <a:normAutofit/>
          </a:bodyPr>
          <a:lstStyle/>
          <a:p>
            <a:r>
              <a:rPr lang="en-US" altLang="en-US" sz="28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Social Engineering </a:t>
            </a:r>
          </a:p>
          <a:p>
            <a:pPr lvl="1"/>
            <a:r>
              <a:rPr lang="en-US" altLang="en-US" sz="2000" dirty="0"/>
              <a:t>The </a:t>
            </a:r>
            <a:r>
              <a:rPr lang="en-US" altLang="en-US" sz="2000" b="1" i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  <a:r>
              <a:rPr lang="en-US" altLang="en-US" sz="2000" dirty="0"/>
              <a:t> by which </a:t>
            </a:r>
            <a:r>
              <a:rPr lang="en-US" altLang="en-US" sz="2000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Intruders</a:t>
            </a:r>
            <a:r>
              <a:rPr lang="en-US" altLang="en-US" sz="2000" dirty="0"/>
              <a:t> gain access to your </a:t>
            </a:r>
            <a:r>
              <a:rPr lang="en-US" alt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Facilities</a:t>
            </a:r>
            <a:r>
              <a:rPr lang="en-US" altLang="en-US" sz="2000" dirty="0"/>
              <a:t>, your </a:t>
            </a:r>
            <a:r>
              <a:rPr lang="en-US" altLang="en-US" sz="2000" b="1" i="1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</a:t>
            </a:r>
            <a:r>
              <a:rPr lang="en-US" altLang="en-US" sz="2000" i="1" dirty="0"/>
              <a:t>, </a:t>
            </a:r>
            <a:r>
              <a:rPr lang="en-US" altLang="en-US" sz="2000" dirty="0"/>
              <a:t>and even to your </a:t>
            </a:r>
            <a:r>
              <a:rPr lang="en-US" altLang="en-US" sz="2000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Employees</a:t>
            </a:r>
            <a:r>
              <a:rPr lang="en-US" altLang="en-US" sz="2000" dirty="0"/>
              <a:t> by </a:t>
            </a:r>
            <a:r>
              <a:rPr lang="en-US" altLang="en-US" sz="2000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Exploiting</a:t>
            </a:r>
            <a:r>
              <a:rPr lang="en-US" altLang="en-US" sz="2000" dirty="0"/>
              <a:t> the </a:t>
            </a:r>
            <a:r>
              <a:rPr lang="en-US" altLang="en-US" sz="2000" b="1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Generally Trusting Nature</a:t>
            </a:r>
            <a:r>
              <a:rPr lang="en-US" altLang="en-US" sz="2000" dirty="0"/>
              <a:t> of </a:t>
            </a:r>
            <a:r>
              <a:rPr lang="en-US" altLang="en-US" sz="2000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People</a:t>
            </a:r>
            <a:r>
              <a:rPr lang="en-US" altLang="en-US" sz="2000" dirty="0"/>
              <a:t>.</a:t>
            </a:r>
          </a:p>
          <a:p>
            <a:r>
              <a:rPr lang="en-US" altLang="en-US" sz="2800" dirty="0"/>
              <a:t>Social engineering attacks (types of)</a:t>
            </a:r>
          </a:p>
          <a:p>
            <a:pPr lvl="1"/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Shoulder surfing</a:t>
            </a:r>
          </a:p>
          <a:p>
            <a:pPr lvl="1"/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Dumpster diving</a:t>
            </a:r>
          </a:p>
          <a:p>
            <a:pPr lvl="1"/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Tailgating</a:t>
            </a:r>
          </a:p>
          <a:p>
            <a:pPr lvl="1"/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Impersonation</a:t>
            </a:r>
          </a:p>
          <a:p>
            <a:pPr lvl="1"/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Hoaxes</a:t>
            </a:r>
          </a:p>
          <a:p>
            <a:pPr lvl="1"/>
            <a:r>
              <a:rPr lang="en-US" altLang="en-US" sz="20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Phishing</a:t>
            </a:r>
          </a:p>
          <a:p>
            <a:pPr lvl="2"/>
            <a:r>
              <a:rPr lang="en-US" altLang="en-US" sz="16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Spear Phishing</a:t>
            </a:r>
          </a:p>
          <a:p>
            <a:pPr lvl="2"/>
            <a:r>
              <a:rPr lang="en-US" altLang="en-US" sz="16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Whaling (</a:t>
            </a:r>
            <a:r>
              <a:rPr lang="en-US" altLang="en-US" sz="1600" b="1" i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Phising</a:t>
            </a:r>
            <a:r>
              <a:rPr lang="en-US" altLang="en-US" sz="1600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lvl="2"/>
            <a:r>
              <a:rPr lang="en-US" altLang="en-US" sz="1600" b="1" i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Vishing</a:t>
            </a:r>
            <a:endParaRPr lang="en-US" altLang="en-US" sz="16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36042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</a:rPr>
              <a:t>Principles</a:t>
            </a:r>
            <a:r>
              <a:rPr lang="en-US" altLang="en-US" dirty="0"/>
              <a:t> Behind Social Engineering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629400" cy="4983162"/>
          </a:xfrm>
        </p:spPr>
        <p:txBody>
          <a:bodyPr/>
          <a:lstStyle/>
          <a:p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Authority</a:t>
            </a:r>
          </a:p>
          <a:p>
            <a:r>
              <a:rPr lang="en-US" altLang="en-US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Intimidation</a:t>
            </a:r>
          </a:p>
          <a:p>
            <a:r>
              <a:rPr lang="en-US" altLang="en-US" b="1" i="1" u="sng" dirty="0">
                <a:solidFill>
                  <a:srgbClr val="99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Consensus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alt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Social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Proof</a:t>
            </a:r>
          </a:p>
          <a:p>
            <a:r>
              <a:rPr lang="en-US" altLang="en-US" b="1" i="1" u="sng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Scarcity</a:t>
            </a:r>
          </a:p>
          <a:p>
            <a:r>
              <a:rPr lang="en-US" altLang="en-US" b="1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Urgency</a:t>
            </a:r>
          </a:p>
          <a:p>
            <a:r>
              <a:rPr lang="en-US" alt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Familiarity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altLang="en-US" b="1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Liking</a:t>
            </a:r>
          </a:p>
          <a:p>
            <a:r>
              <a:rPr lang="en-US" altLang="en-US" b="1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Trust</a:t>
            </a:r>
          </a:p>
        </p:txBody>
      </p:sp>
    </p:spTree>
    <p:extLst>
      <p:ext uri="{BB962C8B-B14F-4D97-AF65-F5344CB8AC3E}">
        <p14:creationId xmlns:p14="http://schemas.microsoft.com/office/powerpoint/2010/main" val="88242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800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Controls</a:t>
            </a:r>
          </a:p>
          <a:p>
            <a:pPr lvl="1"/>
            <a:r>
              <a:rPr lang="en-US" altLang="en-US" sz="2400" dirty="0"/>
              <a:t>A critical part of physical security</a:t>
            </a:r>
          </a:p>
          <a:p>
            <a:r>
              <a:rPr lang="en-US" altLang="en-US" sz="2800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 Barriers</a:t>
            </a:r>
          </a:p>
          <a:p>
            <a:pPr lvl="1"/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</a:t>
            </a:r>
            <a:r>
              <a:rPr lang="en-US" altLang="en-US" dirty="0"/>
              <a:t>: to prevent access to computers and network systems</a:t>
            </a:r>
          </a:p>
          <a:p>
            <a:r>
              <a:rPr lang="en-US" altLang="en-US" sz="2800" b="1" i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 Barrier System</a:t>
            </a:r>
            <a:r>
              <a:rPr lang="en-US" altLang="en-US" sz="2800" dirty="0"/>
              <a:t> (related to </a:t>
            </a:r>
            <a:r>
              <a:rPr lang="en-US" altLang="en-US" sz="2800" b="1" i="1" u="sng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DID</a:t>
            </a:r>
            <a:r>
              <a:rPr lang="en-US" altLang="en-US" sz="2800" dirty="0"/>
              <a:t>)</a:t>
            </a:r>
            <a:endParaRPr lang="en-US" altLang="en-US" sz="2800" b="1" i="1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en-US" dirty="0"/>
              <a:t>Having more than one physical barrier to cross </a:t>
            </a:r>
          </a:p>
          <a:p>
            <a:pPr lvl="1"/>
            <a:r>
              <a:rPr lang="en-US" altLang="en-US" dirty="0"/>
              <a:t>Systems should have a minimum of </a:t>
            </a:r>
            <a:r>
              <a:rPr lang="en-US" altLang="en-US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Three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Physical Barriers</a:t>
            </a:r>
          </a:p>
          <a:p>
            <a:pPr>
              <a:buFontTx/>
              <a:buNone/>
            </a:pPr>
            <a:endParaRPr lang="en-US" altLang="en-US" i="1" dirty="0"/>
          </a:p>
        </p:txBody>
      </p:sp>
      <p:sp>
        <p:nvSpPr>
          <p:cNvPr id="6147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Physical Security</a:t>
            </a:r>
          </a:p>
        </p:txBody>
      </p:sp>
    </p:spTree>
    <p:extLst>
      <p:ext uri="{BB962C8B-B14F-4D97-AF65-F5344CB8AC3E}">
        <p14:creationId xmlns:p14="http://schemas.microsoft.com/office/powerpoint/2010/main" val="852698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14400"/>
            <a:ext cx="6182562" cy="481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7502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Locks and Security</a:t>
            </a:r>
          </a:p>
          <a:p>
            <a:pPr lvl="1"/>
            <a:r>
              <a:rPr lang="en-US" altLang="en-US" sz="2400" dirty="0"/>
              <a:t>Involves applying physical security modifications to secure the system(s)and prevent them from leaving the facility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Mantraps</a:t>
            </a:r>
          </a:p>
          <a:p>
            <a:pPr lvl="1"/>
            <a:r>
              <a:rPr lang="en-US" altLang="en-US" sz="2400" dirty="0"/>
              <a:t>Require visual identification, as well as authentication, to gain access</a:t>
            </a:r>
          </a:p>
          <a:p>
            <a:pPr lvl="2"/>
            <a:r>
              <a:rPr lang="en-US" altLang="en-US" sz="2000" b="1" i="1" u="sng" dirty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{See Next 2 Images}</a:t>
            </a:r>
          </a:p>
        </p:txBody>
      </p:sp>
      <p:sp>
        <p:nvSpPr>
          <p:cNvPr id="819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Chapter 10: Social Engineering and Other Foes</a:t>
            </a:r>
          </a:p>
        </p:txBody>
      </p:sp>
    </p:spTree>
    <p:extLst>
      <p:ext uri="{BB962C8B-B14F-4D97-AF65-F5344CB8AC3E}">
        <p14:creationId xmlns:p14="http://schemas.microsoft.com/office/powerpoint/2010/main" val="4025661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A5E8-63EC-438D-9981-5DBB4A7DC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Mantrap…</a:t>
            </a:r>
          </a:p>
        </p:txBody>
      </p:sp>
      <p:pic>
        <p:nvPicPr>
          <p:cNvPr id="5" name="Picture 4" descr="A glass door&#10;&#10;Description automatically generated">
            <a:extLst>
              <a:ext uri="{FF2B5EF4-FFF2-40B4-BE49-F238E27FC236}">
                <a16:creationId xmlns:a16="http://schemas.microsoft.com/office/drawing/2014/main" id="{5E2EE382-ECFD-4812-943E-C720D9996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219200"/>
            <a:ext cx="737235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2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3289D-BF15-49E9-966A-7E38256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792162"/>
          </a:xfrm>
        </p:spPr>
        <p:txBody>
          <a:bodyPr/>
          <a:lstStyle/>
          <a:p>
            <a:r>
              <a:rPr lang="en-US" dirty="0"/>
              <a:t>Mantrap…</a:t>
            </a:r>
          </a:p>
        </p:txBody>
      </p:sp>
      <p:pic>
        <p:nvPicPr>
          <p:cNvPr id="5" name="Picture 4" descr="A person sitting in a room&#10;&#10;Description automatically generated">
            <a:extLst>
              <a:ext uri="{FF2B5EF4-FFF2-40B4-BE49-F238E27FC236}">
                <a16:creationId xmlns:a16="http://schemas.microsoft.com/office/drawing/2014/main" id="{3545481E-42DC-4435-98E4-968FAF903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74" y="1924050"/>
            <a:ext cx="6600825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984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Hardware Locks</a:t>
            </a:r>
          </a:p>
        </p:txBody>
      </p:sp>
      <p:pic>
        <p:nvPicPr>
          <p:cNvPr id="92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725" y="1828800"/>
            <a:ext cx="5467350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6554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6593-7A2D-44A0-8337-557979B93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792162"/>
          </a:xfrm>
        </p:spPr>
        <p:txBody>
          <a:bodyPr/>
          <a:lstStyle/>
          <a:p>
            <a:r>
              <a:rPr lang="en-US" dirty="0"/>
              <a:t>Computer Locks…</a:t>
            </a:r>
          </a:p>
        </p:txBody>
      </p:sp>
      <p:pic>
        <p:nvPicPr>
          <p:cNvPr id="5" name="Picture 4" descr="A black cable&#10;&#10;Description automatically generated">
            <a:extLst>
              <a:ext uri="{FF2B5EF4-FFF2-40B4-BE49-F238E27FC236}">
                <a16:creationId xmlns:a16="http://schemas.microsoft.com/office/drawing/2014/main" id="{341F4F2B-C79B-4A10-8B85-29507B34C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208" y="1447800"/>
            <a:ext cx="516255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47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706C5-BCD9-41FE-9EB0-C88722B7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Computer Locks …</a:t>
            </a:r>
          </a:p>
        </p:txBody>
      </p:sp>
      <p:pic>
        <p:nvPicPr>
          <p:cNvPr id="4" name="Picture 3" descr="A close up of a device&#10;&#10;Description automatically generated">
            <a:extLst>
              <a:ext uri="{FF2B5EF4-FFF2-40B4-BE49-F238E27FC236}">
                <a16:creationId xmlns:a16="http://schemas.microsoft.com/office/drawing/2014/main" id="{D995506E-656C-45CB-BC8F-8E5E33CC5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619893"/>
            <a:ext cx="6707612" cy="401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35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Combating Social Engineering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Best:= Training, Training, and Re-Training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Video surveillance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Camera vs. guard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Fencing/perimeter security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list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 lighting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Signs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Guards</a:t>
            </a:r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Barricades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98862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3"/>
          <p:cNvSpPr>
            <a:spLocks noGrp="1"/>
          </p:cNvSpPr>
          <p:nvPr>
            <p:ph idx="1"/>
          </p:nvPr>
        </p:nvSpPr>
        <p:spPr>
          <a:xfrm>
            <a:off x="2286000" y="1828800"/>
            <a:ext cx="6400800" cy="4525963"/>
          </a:xfrm>
        </p:spPr>
        <p:txBody>
          <a:bodyPr>
            <a:normAutofit/>
          </a:bodyPr>
          <a:lstStyle/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Biometrics</a:t>
            </a:r>
          </a:p>
          <a:p>
            <a:pPr lvl="1"/>
            <a:r>
              <a:rPr lang="en-US" altLang="en-US" dirty="0"/>
              <a:t>Use some kind of unique biological trait to identify a person:</a:t>
            </a:r>
          </a:p>
          <a:p>
            <a:pPr lvl="2"/>
            <a:r>
              <a:rPr lang="en-US" altLang="en-US" dirty="0"/>
              <a:t>Fingerprints</a:t>
            </a:r>
          </a:p>
          <a:p>
            <a:pPr lvl="2"/>
            <a:r>
              <a:rPr lang="en-US" altLang="en-US" dirty="0"/>
              <a:t>Patterns on the Retina or Iris</a:t>
            </a:r>
          </a:p>
          <a:p>
            <a:pPr lvl="2"/>
            <a:r>
              <a:rPr lang="en-US" altLang="en-US" dirty="0"/>
              <a:t>Handprints</a:t>
            </a:r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Protected Distribution</a:t>
            </a:r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Alarms</a:t>
            </a:r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Motion Detection</a:t>
            </a:r>
          </a:p>
        </p:txBody>
      </p:sp>
      <p:sp>
        <p:nvSpPr>
          <p:cNvPr id="11267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Chapter 10: Social Engineering and Other Foes</a:t>
            </a:r>
          </a:p>
        </p:txBody>
      </p:sp>
    </p:spTree>
    <p:extLst>
      <p:ext uri="{BB962C8B-B14F-4D97-AF65-F5344CB8AC3E}">
        <p14:creationId xmlns:p14="http://schemas.microsoft.com/office/powerpoint/2010/main" val="3783831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3"/>
          <p:cNvSpPr>
            <a:spLocks noGrp="1"/>
          </p:cNvSpPr>
          <p:nvPr>
            <p:ph idx="1"/>
          </p:nvPr>
        </p:nvSpPr>
        <p:spPr>
          <a:xfrm>
            <a:off x="2286000" y="1981200"/>
            <a:ext cx="6400800" cy="4525963"/>
          </a:xfrm>
        </p:spPr>
        <p:txBody>
          <a:bodyPr/>
          <a:lstStyle/>
          <a:p>
            <a:r>
              <a:rPr lang="en-US" altLang="en-US" dirty="0"/>
              <a:t>Environmental controls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HVAC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Fire Suppression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EMI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Shielding</a:t>
            </a:r>
          </a:p>
          <a:p>
            <a:endParaRPr lang="en-US" altLang="en-US" dirty="0"/>
          </a:p>
        </p:txBody>
      </p:sp>
      <p:sp>
        <p:nvSpPr>
          <p:cNvPr id="12291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Chapter 10: Social Engineering and Other Foes</a:t>
            </a:r>
          </a:p>
        </p:txBody>
      </p:sp>
    </p:spTree>
    <p:extLst>
      <p:ext uri="{BB962C8B-B14F-4D97-AF65-F5344CB8AC3E}">
        <p14:creationId xmlns:p14="http://schemas.microsoft.com/office/powerpoint/2010/main" val="3903351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 u="sng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EMI</a:t>
            </a:r>
            <a:r>
              <a:rPr lang="en-US" altLang="en-US" dirty="0"/>
              <a:t> Interference</a:t>
            </a:r>
          </a:p>
        </p:txBody>
      </p:sp>
      <p:pic>
        <p:nvPicPr>
          <p:cNvPr id="1331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905000"/>
            <a:ext cx="6767713" cy="2653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6206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Surge Protectors</a:t>
            </a:r>
          </a:p>
          <a:p>
            <a:pPr lvl="1"/>
            <a:r>
              <a:rPr lang="en-US" altLang="en-US" sz="2400" dirty="0"/>
              <a:t>Protect electrical components from momentary or instantaneous increases (called spikes) in a power line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Conditioners</a:t>
            </a:r>
          </a:p>
          <a:p>
            <a:pPr lvl="1"/>
            <a:r>
              <a:rPr lang="en-US" altLang="en-US" sz="2400" dirty="0"/>
              <a:t>Active devices that effectively isolate and regulate voltage in a building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Backup Power</a:t>
            </a:r>
          </a:p>
          <a:p>
            <a:pPr lvl="1"/>
            <a:r>
              <a:rPr lang="en-US" altLang="en-US" sz="2400" dirty="0"/>
              <a:t>Generally used in situations where continuous power is needed in the event of a power loss</a:t>
            </a:r>
          </a:p>
          <a:p>
            <a:pPr>
              <a:buFontTx/>
              <a:buNone/>
            </a:pPr>
            <a:endParaRPr lang="en-US" altLang="en-US" dirty="0"/>
          </a:p>
        </p:txBody>
      </p:sp>
      <p:sp>
        <p:nvSpPr>
          <p:cNvPr id="14339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Products that Solve Most Electrical Line Problems:</a:t>
            </a:r>
          </a:p>
        </p:txBody>
      </p:sp>
    </p:spTree>
    <p:extLst>
      <p:ext uri="{BB962C8B-B14F-4D97-AF65-F5344CB8AC3E}">
        <p14:creationId xmlns:p14="http://schemas.microsoft.com/office/powerpoint/2010/main" val="1516754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EMI Shielding</a:t>
            </a:r>
          </a:p>
          <a:p>
            <a:pPr lvl="1"/>
            <a:r>
              <a:rPr lang="en-US" altLang="en-US" sz="2000" i="1" dirty="0"/>
              <a:t>Electromagnetic interference (EMI)</a:t>
            </a:r>
          </a:p>
          <a:p>
            <a:pPr lvl="1"/>
            <a:r>
              <a:rPr lang="en-US" altLang="en-US" sz="2000" i="1" dirty="0"/>
              <a:t>frequency interference (RFI)</a:t>
            </a:r>
            <a:endParaRPr lang="en-US" altLang="en-US" sz="2000" dirty="0"/>
          </a:p>
          <a:p>
            <a:r>
              <a:rPr lang="en-US" altLang="en-US" sz="2400" dirty="0"/>
              <a:t>T</a:t>
            </a:r>
            <a:r>
              <a:rPr lang="en-US" altLang="en-US" sz="2400" b="0" dirty="0"/>
              <a:t>he process of preventing electronic emissions from your computer systems from being used to gather intelligence and preventing outside electronic emissions from disrupting your information-processing abilities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Hot</a:t>
            </a:r>
            <a:r>
              <a:rPr lang="en-US" altLang="en-US" sz="2400" dirty="0"/>
              <a:t> and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Cold Aisles</a:t>
            </a:r>
          </a:p>
          <a:p>
            <a:endParaRPr lang="en-US" altLang="en-US" sz="2400" b="0" dirty="0"/>
          </a:p>
          <a:p>
            <a:pPr>
              <a:buFontTx/>
              <a:buNone/>
            </a:pPr>
            <a:endParaRPr lang="en-US" altLang="en-US" sz="2400" dirty="0"/>
          </a:p>
        </p:txBody>
      </p:sp>
      <p:sp>
        <p:nvSpPr>
          <p:cNvPr id="15363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Chapter 10: Physical and</a:t>
            </a:r>
            <a:br>
              <a:rPr lang="en-US" altLang="en-US"/>
            </a:br>
            <a:r>
              <a:rPr lang="en-US" altLang="en-US"/>
              <a:t>Hardware-Based Security</a:t>
            </a:r>
          </a:p>
        </p:txBody>
      </p:sp>
    </p:spTree>
    <p:extLst>
      <p:ext uri="{BB962C8B-B14F-4D97-AF65-F5344CB8AC3E}">
        <p14:creationId xmlns:p14="http://schemas.microsoft.com/office/powerpoint/2010/main" val="1193444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Hot and Cold Aisles</a:t>
            </a:r>
          </a:p>
        </p:txBody>
      </p:sp>
      <p:pic>
        <p:nvPicPr>
          <p:cNvPr id="1638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95400"/>
            <a:ext cx="8001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86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433</Words>
  <Application>Microsoft Office PowerPoint</Application>
  <PresentationFormat>On-screen Show (4:3)</PresentationFormat>
  <Paragraphs>96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CompTIA Security+ Study Guide (SY0-501)</vt:lpstr>
      <vt:lpstr>Chapter 10: Social Engineering and Other Foes</vt:lpstr>
      <vt:lpstr> Social Engineering</vt:lpstr>
      <vt:lpstr>Principles Behind Social Engineering</vt:lpstr>
      <vt:lpstr>Physical Security</vt:lpstr>
      <vt:lpstr>PowerPoint Presentation</vt:lpstr>
      <vt:lpstr>Chapter 10: Social Engineering and Other Foes</vt:lpstr>
      <vt:lpstr>Mantrap…</vt:lpstr>
      <vt:lpstr>Mantrap…</vt:lpstr>
      <vt:lpstr>Hardware Locks</vt:lpstr>
      <vt:lpstr>Computer Locks…</vt:lpstr>
      <vt:lpstr>Computer Locks …</vt:lpstr>
      <vt:lpstr>Combating Social Engineering</vt:lpstr>
      <vt:lpstr>Chapter 10: Social Engineering and Other Foes</vt:lpstr>
      <vt:lpstr>Chapter 10: Social Engineering and Other Foes</vt:lpstr>
      <vt:lpstr>EMI Interference</vt:lpstr>
      <vt:lpstr>Products that Solve Most Electrical Line Problems:</vt:lpstr>
      <vt:lpstr>Chapter 10: Physical and Hardware-Based Security</vt:lpstr>
      <vt:lpstr>Hot and Cold Aisles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20</cp:revision>
  <dcterms:created xsi:type="dcterms:W3CDTF">2013-06-05T20:52:46Z</dcterms:created>
  <dcterms:modified xsi:type="dcterms:W3CDTF">2020-03-16T21:18:45Z</dcterms:modified>
</cp:coreProperties>
</file>