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60" r:id="rId4"/>
    <p:sldId id="282" r:id="rId5"/>
    <p:sldId id="274" r:id="rId6"/>
    <p:sldId id="276" r:id="rId7"/>
    <p:sldId id="283" r:id="rId8"/>
    <p:sldId id="284" r:id="rId9"/>
    <p:sldId id="277" r:id="rId10"/>
    <p:sldId id="278" r:id="rId11"/>
    <p:sldId id="279" r:id="rId12"/>
    <p:sldId id="280" r:id="rId13"/>
    <p:sldId id="28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FFFFCC"/>
    <a:srgbClr val="990000"/>
    <a:srgbClr val="00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99E63-9473-48D2-8659-99B9D8D1E6B8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5BC35-08FB-49EE-BB8C-FB3C1FF68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21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29B0BDD-9FDA-47E0-BF7E-FBD2F7B961C5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140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9A498CAA-8A84-413D-97CA-10592D70C90B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442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C8C2BFC7-EB82-4569-886C-235A622146C5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494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22A2AA80-F36C-4637-B9AF-DCDE168160A0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35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5A1CFA6-81F2-4AD5-AEA4-C1DDD8A45BEA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625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E549C0D-B866-429F-844E-A97606F2841B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920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9A9498C5-90DC-49A3-BB38-FE37DE48B2F4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35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90CE41E-B5BA-43B0-A7DF-925DF1770812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963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26ACD497-A323-4B86-AE20-454976CDDF7F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90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B67EF0A8-7545-4F8E-8DC5-E6467373FE41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62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467600" cy="1752600"/>
          </a:xfrm>
        </p:spPr>
        <p:txBody>
          <a:bodyPr/>
          <a:lstStyle/>
          <a:p>
            <a:r>
              <a:rPr lang="en-US" altLang="en-US" dirty="0"/>
              <a:t>Chapter 3:</a:t>
            </a:r>
          </a:p>
          <a:p>
            <a:r>
              <a:rPr lang="en-US" altLang="en-US" dirty="0"/>
              <a:t>Understanding Devices and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08658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6629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Chapter 3: Understanding Devices and Infrastructure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828800"/>
            <a:ext cx="6553200" cy="4525963"/>
          </a:xfrm>
        </p:spPr>
        <p:txBody>
          <a:bodyPr/>
          <a:lstStyle/>
          <a:p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Configure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Components</a:t>
            </a:r>
            <a:r>
              <a:rPr lang="en-US" altLang="en-US" dirty="0"/>
              <a:t>, both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Hardware-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Software-based</a:t>
            </a:r>
            <a:r>
              <a:rPr lang="en-US" altLang="en-US" dirty="0"/>
              <a:t> to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Organizational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</a:p>
          <a:p>
            <a:pPr lvl="1"/>
            <a:r>
              <a:rPr lang="en-US" altLang="en-US" b="1" i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{the Policies, Guidelines and Procedures =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“Security Posture”</a:t>
            </a:r>
            <a:r>
              <a:rPr lang="en-US" altLang="en-US" b="1" i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7809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71628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Designing with Security in Mind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143000"/>
            <a:ext cx="64008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36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Firewalls</a:t>
            </a:r>
          </a:p>
          <a:p>
            <a:pPr lvl="1"/>
            <a:r>
              <a:rPr lang="en-US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Definition:</a:t>
            </a:r>
          </a:p>
          <a:p>
            <a:pPr lvl="2"/>
            <a:r>
              <a:rPr lang="en-US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Selective / “Picky” Firewall</a:t>
            </a:r>
          </a:p>
          <a:p>
            <a:pPr lvl="1"/>
            <a:r>
              <a:rPr lang="en-US" altLang="en-US" sz="3200" b="1" i="1" u="sng" dirty="0">
                <a:solidFill>
                  <a:srgbClr val="FF0000"/>
                </a:solidFill>
              </a:rPr>
              <a:t>Network Security System </a:t>
            </a:r>
            <a:r>
              <a:rPr lang="en-US" altLang="en-US" sz="3200" dirty="0"/>
              <a:t>that </a:t>
            </a:r>
            <a:r>
              <a:rPr lang="en-US" altLang="en-US" sz="3200" b="1" i="1" u="sng" dirty="0">
                <a:solidFill>
                  <a:srgbClr val="FF6699"/>
                </a:solidFill>
              </a:rPr>
              <a:t>Monitors</a:t>
            </a:r>
            <a:r>
              <a:rPr lang="en-US" altLang="en-US" sz="3200" dirty="0"/>
              <a:t> and </a:t>
            </a:r>
            <a:r>
              <a:rPr lang="en-US" altLang="en-US" sz="3200" b="1" i="1" u="sng" dirty="0">
                <a:solidFill>
                  <a:srgbClr val="FF6699"/>
                </a:solidFill>
              </a:rPr>
              <a:t>Controls</a:t>
            </a:r>
            <a:r>
              <a:rPr lang="en-US" altLang="en-US" sz="3200" dirty="0"/>
              <a:t> </a:t>
            </a:r>
            <a:r>
              <a:rPr lang="en-US" altLang="en-US" sz="3200" b="1" i="1" u="sng" dirty="0"/>
              <a:t>Incoming</a:t>
            </a:r>
            <a:r>
              <a:rPr lang="en-US" altLang="en-US" sz="3200" dirty="0"/>
              <a:t> and </a:t>
            </a:r>
            <a:r>
              <a:rPr lang="en-US" altLang="en-US" sz="3200" b="1" i="1" u="sng" dirty="0"/>
              <a:t>Outgoing</a:t>
            </a:r>
            <a:r>
              <a:rPr lang="en-US" altLang="en-US" sz="3200" dirty="0"/>
              <a:t> network </a:t>
            </a:r>
            <a:r>
              <a:rPr lang="en-US" altLang="en-US" sz="3200" b="1" i="1" u="sng" dirty="0"/>
              <a:t>Traffic</a:t>
            </a:r>
            <a:r>
              <a:rPr lang="en-US" altLang="en-US" sz="3200" dirty="0"/>
              <a:t> based on </a:t>
            </a:r>
            <a:r>
              <a:rPr lang="en-US" altLang="en-US" sz="32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Predetermined</a:t>
            </a:r>
            <a:r>
              <a:rPr lang="en-US" altLang="en-US" sz="3200" dirty="0"/>
              <a:t>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Security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Rules</a:t>
            </a:r>
            <a:r>
              <a:rPr lang="en-US" altLang="en-US" sz="3200" dirty="0"/>
              <a:t>.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VPNs</a:t>
            </a:r>
            <a:r>
              <a:rPr lang="en-US" altLang="en-US" dirty="0"/>
              <a:t> and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VPN Concentrators</a:t>
            </a:r>
          </a:p>
          <a:p>
            <a:pPr lvl="1"/>
            <a:r>
              <a:rPr lang="en-US" altLang="en-US" dirty="0"/>
              <a:t>VPN:</a:t>
            </a:r>
          </a:p>
          <a:p>
            <a:pPr lvl="2"/>
            <a:r>
              <a:rPr lang="en-US" altLang="en-US" b="1" i="1" u="sng" dirty="0"/>
              <a:t>Programming</a:t>
            </a:r>
            <a:r>
              <a:rPr lang="en-US" altLang="en-US" dirty="0"/>
              <a:t> that </a:t>
            </a:r>
            <a:r>
              <a:rPr lang="en-US" altLang="en-US" b="1" i="1" u="sng" dirty="0"/>
              <a:t>Creates</a:t>
            </a:r>
            <a:r>
              <a:rPr lang="en-US" altLang="en-US" dirty="0"/>
              <a:t> a </a:t>
            </a:r>
            <a:r>
              <a:rPr lang="en-US" altLang="en-US" b="1" i="1" u="sng" dirty="0"/>
              <a:t>Safe</a:t>
            </a:r>
            <a:r>
              <a:rPr lang="en-US" altLang="en-US" dirty="0"/>
              <a:t>, </a:t>
            </a:r>
            <a:r>
              <a:rPr lang="en-US" altLang="en-US" b="1" i="1" u="sng" dirty="0"/>
              <a:t>Encrypted</a:t>
            </a:r>
            <a:r>
              <a:rPr lang="en-US" altLang="en-US" dirty="0"/>
              <a:t> </a:t>
            </a:r>
            <a:r>
              <a:rPr lang="en-US" altLang="en-US" b="1" i="1" u="sng" dirty="0"/>
              <a:t>Connection</a:t>
            </a:r>
            <a:r>
              <a:rPr lang="en-US" altLang="en-US" dirty="0"/>
              <a:t> over a </a:t>
            </a:r>
            <a:r>
              <a:rPr lang="en-US" altLang="en-US" b="1" i="1" u="sng" dirty="0"/>
              <a:t>Less</a:t>
            </a:r>
            <a:r>
              <a:rPr lang="en-US" altLang="en-US" dirty="0"/>
              <a:t> </a:t>
            </a:r>
            <a:r>
              <a:rPr lang="en-US" altLang="en-US" b="1" i="1" u="sng" dirty="0"/>
              <a:t>Secure</a:t>
            </a:r>
            <a:r>
              <a:rPr lang="en-US" altLang="en-US" dirty="0"/>
              <a:t> </a:t>
            </a:r>
            <a:r>
              <a:rPr lang="en-US" altLang="en-US" b="1" i="1" u="sng" dirty="0"/>
              <a:t>Network</a:t>
            </a:r>
            <a:r>
              <a:rPr lang="en-US" altLang="en-US" dirty="0"/>
              <a:t>, such as the public internet</a:t>
            </a:r>
          </a:p>
          <a:p>
            <a:pPr lvl="2"/>
            <a:r>
              <a:rPr lang="en-US" altLang="en-US" b="1" i="1" u="sng" dirty="0"/>
              <a:t>Uses Tunneling Protocols </a:t>
            </a:r>
            <a:r>
              <a:rPr lang="en-US" altLang="en-US" dirty="0"/>
              <a:t>to </a:t>
            </a:r>
            <a:r>
              <a:rPr lang="en-US" altLang="en-US" b="1" i="1" u="sng" dirty="0"/>
              <a:t>Encrypt Data</a:t>
            </a:r>
            <a:endParaRPr lang="en-US" altLang="en-US" dirty="0"/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Intrusion Detection Systems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>
              <a:buFontTx/>
              <a:buNone/>
            </a:pPr>
            <a:endParaRPr lang="en-US" altLang="en-US" sz="2400" dirty="0"/>
          </a:p>
          <a:p>
            <a:pPr lvl="1">
              <a:buFontTx/>
              <a:buNone/>
            </a:pPr>
            <a:endParaRPr lang="en-US" altLang="en-US" sz="2400" dirty="0"/>
          </a:p>
          <a:p>
            <a:pPr lvl="1"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1882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Intrusion Detection Systems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12" y="1066800"/>
            <a:ext cx="6186488" cy="52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23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Intrusion Detection Systems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00200"/>
            <a:ext cx="6400800" cy="5105400"/>
          </a:xfrm>
        </p:spPr>
        <p:txBody>
          <a:bodyPr>
            <a:normAutofit fontScale="92500"/>
          </a:bodyPr>
          <a:lstStyle/>
          <a:p>
            <a:r>
              <a:rPr lang="en-US" altLang="en-US" sz="2400" b="0" dirty="0"/>
              <a:t>An </a:t>
            </a:r>
            <a:r>
              <a:rPr lang="en-US" altLang="en-US" sz="2400" b="1" i="1" u="sng" dirty="0">
                <a:solidFill>
                  <a:srgbClr val="990000"/>
                </a:solidFill>
              </a:rPr>
              <a:t>Intrusion Detection System </a:t>
            </a:r>
            <a:r>
              <a:rPr lang="en-US" altLang="en-US" sz="2400" b="0" dirty="0"/>
              <a:t>(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IDS</a:t>
            </a:r>
            <a:r>
              <a:rPr lang="en-US" altLang="en-US" sz="2400" b="0" dirty="0"/>
              <a:t>) is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altLang="en-US" sz="2400" b="0" dirty="0"/>
              <a:t> that runs on either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Individual Workstations </a:t>
            </a:r>
            <a:r>
              <a:rPr lang="en-US" altLang="en-US" sz="2400" b="0" dirty="0"/>
              <a:t>or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Devices </a:t>
            </a:r>
            <a:r>
              <a:rPr lang="en-US" altLang="en-US" sz="2400" b="0" dirty="0"/>
              <a:t>to </a:t>
            </a:r>
            <a:r>
              <a:rPr lang="en-US" alt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</a:t>
            </a:r>
            <a:r>
              <a:rPr lang="en-US" altLang="en-US" sz="2400" b="0" dirty="0"/>
              <a:t> and </a:t>
            </a:r>
            <a:r>
              <a:rPr lang="en-US" alt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</a:t>
            </a:r>
            <a:r>
              <a:rPr lang="en-US" altLang="en-US" sz="2400" b="0" dirty="0"/>
              <a:t> network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</a:t>
            </a:r>
            <a:r>
              <a:rPr lang="en-US" altLang="en-US" sz="2400" b="0" dirty="0"/>
              <a:t>.</a:t>
            </a:r>
          </a:p>
          <a:p>
            <a:r>
              <a:rPr lang="en-US" altLang="en-US" sz="2400" b="1" i="1" u="sng" dirty="0">
                <a:solidFill>
                  <a:srgbClr val="990000"/>
                </a:solidFill>
              </a:rPr>
              <a:t>Intrusion Detection Systems </a:t>
            </a:r>
            <a:r>
              <a:rPr lang="en-US" altLang="en-US" sz="2400" b="0" dirty="0"/>
              <a:t>(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IDSs</a:t>
            </a:r>
            <a:r>
              <a:rPr lang="en-US" altLang="en-US" sz="2400" b="0" dirty="0"/>
              <a:t>) are becoming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Integral</a:t>
            </a:r>
            <a:r>
              <a:rPr lang="en-US" altLang="en-US" sz="2400" b="0" dirty="0"/>
              <a:t> parts of </a:t>
            </a:r>
            <a:r>
              <a:rPr lang="en-US" alt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Monitoring</a:t>
            </a:r>
            <a:r>
              <a:rPr lang="en-US" altLang="en-US" sz="2400" b="0" dirty="0"/>
              <a:t>.</a:t>
            </a:r>
          </a:p>
          <a:p>
            <a:r>
              <a:rPr lang="en-US" altLang="en-US" sz="2400" b="1" i="1" u="sng" dirty="0">
                <a:solidFill>
                  <a:srgbClr val="FF0000"/>
                </a:solidFill>
              </a:rPr>
              <a:t>Intrusion detection </a:t>
            </a:r>
            <a:r>
              <a:rPr lang="en-US" altLang="en-US" sz="2400" b="0" dirty="0"/>
              <a:t>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</a:t>
            </a:r>
            <a:r>
              <a:rPr lang="en-US" altLang="en-US" sz="2400" b="0" dirty="0"/>
              <a:t>) is the </a:t>
            </a:r>
            <a:r>
              <a:rPr lang="en-US" altLang="en-US" sz="2400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en-US" altLang="en-US" sz="2400" b="0" dirty="0"/>
              <a:t> of </a:t>
            </a:r>
            <a:r>
              <a:rPr lang="en-US" alt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Monitoring</a:t>
            </a:r>
            <a:r>
              <a:rPr lang="en-US" altLang="en-US" sz="2400" b="0" dirty="0"/>
              <a:t> events in a system or network to determine whether an intrusion is occurring</a:t>
            </a:r>
          </a:p>
          <a:p>
            <a:r>
              <a:rPr lang="en-US" altLang="en-US" sz="2400" b="0" dirty="0"/>
              <a:t>An 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Intrusion</a:t>
            </a:r>
            <a:r>
              <a:rPr lang="en-US" altLang="en-US" sz="2400" b="0" dirty="0"/>
              <a:t> is defined as </a:t>
            </a:r>
            <a:r>
              <a:rPr lang="en-US" altLang="en-US" sz="2400" b="1" dirty="0">
                <a:highlight>
                  <a:srgbClr val="FFFF00"/>
                </a:highlight>
              </a:rPr>
              <a:t>any</a:t>
            </a:r>
            <a:r>
              <a:rPr lang="en-US" altLang="en-US" sz="2400" b="0" dirty="0"/>
              <a:t> activity or action that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attempts to undermine</a:t>
            </a:r>
            <a:r>
              <a:rPr lang="en-US" altLang="en-US" sz="2400" b="0" dirty="0"/>
              <a:t> or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compromise</a:t>
            </a:r>
            <a:r>
              <a:rPr lang="en-US" altLang="en-US" sz="2400" b="0" dirty="0"/>
              <a:t> the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Confidentiality</a:t>
            </a:r>
            <a:r>
              <a:rPr lang="en-US" altLang="en-US" sz="2400" b="0" dirty="0"/>
              <a:t>,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Integrity</a:t>
            </a:r>
            <a:r>
              <a:rPr lang="en-US" altLang="en-US" sz="2400" b="0" dirty="0"/>
              <a:t>, or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Availability</a:t>
            </a:r>
            <a:r>
              <a:rPr lang="en-US" altLang="en-US" sz="2400" b="0" dirty="0"/>
              <a:t> of resources</a:t>
            </a:r>
          </a:p>
          <a:p>
            <a:pPr lvl="1"/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CIA Triad</a:t>
            </a:r>
          </a:p>
        </p:txBody>
      </p:sp>
    </p:spTree>
    <p:extLst>
      <p:ext uri="{BB962C8B-B14F-4D97-AF65-F5344CB8AC3E}">
        <p14:creationId xmlns:p14="http://schemas.microsoft.com/office/powerpoint/2010/main" val="629159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Chapter 3: Protecting Networks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IDSs use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Four</a:t>
            </a:r>
            <a:r>
              <a:rPr lang="en-US" sz="3600" b="1" dirty="0"/>
              <a:t> primary approaches</a:t>
            </a:r>
            <a:endParaRPr lang="en-US" sz="3200" b="1" dirty="0"/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Behavior-based</a:t>
            </a:r>
            <a:r>
              <a:rPr lang="en-US" sz="2400" dirty="0"/>
              <a:t> detection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400" b="1" i="1" u="sng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Signature-based</a:t>
            </a:r>
            <a:r>
              <a:rPr lang="en-US" sz="2400" dirty="0"/>
              <a:t> detection, also commonly known as </a:t>
            </a: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Misuse-Detection</a:t>
            </a:r>
            <a:r>
              <a:rPr lang="en-US" sz="2400" dirty="0"/>
              <a:t> IDS (MD-IDS)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Anomaly-detection</a:t>
            </a:r>
            <a:r>
              <a:rPr lang="en-US" sz="2400" dirty="0"/>
              <a:t> IDS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Heuristic</a:t>
            </a:r>
            <a:r>
              <a:rPr lang="en-US" sz="2400" dirty="0"/>
              <a:t> IDS</a:t>
            </a:r>
          </a:p>
        </p:txBody>
      </p:sp>
    </p:spTree>
    <p:extLst>
      <p:ext uri="{BB962C8B-B14F-4D97-AF65-F5344CB8AC3E}">
        <p14:creationId xmlns:p14="http://schemas.microsoft.com/office/powerpoint/2010/main" val="73874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IDS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9" y="2271712"/>
            <a:ext cx="5898445" cy="298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6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a </a:t>
            </a:r>
            <a:r>
              <a:rPr lang="en-US" b="1" i="1" u="sng" dirty="0">
                <a:solidFill>
                  <a:srgbClr val="0070C0"/>
                </a:solidFill>
              </a:rPr>
              <a:t>Hub</a:t>
            </a:r>
            <a:r>
              <a:rPr lang="en-US" dirty="0"/>
              <a:t> to Attach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NIDS</a:t>
            </a:r>
            <a:r>
              <a:rPr lang="en-US" dirty="0"/>
              <a:t> to the Network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2424112"/>
            <a:ext cx="5788244" cy="28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1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Implementing a Passive Response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00200"/>
            <a:ext cx="7010400" cy="4525963"/>
          </a:xfrm>
          <a:noFill/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Passive</a:t>
            </a:r>
            <a:r>
              <a:rPr lang="en-US" altLang="en-US" sz="2800" dirty="0"/>
              <a:t>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</a:t>
            </a:r>
            <a:r>
              <a:rPr lang="en-US" altLang="en-US" sz="2800" dirty="0"/>
              <a:t> : </a:t>
            </a:r>
          </a:p>
          <a:p>
            <a:r>
              <a:rPr lang="en-US" altLang="en-US" sz="2800" b="0" dirty="0"/>
              <a:t>The </a:t>
            </a:r>
            <a:r>
              <a:rPr lang="en-US" altLang="en-US" sz="2800" b="1" i="1" u="sng" dirty="0">
                <a:solidFill>
                  <a:srgbClr val="00B050"/>
                </a:solidFill>
              </a:rPr>
              <a:t>most common type </a:t>
            </a:r>
            <a:r>
              <a:rPr lang="en-US" altLang="en-US" sz="2800" b="0" dirty="0"/>
              <a:t>of response to many intrusions</a:t>
            </a:r>
            <a:endParaRPr lang="en-US" altLang="en-US" sz="2800" dirty="0"/>
          </a:p>
          <a:p>
            <a:r>
              <a:rPr lang="en-US" altLang="en-US" sz="2800" b="0" dirty="0"/>
              <a:t>In general, passive responses are the </a:t>
            </a:r>
            <a:r>
              <a:rPr lang="en-US" altLang="en-US" sz="2800" b="1" i="1" u="sng" dirty="0">
                <a:solidFill>
                  <a:srgbClr val="FF6699"/>
                </a:solidFill>
              </a:rPr>
              <a:t>Easiest To Develop </a:t>
            </a:r>
            <a:r>
              <a:rPr lang="en-US" altLang="en-US" sz="2800" b="0" dirty="0"/>
              <a:t>and </a:t>
            </a:r>
            <a:r>
              <a:rPr lang="en-US" altLang="en-US" sz="2800" b="1" i="1" u="sng" dirty="0">
                <a:solidFill>
                  <a:srgbClr val="FF6699"/>
                </a:solidFill>
              </a:rPr>
              <a:t>implement</a:t>
            </a:r>
            <a:r>
              <a:rPr lang="en-US" altLang="en-US" sz="2800" b="0" dirty="0"/>
              <a:t>.</a:t>
            </a:r>
          </a:p>
          <a:p>
            <a:pPr>
              <a:buFontTx/>
              <a:buNone/>
            </a:pPr>
            <a:endParaRPr lang="en-US" altLang="en-US" sz="2800" dirty="0"/>
          </a:p>
          <a:p>
            <a:pPr>
              <a:buFontTx/>
              <a:buNone/>
            </a:pPr>
            <a:r>
              <a:rPr lang="en-US" altLang="en-US" sz="2800" dirty="0"/>
              <a:t>Some passive response strategies</a:t>
            </a:r>
          </a:p>
          <a:p>
            <a:r>
              <a:rPr lang="en-US" altLang="en-US" sz="2800" b="1" i="1" u="sng" dirty="0">
                <a:solidFill>
                  <a:srgbClr val="FF6699"/>
                </a:solidFill>
              </a:rPr>
              <a:t>Logging</a:t>
            </a:r>
            <a:r>
              <a:rPr lang="en-US" altLang="en-US" sz="2800" b="0" dirty="0"/>
              <a:t> </a:t>
            </a:r>
          </a:p>
          <a:p>
            <a:r>
              <a:rPr lang="en-US" altLang="en-US" sz="2800" b="1" i="1" u="sng" dirty="0">
                <a:solidFill>
                  <a:srgbClr val="FF6699"/>
                </a:solidFill>
              </a:rPr>
              <a:t>Notification</a:t>
            </a:r>
          </a:p>
          <a:p>
            <a:r>
              <a:rPr lang="en-US" altLang="en-US" sz="2800" b="1" i="1" u="sng" dirty="0">
                <a:solidFill>
                  <a:srgbClr val="FF6699"/>
                </a:solidFill>
              </a:rPr>
              <a:t>Shunning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7878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Implementing an Active Response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6477000" cy="4754563"/>
          </a:xfrm>
        </p:spPr>
        <p:txBody>
          <a:bodyPr/>
          <a:lstStyle/>
          <a:p>
            <a:endParaRPr lang="en-US" altLang="en-US" sz="2400" dirty="0"/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Active Response</a:t>
            </a:r>
          </a:p>
          <a:p>
            <a:pPr lvl="1"/>
            <a:r>
              <a:rPr lang="en-US" altLang="en-US" sz="2400" dirty="0"/>
              <a:t>Involves taking an action based on an attack or threat</a:t>
            </a:r>
            <a:endParaRPr lang="en-US" altLang="en-US" sz="2800" dirty="0"/>
          </a:p>
          <a:p>
            <a:r>
              <a:rPr lang="en-US" altLang="en-US" sz="2800" dirty="0"/>
              <a:t>An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Active Response </a:t>
            </a:r>
            <a:r>
              <a:rPr lang="en-US" altLang="en-US" sz="2800" dirty="0"/>
              <a:t>will include one of these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Reactions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Terminating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Processes</a:t>
            </a:r>
            <a:r>
              <a:rPr lang="en-US" altLang="en-US" sz="2400" dirty="0"/>
              <a:t> or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Sessions</a:t>
            </a:r>
          </a:p>
          <a:p>
            <a:pPr lvl="1"/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Configuration</a:t>
            </a:r>
            <a:r>
              <a:rPr lang="en-US" altLang="en-US" sz="2400" dirty="0"/>
              <a:t> changes</a:t>
            </a:r>
          </a:p>
          <a:p>
            <a:pPr lvl="1"/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Deception</a:t>
            </a:r>
          </a:p>
        </p:txBody>
      </p:sp>
    </p:spTree>
    <p:extLst>
      <p:ext uri="{BB962C8B-B14F-4D97-AF65-F5344CB8AC3E}">
        <p14:creationId xmlns:p14="http://schemas.microsoft.com/office/powerpoint/2010/main" val="3899754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Host-Based IDs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64770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2400" b="0" dirty="0"/>
          </a:p>
          <a:p>
            <a:pPr>
              <a:lnSpc>
                <a:spcPct val="90000"/>
              </a:lnSpc>
            </a:pPr>
            <a:r>
              <a:rPr lang="en-US" altLang="en-US" sz="2800" b="0" dirty="0"/>
              <a:t>A host-based IDS 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HIDS</a:t>
            </a:r>
            <a:r>
              <a:rPr lang="en-US" altLang="en-US" sz="2800" b="0" dirty="0"/>
              <a:t>) is designed to run as software on a host computer system.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800" b="0" dirty="0"/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HIDSs</a:t>
            </a:r>
            <a:r>
              <a:rPr lang="en-US" altLang="en-US" sz="2800" b="0" dirty="0"/>
              <a:t> are popular on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Servers</a:t>
            </a:r>
            <a:r>
              <a:rPr lang="en-US" altLang="en-US" sz="2800" b="0" dirty="0"/>
              <a:t> that use </a:t>
            </a:r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Encrypted Channels </a:t>
            </a:r>
            <a:r>
              <a:rPr lang="en-US" altLang="en-US" sz="2800" b="0" dirty="0"/>
              <a:t>or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Channels</a:t>
            </a:r>
            <a:r>
              <a:rPr lang="en-US" altLang="en-US" sz="2800" b="0" dirty="0"/>
              <a:t> to other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Servers</a:t>
            </a:r>
            <a:r>
              <a:rPr lang="en-US" altLang="en-US" sz="2800" b="0" dirty="0"/>
              <a:t>.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84911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69342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Chapter 3: Protecting Networks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828800"/>
            <a:ext cx="7010400" cy="4297363"/>
          </a:xfrm>
        </p:spPr>
        <p:txBody>
          <a:bodyPr/>
          <a:lstStyle/>
          <a:p>
            <a:pPr>
              <a:defRPr/>
            </a:pPr>
            <a:endParaRPr lang="en-US" altLang="en-US" sz="2400" b="0" dirty="0"/>
          </a:p>
          <a:p>
            <a:pPr>
              <a:defRPr/>
            </a:pPr>
            <a:r>
              <a:rPr lang="en-US" altLang="en-US" sz="2800" b="1" i="1" u="sng" dirty="0">
                <a:solidFill>
                  <a:srgbClr val="990000"/>
                </a:solidFill>
              </a:rPr>
              <a:t>Network Intrusion Prevention Systems </a:t>
            </a:r>
            <a:r>
              <a:rPr lang="en-US" altLang="en-US" sz="2800" b="0" dirty="0"/>
              <a:t>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NIPSs</a:t>
            </a:r>
            <a:r>
              <a:rPr lang="en-US" altLang="en-US" sz="2800" b="0" dirty="0"/>
              <a:t>) focus on </a:t>
            </a:r>
            <a:r>
              <a:rPr lang="en-US" altLang="en-US" sz="2800" b="1" i="1" u="sng" dirty="0">
                <a:solidFill>
                  <a:srgbClr val="00FF00"/>
                </a:solidFill>
              </a:rPr>
              <a:t>Prevention</a:t>
            </a:r>
            <a:r>
              <a:rPr lang="en-US" altLang="en-US" sz="2800" b="0" dirty="0"/>
              <a:t>. </a:t>
            </a:r>
          </a:p>
          <a:p>
            <a:pPr lvl="1">
              <a:defRPr/>
            </a:pPr>
            <a:r>
              <a:rPr lang="en-US" altLang="en-US" sz="2400" b="0" dirty="0"/>
              <a:t>These systems focus on </a:t>
            </a:r>
            <a:r>
              <a:rPr lang="en-US" altLang="en-US" sz="24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Signature</a:t>
            </a:r>
            <a:r>
              <a:rPr lang="en-US" altLang="en-US" sz="2400" b="1" i="1" u="sng" dirty="0">
                <a:solidFill>
                  <a:srgbClr val="FFFFCC"/>
                </a:solidFill>
              </a:rPr>
              <a:t> </a:t>
            </a:r>
            <a:r>
              <a:rPr lang="en-US" altLang="en-US" sz="2400" b="1" i="1" u="sng" dirty="0">
                <a:solidFill>
                  <a:srgbClr val="FF6699"/>
                </a:solidFill>
              </a:rPr>
              <a:t>Matches</a:t>
            </a:r>
            <a:r>
              <a:rPr lang="en-US" altLang="en-US" sz="2400" b="1" i="1" u="sng" dirty="0">
                <a:solidFill>
                  <a:srgbClr val="FFFFCC"/>
                </a:solidFill>
              </a:rPr>
              <a:t> </a:t>
            </a:r>
            <a:r>
              <a:rPr lang="en-US" altLang="en-US" sz="2400" b="0" dirty="0"/>
              <a:t>and then take a course of action.</a:t>
            </a:r>
          </a:p>
          <a:p>
            <a:pPr>
              <a:buFontTx/>
              <a:buNone/>
              <a:defRPr/>
            </a:pPr>
            <a:endParaRPr lang="en-US" altLang="en-US" sz="2400" b="0" dirty="0"/>
          </a:p>
          <a:p>
            <a:pPr marL="0" indent="0">
              <a:buFontTx/>
              <a:buNone/>
              <a:defRPr/>
            </a:pPr>
            <a:endParaRPr lang="en-US" altLang="en-US" sz="2400" b="0" dirty="0"/>
          </a:p>
          <a:p>
            <a:pPr>
              <a:buFontTx/>
              <a:buNone/>
              <a:defRPr/>
            </a:pPr>
            <a:endParaRPr lang="en-US" altLang="en-US" sz="2400" b="0" dirty="0"/>
          </a:p>
          <a:p>
            <a:pPr>
              <a:defRPr/>
            </a:pPr>
            <a:endParaRPr lang="en-US" altLang="en-US" sz="2400" b="0" dirty="0"/>
          </a:p>
          <a:p>
            <a:pPr>
              <a:defRPr/>
            </a:pPr>
            <a:endParaRPr lang="en-US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042219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Security-Related Devices</a:t>
            </a:r>
            <a:endParaRPr lang="en-US" altLang="en-US" sz="4000" b="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143000"/>
            <a:ext cx="6400800" cy="5410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 i="1" u="sng" dirty="0"/>
              <a:t>Router – L3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Switch – L2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Proxy – L4 (and above)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Load balancer – L4 (and above)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Access point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SIEM – </a:t>
            </a:r>
            <a:r>
              <a:rPr lang="en-US" altLang="en-US" b="1" i="1" u="sng" dirty="0">
                <a:solidFill>
                  <a:srgbClr val="0070C0"/>
                </a:solidFill>
              </a:rPr>
              <a:t>Security Information &amp; Event Management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DLP – Services-Based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NAC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Mail gateway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Bridge – L2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SSL/TLS accelerators – L5 (and above)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SSL </a:t>
            </a:r>
            <a:r>
              <a:rPr lang="en-US" altLang="en-US" b="1" i="1" u="sng" dirty="0" err="1"/>
              <a:t>Decryptors</a:t>
            </a:r>
            <a:r>
              <a:rPr lang="en-US" altLang="en-US" b="1" i="1" u="sng" dirty="0"/>
              <a:t> – L5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Media Gateway </a:t>
            </a:r>
          </a:p>
        </p:txBody>
      </p:sp>
    </p:spTree>
    <p:extLst>
      <p:ext uri="{BB962C8B-B14F-4D97-AF65-F5344CB8AC3E}">
        <p14:creationId xmlns:p14="http://schemas.microsoft.com/office/powerpoint/2010/main" val="350459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3205</TotalTime>
  <Words>450</Words>
  <Application>Microsoft Office PowerPoint</Application>
  <PresentationFormat>On-screen Show (4:3)</PresentationFormat>
  <Paragraphs>87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CompTIA Security+ Study Guide (SY0-501)</vt:lpstr>
      <vt:lpstr>Chapter 3: Understanding Devices and Infrastructure</vt:lpstr>
      <vt:lpstr>Designing with Security in Mind</vt:lpstr>
      <vt:lpstr>Intrusion Detection Systems</vt:lpstr>
      <vt:lpstr>Intrusion Detection Systems</vt:lpstr>
      <vt:lpstr>Chapter 3: Protecting Networks</vt:lpstr>
      <vt:lpstr>Network-Based IDS</vt:lpstr>
      <vt:lpstr>Using a Hub to Attach NIDS to the Network</vt:lpstr>
      <vt:lpstr>Implementing a Passive Response</vt:lpstr>
      <vt:lpstr>Implementing an Active Response</vt:lpstr>
      <vt:lpstr>Host-Based IDs</vt:lpstr>
      <vt:lpstr>Chapter 3: Protecting Networks</vt:lpstr>
      <vt:lpstr>Security-Related Devices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22</cp:revision>
  <dcterms:created xsi:type="dcterms:W3CDTF">2013-06-05T20:52:46Z</dcterms:created>
  <dcterms:modified xsi:type="dcterms:W3CDTF">2020-02-25T13:47:44Z</dcterms:modified>
</cp:coreProperties>
</file>