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8"/>
  </p:notesMasterIdLst>
  <p:sldIdLst>
    <p:sldId id="256" r:id="rId2"/>
    <p:sldId id="259" r:id="rId3"/>
    <p:sldId id="260" r:id="rId4"/>
    <p:sldId id="261" r:id="rId5"/>
    <p:sldId id="262" r:id="rId6"/>
    <p:sldId id="263" r:id="rId7"/>
    <p:sldId id="269" r:id="rId8"/>
    <p:sldId id="264" r:id="rId9"/>
    <p:sldId id="265" r:id="rId10"/>
    <p:sldId id="266" r:id="rId11"/>
    <p:sldId id="267" r:id="rId12"/>
    <p:sldId id="268" r:id="rId13"/>
    <p:sldId id="270" r:id="rId14"/>
    <p:sldId id="272" r:id="rId15"/>
    <p:sldId id="273" r:id="rId16"/>
    <p:sldId id="274" r:id="rId17"/>
    <p:sldId id="281" r:id="rId18"/>
    <p:sldId id="275" r:id="rId19"/>
    <p:sldId id="276" r:id="rId20"/>
    <p:sldId id="257" r:id="rId21"/>
    <p:sldId id="258" r:id="rId22"/>
    <p:sldId id="271" r:id="rId23"/>
    <p:sldId id="278" r:id="rId24"/>
    <p:sldId id="282" r:id="rId25"/>
    <p:sldId id="279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FF33CC"/>
    <a:srgbClr val="00FFCC"/>
    <a:srgbClr val="F5B1C4"/>
    <a:srgbClr val="D60093"/>
    <a:srgbClr val="FFFF99"/>
    <a:srgbClr val="66FFCC"/>
    <a:srgbClr val="EC6A92"/>
    <a:srgbClr val="FF66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06" autoAdjust="0"/>
    <p:restoredTop sz="94660"/>
  </p:normalViewPr>
  <p:slideViewPr>
    <p:cSldViewPr>
      <p:cViewPr>
        <p:scale>
          <a:sx n="130" d="100"/>
          <a:sy n="130" d="100"/>
        </p:scale>
        <p:origin x="475" y="-16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1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B9A36-8242-4673-9515-9C1306A6D11D}" type="datetimeFigureOut">
              <a:rPr lang="en-US" smtClean="0"/>
              <a:t>4/8/2020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BFA16-9513-42D0-AC8F-61EC7B3C8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60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000" b="1" baseline="0">
                <a:solidFill>
                  <a:srgbClr val="FFC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 b="1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046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610600" cy="5635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04800" y="990600"/>
            <a:ext cx="8610600" cy="47244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050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3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36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0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610600" cy="639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55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16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0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89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36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98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3886200"/>
            <a:ext cx="87630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20515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6397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90600"/>
            <a:ext cx="8534400" cy="513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EF8B6B60-A648-42BD-A0CA-33BAB934CC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77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000" b="1" kern="1200" cap="all" spc="50" baseline="0">
          <a:solidFill>
            <a:srgbClr val="FFC000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32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8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4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20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8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cpipguide.com/free/t_HistoryoftheOSIReferenceModel.ht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cpipguide.com/free/t_OSIReferenceModelLayerSummary.ht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IEEE_802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Network “Big Stack”</a:t>
            </a:r>
          </a:p>
          <a:p>
            <a:r>
              <a:rPr lang="en-US" sz="2800" dirty="0"/>
              <a:t>Instructor:</a:t>
            </a:r>
          </a:p>
          <a:p>
            <a:r>
              <a:rPr lang="en-US" sz="2800" b="1" i="1" dirty="0">
                <a:latin typeface="Brush Script MT" pitchFamily="66" charset="0"/>
              </a:rPr>
              <a:t>Dr. Rick Gibson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networking</a:t>
            </a:r>
          </a:p>
        </p:txBody>
      </p:sp>
    </p:spTree>
    <p:extLst>
      <p:ext uri="{BB962C8B-B14F-4D97-AF65-F5344CB8AC3E}">
        <p14:creationId xmlns:p14="http://schemas.microsoft.com/office/powerpoint/2010/main" val="4211301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Reference Model - History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304800" y="990600"/>
            <a:ext cx="8610600" cy="525780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“</a:t>
            </a:r>
            <a:r>
              <a:rPr lang="en-US" b="1" i="1" u="sng" dirty="0"/>
              <a:t>Open System Interconnect</a:t>
            </a:r>
            <a:r>
              <a:rPr lang="en-US" dirty="0"/>
              <a:t>” </a:t>
            </a:r>
            <a:r>
              <a:rPr lang="en-US" b="1" i="1" u="sng" dirty="0">
                <a:solidFill>
                  <a:srgbClr val="0070C0"/>
                </a:solidFill>
              </a:rPr>
              <a:t>Model</a:t>
            </a:r>
          </a:p>
          <a:p>
            <a:r>
              <a:rPr lang="en-US" dirty="0"/>
              <a:t>An </a:t>
            </a:r>
            <a:r>
              <a:rPr lang="en-US" b="1" i="1" u="sng" dirty="0">
                <a:solidFill>
                  <a:schemeClr val="bg2"/>
                </a:solidFill>
                <a:highlight>
                  <a:srgbClr val="FFFF00"/>
                </a:highlight>
              </a:rPr>
              <a:t>Early</a:t>
            </a:r>
            <a:r>
              <a:rPr lang="en-US" b="1" i="1" u="sng" dirty="0"/>
              <a:t> attempt </a:t>
            </a:r>
            <a:r>
              <a:rPr lang="en-US" dirty="0"/>
              <a:t>to have </a:t>
            </a:r>
            <a:r>
              <a:rPr lang="en-US" b="1" i="1" u="sng" dirty="0">
                <a:solidFill>
                  <a:srgbClr val="FF9933"/>
                </a:solidFill>
              </a:rPr>
              <a:t>HW</a:t>
            </a:r>
            <a:r>
              <a:rPr lang="en-US" dirty="0"/>
              <a:t> / </a:t>
            </a:r>
            <a:r>
              <a:rPr lang="en-US" b="1" i="1" u="sng" dirty="0">
                <a:solidFill>
                  <a:srgbClr val="FFCC66"/>
                </a:solidFill>
              </a:rPr>
              <a:t>SW</a:t>
            </a:r>
            <a:r>
              <a:rPr lang="en-US" dirty="0"/>
              <a:t> manufacturers </a:t>
            </a:r>
            <a:r>
              <a:rPr lang="en-US" b="1" i="1" u="sng" dirty="0">
                <a:solidFill>
                  <a:srgbClr val="00B050"/>
                </a:solidFill>
              </a:rPr>
              <a:t>agree</a:t>
            </a:r>
            <a:r>
              <a:rPr lang="en-US" dirty="0"/>
              <a:t> on a </a:t>
            </a:r>
            <a:r>
              <a:rPr lang="en-US" b="1" i="1" u="sng" dirty="0">
                <a:solidFill>
                  <a:srgbClr val="0070C0"/>
                </a:solidFill>
              </a:rPr>
              <a:t>Networking </a:t>
            </a:r>
            <a:r>
              <a:rPr lang="en-US" b="1" i="1" u="sng" dirty="0">
                <a:solidFill>
                  <a:srgbClr val="FF6600"/>
                </a:solidFill>
              </a:rPr>
              <a:t>FW</a:t>
            </a:r>
            <a:r>
              <a:rPr lang="en-US" b="1" i="1" u="sng" dirty="0">
                <a:solidFill>
                  <a:srgbClr val="0070C0"/>
                </a:solidFill>
              </a:rPr>
              <a:t> </a:t>
            </a:r>
          </a:p>
          <a:p>
            <a:r>
              <a:rPr lang="en-US" dirty="0"/>
              <a:t>Late </a:t>
            </a:r>
            <a:r>
              <a:rPr lang="en-US" b="1" u="sng" dirty="0">
                <a:solidFill>
                  <a:schemeClr val="bg1"/>
                </a:solidFill>
                <a:highlight>
                  <a:srgbClr val="FFFF00"/>
                </a:highlight>
              </a:rPr>
              <a:t>1970’s</a:t>
            </a:r>
            <a:r>
              <a:rPr lang="en-US" dirty="0"/>
              <a:t> (2 </a:t>
            </a:r>
            <a:r>
              <a:rPr lang="en-US" b="1" i="1" u="sng" dirty="0">
                <a:solidFill>
                  <a:srgbClr val="FFC000"/>
                </a:solidFill>
              </a:rPr>
              <a:t>Independent</a:t>
            </a:r>
            <a:r>
              <a:rPr lang="en-US" dirty="0"/>
              <a:t> but </a:t>
            </a:r>
            <a:r>
              <a:rPr lang="en-US" b="1" i="1" u="sng" dirty="0">
                <a:solidFill>
                  <a:srgbClr val="FFFF99"/>
                </a:solidFill>
              </a:rPr>
              <a:t>Related</a:t>
            </a:r>
            <a:r>
              <a:rPr lang="en-US" dirty="0"/>
              <a:t> Projects):</a:t>
            </a:r>
          </a:p>
          <a:p>
            <a:pPr lvl="1"/>
            <a:r>
              <a:rPr lang="en-US" b="1" u="sng" dirty="0">
                <a:solidFill>
                  <a:srgbClr val="0070C0"/>
                </a:solidFill>
              </a:rPr>
              <a:t>ISO</a:t>
            </a:r>
          </a:p>
          <a:p>
            <a:pPr lvl="1"/>
            <a:r>
              <a:rPr lang="en-US" b="1" u="sng" dirty="0">
                <a:solidFill>
                  <a:srgbClr val="0070C0"/>
                </a:solidFill>
              </a:rPr>
              <a:t>CCITT</a:t>
            </a:r>
            <a:r>
              <a:rPr lang="en-US" dirty="0"/>
              <a:t> (International Telegraph/Telephone Consultative Committee)</a:t>
            </a:r>
          </a:p>
          <a:p>
            <a:r>
              <a:rPr lang="en-US" dirty="0"/>
              <a:t>Each defined </a:t>
            </a:r>
            <a:r>
              <a:rPr lang="en-US" b="1" i="1" u="sng" dirty="0">
                <a:solidFill>
                  <a:srgbClr val="FFC000"/>
                </a:solidFill>
              </a:rPr>
              <a:t>Similar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70C0"/>
                </a:solidFill>
              </a:rPr>
              <a:t>Models</a:t>
            </a:r>
          </a:p>
          <a:p>
            <a:r>
              <a:rPr lang="en-US" b="1" u="sng" dirty="0">
                <a:solidFill>
                  <a:schemeClr val="bg1"/>
                </a:solidFill>
                <a:highlight>
                  <a:srgbClr val="FFFF00"/>
                </a:highlight>
              </a:rPr>
              <a:t>1983</a:t>
            </a:r>
            <a:r>
              <a:rPr lang="en-US" dirty="0"/>
              <a:t> – both documents were “</a:t>
            </a:r>
            <a:r>
              <a:rPr lang="en-US" b="1" u="sng" dirty="0">
                <a:solidFill>
                  <a:srgbClr val="F5B1C4"/>
                </a:solidFill>
              </a:rPr>
              <a:t>Merged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“Basic Reference Model for Open Systems Interconnection”</a:t>
            </a:r>
          </a:p>
          <a:p>
            <a:pPr lvl="2"/>
            <a:r>
              <a:rPr lang="en-US" dirty="0"/>
              <a:t>Later, simply, “</a:t>
            </a:r>
            <a:r>
              <a:rPr lang="en-US" sz="3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OSI Model</a:t>
            </a:r>
            <a:r>
              <a:rPr lang="en-US" dirty="0"/>
              <a:t>”</a:t>
            </a:r>
          </a:p>
          <a:p>
            <a:r>
              <a:rPr lang="en-US" b="1" u="sng" dirty="0">
                <a:solidFill>
                  <a:schemeClr val="bg1"/>
                </a:solidFill>
                <a:highlight>
                  <a:srgbClr val="FFFF00"/>
                </a:highlight>
              </a:rPr>
              <a:t>1984</a:t>
            </a:r>
            <a:r>
              <a:rPr lang="en-US" dirty="0"/>
              <a:t> – Published by ISO &amp; CCITT (now renamed ITU)</a:t>
            </a:r>
          </a:p>
          <a:p>
            <a:pPr lvl="1"/>
            <a:r>
              <a:rPr lang="en-US" b="1" u="sng" dirty="0"/>
              <a:t>ISO 7498 </a:t>
            </a:r>
            <a:r>
              <a:rPr lang="en-US" dirty="0"/>
              <a:t>for the ISO side</a:t>
            </a:r>
          </a:p>
          <a:p>
            <a:pPr lvl="1"/>
            <a:r>
              <a:rPr lang="en-US" b="1" u="sng" dirty="0"/>
              <a:t>X.200</a:t>
            </a:r>
            <a:r>
              <a:rPr lang="en-US" dirty="0"/>
              <a:t> for the ITU Side</a:t>
            </a:r>
          </a:p>
          <a:p>
            <a:pPr lvl="2"/>
            <a:r>
              <a:rPr lang="en-US" dirty="0"/>
              <a:t>Model specified its own set of related Protocols (“OSI Protocol Suite”), </a:t>
            </a:r>
            <a:r>
              <a:rPr lang="en-US" b="1" i="1" u="sng" dirty="0">
                <a:solidFill>
                  <a:srgbClr val="EC6A92"/>
                </a:solidFill>
              </a:rPr>
              <a:t>but its Implementation did not “catch on”</a:t>
            </a:r>
          </a:p>
          <a:p>
            <a:r>
              <a:rPr lang="en-US" sz="41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TCP/IP </a:t>
            </a:r>
            <a:r>
              <a:rPr lang="en-US" sz="4100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Did “Catch On”</a:t>
            </a:r>
          </a:p>
          <a:p>
            <a:pPr lvl="1"/>
            <a:r>
              <a:rPr lang="en-US" sz="3700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Became the “Basis” of the Internet</a:t>
            </a:r>
          </a:p>
          <a:p>
            <a:pPr lvl="1"/>
            <a:r>
              <a:rPr lang="en-US" sz="3300" dirty="0"/>
              <a:t>REFERENCE: </a:t>
            </a:r>
            <a:r>
              <a:rPr lang="en-US" sz="3300" dirty="0">
                <a:hlinkClick r:id="rId2"/>
              </a:rPr>
              <a:t>http://www.tcpipguide.com/free/t_HistoryoftheOSIReferenceModel.htm</a:t>
            </a:r>
            <a:r>
              <a:rPr lang="en-US" sz="33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15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304800" y="990600"/>
            <a:ext cx="8610600" cy="5486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Lower Layers (“</a:t>
            </a:r>
            <a:r>
              <a:rPr lang="en-US" b="1" i="1" u="sng" dirty="0">
                <a:solidFill>
                  <a:srgbClr val="00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Bottom Half</a:t>
            </a:r>
            <a:r>
              <a:rPr lang="en-US" dirty="0"/>
              <a:t>”):</a:t>
            </a:r>
          </a:p>
          <a:p>
            <a:pPr lvl="1"/>
            <a:r>
              <a:rPr lang="en-US" dirty="0"/>
              <a:t>1 –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</a:t>
            </a:r>
          </a:p>
          <a:p>
            <a:pPr lvl="1"/>
            <a:r>
              <a:rPr lang="en-US" dirty="0"/>
              <a:t>2 –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Link</a:t>
            </a:r>
          </a:p>
          <a:p>
            <a:pPr lvl="1"/>
            <a:r>
              <a:rPr lang="en-US" dirty="0"/>
              <a:t>3 -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</a:t>
            </a:r>
          </a:p>
          <a:p>
            <a:pPr lvl="1"/>
            <a:r>
              <a:rPr lang="en-US" dirty="0"/>
              <a:t>4 –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</a:t>
            </a:r>
          </a:p>
          <a:p>
            <a:pPr lvl="2"/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FYI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VPNs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fully encrypt the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u="sng" dirty="0">
                <a:solidFill>
                  <a:srgbClr val="00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Lower Half</a:t>
            </a:r>
          </a:p>
          <a:p>
            <a:r>
              <a:rPr lang="en-US" dirty="0"/>
              <a:t>Upper Layers (“</a:t>
            </a:r>
            <a:r>
              <a:rPr lang="en-US" b="1" i="1" u="sng" dirty="0">
                <a:solidFill>
                  <a:srgbClr val="00FFCC"/>
                </a:solidFill>
              </a:rPr>
              <a:t>Top Half</a:t>
            </a:r>
            <a:r>
              <a:rPr lang="en-US" dirty="0"/>
              <a:t>”):</a:t>
            </a:r>
          </a:p>
          <a:p>
            <a:pPr lvl="1"/>
            <a:r>
              <a:rPr lang="en-US" dirty="0"/>
              <a:t>5 -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Session</a:t>
            </a:r>
          </a:p>
          <a:p>
            <a:pPr lvl="1"/>
            <a:r>
              <a:rPr lang="en-US" dirty="0"/>
              <a:t>6 -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Presentation</a:t>
            </a:r>
          </a:p>
          <a:p>
            <a:pPr lvl="1"/>
            <a:r>
              <a:rPr lang="en-US" dirty="0"/>
              <a:t>7 –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Interface</a:t>
            </a:r>
          </a:p>
          <a:p>
            <a:pPr lvl="2"/>
            <a:r>
              <a:rPr lang="en-US" dirty="0"/>
              <a:t>REFERENCE: </a:t>
            </a:r>
            <a:r>
              <a:rPr lang="en-US" dirty="0">
                <a:hlinkClick r:id="rId2"/>
              </a:rPr>
              <a:t>http://www.tcpipguide.com/free/t_OSIReferenceModelLayerSummary.htm</a:t>
            </a:r>
            <a:endParaRPr lang="en-US" dirty="0"/>
          </a:p>
          <a:p>
            <a:pPr lvl="3"/>
            <a:r>
              <a:rPr lang="en-US" b="1" i="1" u="sng" dirty="0">
                <a:solidFill>
                  <a:srgbClr val="FFC000"/>
                </a:solidFill>
              </a:rPr>
              <a:t>MOST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0000"/>
                </a:solidFill>
              </a:rPr>
              <a:t>Encryption</a:t>
            </a:r>
            <a:r>
              <a:rPr lang="en-US" dirty="0"/>
              <a:t> is in the </a:t>
            </a:r>
            <a:r>
              <a:rPr lang="en-US" b="1" i="1" u="sng" dirty="0">
                <a:solidFill>
                  <a:srgbClr val="00FFCC"/>
                </a:solidFill>
              </a:rPr>
              <a:t>Top Half 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3EA2948F-7619-4C53-9F10-F157287F26AF}"/>
              </a:ext>
            </a:extLst>
          </p:cNvPr>
          <p:cNvSpPr/>
          <p:nvPr/>
        </p:nvSpPr>
        <p:spPr>
          <a:xfrm>
            <a:off x="4191000" y="4267200"/>
            <a:ext cx="2438400" cy="99060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DF7C7D-BFBD-473C-8611-69BD06E316B3}"/>
              </a:ext>
            </a:extLst>
          </p:cNvPr>
          <p:cNvSpPr txBox="1"/>
          <p:nvPr/>
        </p:nvSpPr>
        <p:spPr>
          <a:xfrm>
            <a:off x="6691643" y="4334470"/>
            <a:ext cx="17043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Consolidated into </a:t>
            </a:r>
          </a:p>
          <a:p>
            <a:r>
              <a:rPr lang="en-US" dirty="0"/>
              <a:t>ONE Layer by </a:t>
            </a:r>
          </a:p>
          <a:p>
            <a:r>
              <a:rPr lang="en-US" dirty="0"/>
              <a:t>DOD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E9FC2D15-6A99-42CA-9199-8836B40DAE1A}"/>
              </a:ext>
            </a:extLst>
          </p:cNvPr>
          <p:cNvSpPr/>
          <p:nvPr/>
        </p:nvSpPr>
        <p:spPr>
          <a:xfrm>
            <a:off x="3138157" y="1571030"/>
            <a:ext cx="2438400" cy="63877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E976D2-0EA1-4434-AF12-82E5AF737347}"/>
              </a:ext>
            </a:extLst>
          </p:cNvPr>
          <p:cNvSpPr txBox="1"/>
          <p:nvPr/>
        </p:nvSpPr>
        <p:spPr>
          <a:xfrm>
            <a:off x="5638800" y="1447800"/>
            <a:ext cx="17043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Consolidated into </a:t>
            </a:r>
          </a:p>
          <a:p>
            <a:r>
              <a:rPr lang="en-US" dirty="0"/>
              <a:t>ONE Layer by </a:t>
            </a:r>
          </a:p>
          <a:p>
            <a:r>
              <a:rPr lang="en-US" dirty="0"/>
              <a:t>DOD</a:t>
            </a:r>
          </a:p>
        </p:txBody>
      </p:sp>
    </p:spTree>
    <p:extLst>
      <p:ext uri="{BB962C8B-B14F-4D97-AF65-F5344CB8AC3E}">
        <p14:creationId xmlns:p14="http://schemas.microsoft.com/office/powerpoint/2010/main" val="344027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B0F0"/>
                </a:solidFill>
              </a:rPr>
              <a:t>Physical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Encoding</a:t>
            </a:r>
            <a:r>
              <a:rPr lang="en-US" dirty="0"/>
              <a:t> &amp; </a:t>
            </a:r>
            <a:r>
              <a:rPr lang="en-US" b="1" i="1" u="sng" dirty="0">
                <a:solidFill>
                  <a:srgbClr val="F5B1C4"/>
                </a:solidFill>
              </a:rPr>
              <a:t>Signaling</a:t>
            </a:r>
          </a:p>
          <a:p>
            <a:pPr lvl="2"/>
            <a:r>
              <a:rPr lang="en-US" dirty="0"/>
              <a:t>“</a:t>
            </a:r>
            <a:r>
              <a:rPr lang="en-US" b="1" i="1" u="sng" dirty="0">
                <a:solidFill>
                  <a:srgbClr val="FFC000"/>
                </a:solidFill>
              </a:rPr>
              <a:t>Serializing</a:t>
            </a:r>
            <a:r>
              <a:rPr lang="en-US" dirty="0"/>
              <a:t>” Parallel (inside of computer) into Serial (on Media)</a:t>
            </a:r>
          </a:p>
          <a:p>
            <a:pPr lvl="2"/>
            <a:r>
              <a:rPr lang="en-US" dirty="0"/>
              <a:t>Physical </a:t>
            </a:r>
            <a:r>
              <a:rPr lang="en-US" b="1" i="1" u="sng" dirty="0">
                <a:solidFill>
                  <a:srgbClr val="F5B1C4"/>
                </a:solidFill>
              </a:rPr>
              <a:t>Data Transmission</a:t>
            </a:r>
          </a:p>
          <a:p>
            <a:pPr lvl="2"/>
            <a:r>
              <a:rPr lang="en-US" dirty="0"/>
              <a:t>OUTPUT called “</a:t>
            </a:r>
            <a:r>
              <a:rPr lang="en-US" b="1" i="1" u="sng" dirty="0">
                <a:solidFill>
                  <a:srgbClr val="0070C0"/>
                </a:solidFill>
              </a:rPr>
              <a:t>Frames</a:t>
            </a:r>
            <a:r>
              <a:rPr lang="en-US" dirty="0"/>
              <a:t>”:</a:t>
            </a:r>
          </a:p>
          <a:p>
            <a:pPr lvl="3"/>
            <a:r>
              <a:rPr lang="en-US" dirty="0"/>
              <a:t>Contains ALL contributions (layer-protocols) from all participating higher Layers</a:t>
            </a:r>
          </a:p>
        </p:txBody>
      </p:sp>
    </p:spTree>
    <p:extLst>
      <p:ext uri="{BB962C8B-B14F-4D97-AF65-F5344CB8AC3E}">
        <p14:creationId xmlns:p14="http://schemas.microsoft.com/office/powerpoint/2010/main" val="2671990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i="1" u="sng" dirty="0">
                <a:solidFill>
                  <a:srgbClr val="00B0F0"/>
                </a:solidFill>
              </a:rPr>
              <a:t>Data Link</a:t>
            </a:r>
          </a:p>
          <a:p>
            <a:pPr lvl="1"/>
            <a:r>
              <a:rPr lang="en-US" dirty="0"/>
              <a:t>Establishes </a:t>
            </a:r>
            <a:r>
              <a:rPr lang="en-US" b="1" i="1" u="sng" dirty="0">
                <a:solidFill>
                  <a:srgbClr val="FFFF00"/>
                </a:solidFill>
              </a:rPr>
              <a:t>Coarse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FF99"/>
                </a:solidFill>
              </a:rPr>
              <a:t>Framing Control </a:t>
            </a:r>
            <a:r>
              <a:rPr lang="en-US" dirty="0"/>
              <a:t>for Physical Layer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HW Addressing</a:t>
            </a:r>
          </a:p>
          <a:p>
            <a:pPr lvl="1"/>
            <a:r>
              <a:rPr lang="en-US" dirty="0"/>
              <a:t>2 Sub-Layers:</a:t>
            </a:r>
          </a:p>
          <a:p>
            <a:pPr lvl="2"/>
            <a:r>
              <a:rPr lang="en-US" dirty="0"/>
              <a:t>Logical Link Control (</a:t>
            </a:r>
            <a:r>
              <a:rPr lang="en-US" b="1" dirty="0">
                <a:solidFill>
                  <a:srgbClr val="FFC000"/>
                </a:solidFill>
              </a:rPr>
              <a:t>LLC</a:t>
            </a:r>
            <a:r>
              <a:rPr lang="en-US" dirty="0"/>
              <a:t>) on top:</a:t>
            </a:r>
          </a:p>
          <a:p>
            <a:pPr lvl="3"/>
            <a:r>
              <a:rPr lang="en-US" dirty="0"/>
              <a:t>Data </a:t>
            </a:r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Framing </a:t>
            </a:r>
            <a:r>
              <a:rPr lang="en-US" b="1" i="1" u="sng" dirty="0">
                <a:solidFill>
                  <a:srgbClr val="F5B1C4"/>
                </a:solidFill>
              </a:rPr>
              <a:t>Construction</a:t>
            </a:r>
            <a:r>
              <a:rPr lang="en-US" dirty="0"/>
              <a:t> / </a:t>
            </a:r>
            <a:r>
              <a:rPr lang="en-US" b="1" i="1" u="sng" dirty="0">
                <a:solidFill>
                  <a:srgbClr val="F5B1C4"/>
                </a:solidFill>
              </a:rPr>
              <a:t>Regulation</a:t>
            </a:r>
          </a:p>
          <a:p>
            <a:pPr lvl="4"/>
            <a:r>
              <a:rPr lang="en-US" dirty="0"/>
              <a:t>IEEE </a:t>
            </a:r>
            <a:r>
              <a:rPr 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802</a:t>
            </a:r>
          </a:p>
          <a:p>
            <a:pPr lvl="3"/>
            <a:r>
              <a:rPr lang="en-US" b="1" i="1" u="sng" dirty="0">
                <a:solidFill>
                  <a:srgbClr val="0070C0"/>
                </a:solidFill>
              </a:rPr>
              <a:t>LAN</a:t>
            </a:r>
            <a:r>
              <a:rPr lang="en-US" dirty="0"/>
              <a:t> versus </a:t>
            </a:r>
            <a:r>
              <a:rPr lang="en-US" b="1" i="1" u="sng" dirty="0">
                <a:solidFill>
                  <a:srgbClr val="0070C0"/>
                </a:solidFill>
              </a:rPr>
              <a:t>WAN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C000"/>
                </a:solidFill>
              </a:rPr>
              <a:t>Protocol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FF00"/>
                </a:solidFill>
              </a:rPr>
              <a:t>Definitions</a:t>
            </a:r>
          </a:p>
          <a:p>
            <a:pPr lvl="2"/>
            <a:r>
              <a:rPr lang="en-US" dirty="0"/>
              <a:t>Media Access Control (</a:t>
            </a:r>
            <a:r>
              <a:rPr lang="en-US" b="1" dirty="0">
                <a:solidFill>
                  <a:srgbClr val="FFC000"/>
                </a:solidFill>
              </a:rPr>
              <a:t>MAC</a:t>
            </a:r>
            <a:r>
              <a:rPr lang="en-US" dirty="0"/>
              <a:t>) on bottom:</a:t>
            </a:r>
          </a:p>
          <a:p>
            <a:pPr lvl="3"/>
            <a:r>
              <a:rPr lang="en-US" b="1" i="1" u="sng" dirty="0">
                <a:solidFill>
                  <a:srgbClr val="FFC000"/>
                </a:solidFill>
              </a:rPr>
              <a:t>Communication Rules </a:t>
            </a:r>
            <a:r>
              <a:rPr lang="en-US" dirty="0"/>
              <a:t>for specific Media Types</a:t>
            </a:r>
          </a:p>
          <a:p>
            <a:pPr lvl="3"/>
            <a:r>
              <a:rPr lang="en-US" dirty="0"/>
              <a:t>HW / MAC address of the NIC is defined here</a:t>
            </a:r>
          </a:p>
        </p:txBody>
      </p:sp>
    </p:spTree>
    <p:extLst>
      <p:ext uri="{BB962C8B-B14F-4D97-AF65-F5344CB8AC3E}">
        <p14:creationId xmlns:p14="http://schemas.microsoft.com/office/powerpoint/2010/main" val="2049550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304800" y="838200"/>
            <a:ext cx="8610600" cy="563880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LLC’s Project 802 “LAN/MAN Standards” Summary:</a:t>
            </a:r>
          </a:p>
          <a:p>
            <a:pPr lvl="1"/>
            <a:r>
              <a:rPr lang="en-US" b="1" dirty="0">
                <a:solidFill>
                  <a:srgbClr val="FFC000"/>
                </a:solidFill>
              </a:rPr>
              <a:t>802.1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Higher-Layer LAN Protocols Working Group</a:t>
            </a:r>
          </a:p>
          <a:p>
            <a:pPr lvl="3"/>
            <a:r>
              <a:rPr lang="en-US" dirty="0"/>
              <a:t>LAN/MAN Architecture</a:t>
            </a:r>
          </a:p>
          <a:p>
            <a:pPr lvl="3"/>
            <a:r>
              <a:rPr lang="en-US" dirty="0"/>
              <a:t>WAN Architecture</a:t>
            </a:r>
          </a:p>
          <a:p>
            <a:pPr lvl="3"/>
            <a:r>
              <a:rPr lang="en-US" dirty="0"/>
              <a:t>Security</a:t>
            </a:r>
          </a:p>
          <a:p>
            <a:pPr lvl="2"/>
            <a:r>
              <a:rPr lang="en-US" dirty="0"/>
              <a:t>Bridging Standards</a:t>
            </a:r>
          </a:p>
          <a:p>
            <a:pPr lvl="2"/>
            <a:r>
              <a:rPr lang="en-US" b="1" dirty="0">
                <a:solidFill>
                  <a:srgbClr val="FFC000"/>
                </a:solidFill>
              </a:rPr>
              <a:t>802.Q</a:t>
            </a:r>
            <a:r>
              <a:rPr lang="en-US" dirty="0"/>
              <a:t>  </a:t>
            </a:r>
          </a:p>
          <a:p>
            <a:pPr lvl="3"/>
            <a:r>
              <a:rPr lang="en-US" dirty="0"/>
              <a:t>Trunk-</a:t>
            </a:r>
            <a:r>
              <a:rPr lang="en-US" dirty="0" err="1"/>
              <a:t>ing</a:t>
            </a:r>
            <a:r>
              <a:rPr lang="en-US" dirty="0"/>
              <a:t> for VLANs</a:t>
            </a:r>
          </a:p>
          <a:p>
            <a:pPr lvl="2"/>
            <a:r>
              <a:rPr lang="en-US" b="1" dirty="0">
                <a:solidFill>
                  <a:srgbClr val="FFC000"/>
                </a:solidFill>
              </a:rPr>
              <a:t>802.1P</a:t>
            </a:r>
          </a:p>
          <a:p>
            <a:pPr lvl="3"/>
            <a:r>
              <a:rPr lang="en-US" dirty="0"/>
              <a:t>QoS Traffic Prioritization</a:t>
            </a:r>
          </a:p>
          <a:p>
            <a:pPr lvl="2"/>
            <a:r>
              <a:rPr lang="en-US" b="1" dirty="0">
                <a:solidFill>
                  <a:srgbClr val="FFC000"/>
                </a:solidFill>
              </a:rPr>
              <a:t>802.1X</a:t>
            </a:r>
          </a:p>
          <a:p>
            <a:pPr lvl="3"/>
            <a:r>
              <a:rPr lang="en-US" sz="2200" b="1" dirty="0">
                <a:solidFill>
                  <a:srgbClr val="FFC000"/>
                </a:solidFill>
              </a:rPr>
              <a:t>Port-Based Network Access Control </a:t>
            </a:r>
          </a:p>
          <a:p>
            <a:pPr lvl="4"/>
            <a:r>
              <a:rPr lang="en-US" sz="1900" b="1" dirty="0">
                <a:solidFill>
                  <a:srgbClr val="FFC000"/>
                </a:solidFill>
              </a:rPr>
              <a:t>Standard for Authenticating devices at the Data Link Level</a:t>
            </a:r>
          </a:p>
          <a:p>
            <a:pPr lvl="4"/>
            <a:r>
              <a:rPr lang="en-US" sz="1900" b="1" dirty="0">
                <a:solidFill>
                  <a:srgbClr val="FFC000"/>
                </a:solidFill>
              </a:rPr>
              <a:t>Devices must first Authenticate using the Extensible Authentication Protocol </a:t>
            </a:r>
            <a:r>
              <a:rPr lang="en-US" sz="2500" b="1" i="1" u="sng" dirty="0">
                <a:solidFill>
                  <a:srgbClr val="0070C0"/>
                </a:solidFill>
              </a:rPr>
              <a:t>EAP</a:t>
            </a:r>
            <a:endParaRPr lang="en-US" sz="1900" b="1" i="1" u="sng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802.2 = LLC = DISBANDED</a:t>
            </a:r>
          </a:p>
          <a:p>
            <a:pPr lvl="1"/>
            <a:r>
              <a:rPr 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802.3</a:t>
            </a:r>
          </a:p>
          <a:p>
            <a:pPr lvl="2"/>
            <a:r>
              <a:rPr lang="en-US" dirty="0"/>
              <a:t>Ethernet Working Group</a:t>
            </a:r>
          </a:p>
          <a:p>
            <a:pPr lvl="1"/>
            <a:r>
              <a:rPr lang="en-US" dirty="0"/>
              <a:t>802.4 = Token Bus = DISBANDED </a:t>
            </a:r>
          </a:p>
          <a:p>
            <a:pPr lvl="1"/>
            <a:r>
              <a:rPr lang="en-US" dirty="0"/>
              <a:t>802.5 = Token Ring = DISBANDED</a:t>
            </a:r>
          </a:p>
          <a:p>
            <a:pPr lvl="1"/>
            <a:r>
              <a:rPr lang="en-US" dirty="0"/>
              <a:t>802.6 = MANs = DISBANDED</a:t>
            </a:r>
          </a:p>
        </p:txBody>
      </p:sp>
    </p:spTree>
    <p:extLst>
      <p:ext uri="{BB962C8B-B14F-4D97-AF65-F5344CB8AC3E}">
        <p14:creationId xmlns:p14="http://schemas.microsoft.com/office/powerpoint/2010/main" val="1045618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55000" lnSpcReduction="20000"/>
          </a:bodyPr>
          <a:lstStyle/>
          <a:p>
            <a:pPr lvl="1"/>
            <a:r>
              <a:rPr lang="en-US" dirty="0"/>
              <a:t>802.7 = Broadband LAN using Coax = DISBANDED</a:t>
            </a:r>
          </a:p>
          <a:p>
            <a:pPr lvl="1"/>
            <a:r>
              <a:rPr lang="en-US" dirty="0"/>
              <a:t>802.8 = Fiber Optic = DISBANDED</a:t>
            </a:r>
          </a:p>
          <a:p>
            <a:pPr lvl="1"/>
            <a:r>
              <a:rPr lang="en-US" dirty="0"/>
              <a:t>802.9 = Integrated Services LAN (ISLAN or isoETHERNET) = DISBANDED</a:t>
            </a:r>
          </a:p>
          <a:p>
            <a:pPr lvl="1"/>
            <a:r>
              <a:rPr lang="en-US" dirty="0"/>
              <a:t>802.10 = Interoperable LAN Security = DISBANDED</a:t>
            </a:r>
          </a:p>
          <a:p>
            <a:pPr lvl="1"/>
            <a:r>
              <a:rPr lang="en-US" b="1" dirty="0">
                <a:solidFill>
                  <a:srgbClr val="FFC000"/>
                </a:solidFill>
              </a:rPr>
              <a:t>802.11</a:t>
            </a:r>
          </a:p>
          <a:p>
            <a:pPr lvl="2"/>
            <a:r>
              <a:rPr lang="en-US" dirty="0"/>
              <a:t>Wireless LAN (WLAN) &amp; Mesh (Wi-Fi)</a:t>
            </a:r>
          </a:p>
          <a:p>
            <a:pPr lvl="1"/>
            <a:r>
              <a:rPr lang="en-US" dirty="0"/>
              <a:t>802.12 = 100BaseVG = DISBANDED</a:t>
            </a:r>
          </a:p>
          <a:p>
            <a:pPr lvl="1"/>
            <a:r>
              <a:rPr lang="en-US" dirty="0"/>
              <a:t>802.13 = Unused</a:t>
            </a:r>
          </a:p>
          <a:p>
            <a:pPr lvl="1"/>
            <a:r>
              <a:rPr lang="en-US" dirty="0"/>
              <a:t>802.14 = Cable Modems = DISBANDED</a:t>
            </a:r>
          </a:p>
          <a:p>
            <a:pPr lvl="1"/>
            <a:r>
              <a:rPr lang="en-US" dirty="0"/>
              <a:t>802.15 = Wireless PAN = DISBANDED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802.15.1</a:t>
            </a:r>
          </a:p>
          <a:p>
            <a:pPr lvl="2"/>
            <a:r>
              <a:rPr lang="en-US" dirty="0"/>
              <a:t>Bluetooth</a:t>
            </a:r>
          </a:p>
          <a:p>
            <a:pPr lvl="3"/>
            <a:r>
              <a:rPr lang="en-US" dirty="0"/>
              <a:t>(more at Reference Link)</a:t>
            </a:r>
          </a:p>
          <a:p>
            <a:pPr lvl="4"/>
            <a:r>
              <a:rPr lang="en-US" dirty="0"/>
              <a:t>REFERENCE: </a:t>
            </a:r>
            <a:r>
              <a:rPr lang="en-US" dirty="0">
                <a:hlinkClick r:id="rId2"/>
              </a:rPr>
              <a:t>https://en.wikipedia.org/wiki/IEEE_802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802.16 = Wireless WAN </a:t>
            </a:r>
          </a:p>
        </p:txBody>
      </p:sp>
    </p:spTree>
    <p:extLst>
      <p:ext uri="{BB962C8B-B14F-4D97-AF65-F5344CB8AC3E}">
        <p14:creationId xmlns:p14="http://schemas.microsoft.com/office/powerpoint/2010/main" val="468798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B0F0"/>
                </a:solidFill>
              </a:rPr>
              <a:t>Network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Logical Addressing </a:t>
            </a:r>
            <a:r>
              <a:rPr lang="en-US" dirty="0"/>
              <a:t>(SW Address) – “Long Distance Addressing” = IP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Routing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Fragmentation</a:t>
            </a:r>
            <a:r>
              <a:rPr lang="en-US" dirty="0"/>
              <a:t> &amp; </a:t>
            </a:r>
            <a:r>
              <a:rPr lang="en-US" b="1" i="1" u="sng" dirty="0">
                <a:solidFill>
                  <a:srgbClr val="F5B1C4"/>
                </a:solidFill>
              </a:rPr>
              <a:t>Reassembly</a:t>
            </a:r>
          </a:p>
          <a:p>
            <a:pPr lvl="2"/>
            <a:r>
              <a:rPr lang="en-US" dirty="0"/>
              <a:t>According to rules of Layer 2 Link </a:t>
            </a:r>
            <a:r>
              <a:rPr lang="en-US" b="1" i="1" u="sng" dirty="0">
                <a:solidFill>
                  <a:srgbClr val="0070C0"/>
                </a:solidFill>
              </a:rPr>
              <a:t>MTUs</a:t>
            </a:r>
          </a:p>
          <a:p>
            <a:pPr lvl="1"/>
            <a:r>
              <a:rPr lang="en-US" dirty="0"/>
              <a:t>Routers Devices work at this Layer</a:t>
            </a:r>
          </a:p>
        </p:txBody>
      </p:sp>
    </p:spTree>
    <p:extLst>
      <p:ext uri="{BB962C8B-B14F-4D97-AF65-F5344CB8AC3E}">
        <p14:creationId xmlns:p14="http://schemas.microsoft.com/office/powerpoint/2010/main" val="2401398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B0F0"/>
                </a:solidFill>
              </a:rPr>
              <a:t>Transport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Connections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Comm </a:t>
            </a:r>
            <a:r>
              <a:rPr lang="en-US" b="1" i="1" u="sng" dirty="0">
                <a:solidFill>
                  <a:srgbClr val="F5B1C4"/>
                </a:solidFill>
              </a:rPr>
              <a:t>Handshake</a:t>
            </a:r>
            <a:r>
              <a:rPr lang="en-US" dirty="0"/>
              <a:t> called – </a:t>
            </a:r>
            <a:r>
              <a:rPr lang="en-US" b="1" i="1" u="sng" dirty="0">
                <a:solidFill>
                  <a:srgbClr val="0070C0"/>
                </a:solidFill>
              </a:rPr>
              <a:t>TCP 3-way Handshake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Segmentation</a:t>
            </a:r>
            <a:r>
              <a:rPr lang="en-US" dirty="0"/>
              <a:t> &amp; </a:t>
            </a:r>
            <a:r>
              <a:rPr lang="en-US" b="1" i="1" u="sng" dirty="0">
                <a:solidFill>
                  <a:srgbClr val="F5B1C4"/>
                </a:solidFill>
              </a:rPr>
              <a:t>Reassembly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Acknowledgements</a:t>
            </a:r>
            <a:r>
              <a:rPr lang="en-US" dirty="0"/>
              <a:t> &amp; </a:t>
            </a:r>
            <a:r>
              <a:rPr lang="en-US" b="1" i="1" u="sng" dirty="0">
                <a:solidFill>
                  <a:srgbClr val="F5B1C4"/>
                </a:solidFill>
              </a:rPr>
              <a:t>Retransmission</a:t>
            </a:r>
          </a:p>
          <a:p>
            <a:pPr lvl="2"/>
            <a:r>
              <a:rPr lang="en-US" dirty="0"/>
              <a:t>Guaranteed Delivery of data</a:t>
            </a:r>
          </a:p>
          <a:p>
            <a:pPr lvl="2"/>
            <a:r>
              <a:rPr lang="en-US" dirty="0"/>
              <a:t>“Counting Numbers” for each SEGMENT (L4 buffer) Sent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Flow Control </a:t>
            </a:r>
          </a:p>
        </p:txBody>
      </p:sp>
    </p:spTree>
    <p:extLst>
      <p:ext uri="{BB962C8B-B14F-4D97-AF65-F5344CB8AC3E}">
        <p14:creationId xmlns:p14="http://schemas.microsoft.com/office/powerpoint/2010/main" val="143220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i="1" u="sng" dirty="0">
                <a:solidFill>
                  <a:srgbClr val="00B0F0"/>
                </a:solidFill>
              </a:rPr>
              <a:t>Session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Definition:</a:t>
            </a:r>
          </a:p>
          <a:p>
            <a:pPr lvl="2"/>
            <a:r>
              <a:rPr lang="en-US" dirty="0"/>
              <a:t>A </a:t>
            </a:r>
            <a:r>
              <a:rPr lang="en-US" b="1" i="1" u="sng" dirty="0">
                <a:solidFill>
                  <a:srgbClr val="FFC000"/>
                </a:solidFill>
              </a:rPr>
              <a:t>Semi-Permanent</a:t>
            </a:r>
            <a:r>
              <a:rPr lang="en-US" dirty="0"/>
              <a:t>…</a:t>
            </a:r>
          </a:p>
          <a:p>
            <a:pPr lvl="2"/>
            <a:r>
              <a:rPr lang="en-US" b="1" i="1" u="sng" dirty="0">
                <a:solidFill>
                  <a:srgbClr val="FFC000"/>
                </a:solidFill>
              </a:rPr>
              <a:t>Interactive</a:t>
            </a:r>
            <a:r>
              <a:rPr lang="en-US" dirty="0"/>
              <a:t>…</a:t>
            </a:r>
          </a:p>
          <a:p>
            <a:pPr lvl="2"/>
            <a:r>
              <a:rPr lang="en-US" dirty="0"/>
              <a:t>Information Interchange, also known as a:</a:t>
            </a:r>
          </a:p>
          <a:p>
            <a:pPr lvl="3"/>
            <a:r>
              <a:rPr lang="en-US" b="1" i="1" u="sng" dirty="0">
                <a:solidFill>
                  <a:srgbClr val="F5B1C4"/>
                </a:solidFill>
              </a:rPr>
              <a:t>Dialogue</a:t>
            </a:r>
          </a:p>
          <a:p>
            <a:pPr lvl="3"/>
            <a:r>
              <a:rPr lang="en-US" b="1" i="1" u="sng" dirty="0">
                <a:solidFill>
                  <a:srgbClr val="F5B1C4"/>
                </a:solidFill>
              </a:rPr>
              <a:t>Conversation</a:t>
            </a:r>
          </a:p>
          <a:p>
            <a:pPr lvl="3"/>
            <a:r>
              <a:rPr lang="en-US" b="1" i="1" u="sng" dirty="0">
                <a:solidFill>
                  <a:srgbClr val="F5B1C4"/>
                </a:solidFill>
              </a:rPr>
              <a:t>Meeting</a:t>
            </a:r>
          </a:p>
          <a:p>
            <a:pPr lvl="2"/>
            <a:r>
              <a:rPr lang="en-US" dirty="0"/>
              <a:t>… between:</a:t>
            </a:r>
          </a:p>
          <a:p>
            <a:pPr lvl="3"/>
            <a:r>
              <a:rPr lang="en-US" dirty="0"/>
              <a:t>two or more communicating devices</a:t>
            </a:r>
          </a:p>
          <a:p>
            <a:pPr lvl="3"/>
            <a:r>
              <a:rPr lang="en-US" dirty="0"/>
              <a:t>between a computer and user 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</a:rPr>
              <a:t>Session</a:t>
            </a:r>
            <a:r>
              <a:rPr lang="en-US" b="1" i="1" u="sng" dirty="0">
                <a:solidFill>
                  <a:srgbClr val="FFC000"/>
                </a:solidFill>
              </a:rPr>
              <a:t> </a:t>
            </a:r>
            <a:r>
              <a:rPr lang="en-US" b="1" i="1" u="sng" dirty="0">
                <a:solidFill>
                  <a:srgbClr val="F5B1C4"/>
                </a:solidFill>
              </a:rPr>
              <a:t>Establishment</a:t>
            </a:r>
            <a:r>
              <a:rPr lang="en-US" dirty="0"/>
              <a:t>, </a:t>
            </a:r>
            <a:r>
              <a:rPr lang="en-US" b="1" i="1" u="sng" dirty="0">
                <a:solidFill>
                  <a:srgbClr val="F5B1C4"/>
                </a:solidFill>
              </a:rPr>
              <a:t>Management</a:t>
            </a:r>
            <a:r>
              <a:rPr lang="en-US" dirty="0"/>
              <a:t> and </a:t>
            </a:r>
            <a:r>
              <a:rPr lang="en-US" b="1" i="1" u="sng" dirty="0">
                <a:solidFill>
                  <a:srgbClr val="F5B1C4"/>
                </a:solidFill>
              </a:rPr>
              <a:t>Termination</a:t>
            </a:r>
          </a:p>
        </p:txBody>
      </p:sp>
    </p:spTree>
    <p:extLst>
      <p:ext uri="{BB962C8B-B14F-4D97-AF65-F5344CB8AC3E}">
        <p14:creationId xmlns:p14="http://schemas.microsoft.com/office/powerpoint/2010/main" val="1391450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B0F0"/>
                </a:solidFill>
              </a:rPr>
              <a:t>Presentation</a:t>
            </a:r>
            <a:r>
              <a:rPr lang="en-US" dirty="0"/>
              <a:t>:</a:t>
            </a:r>
          </a:p>
          <a:p>
            <a:pPr lvl="1"/>
            <a:r>
              <a:rPr lang="en-US" b="1" i="1" u="sng" dirty="0">
                <a:solidFill>
                  <a:srgbClr val="FFFF99"/>
                </a:solidFill>
              </a:rPr>
              <a:t>Data </a:t>
            </a:r>
            <a:r>
              <a:rPr lang="en-US" b="1" i="1" u="sng" dirty="0">
                <a:solidFill>
                  <a:srgbClr val="F5B1C4"/>
                </a:solidFill>
              </a:rPr>
              <a:t>Translation</a:t>
            </a:r>
            <a:r>
              <a:rPr lang="en-US" dirty="0"/>
              <a:t>, as needed</a:t>
            </a:r>
          </a:p>
          <a:p>
            <a:pPr lvl="2"/>
            <a:r>
              <a:rPr lang="en-US" b="1" i="1" u="sng" dirty="0">
                <a:solidFill>
                  <a:srgbClr val="F5B1C4"/>
                </a:solidFill>
              </a:rPr>
              <a:t>Formatting</a:t>
            </a:r>
            <a:r>
              <a:rPr lang="en-US" dirty="0"/>
              <a:t> data for proper Presentation</a:t>
            </a:r>
          </a:p>
          <a:p>
            <a:pPr lvl="1"/>
            <a:r>
              <a:rPr lang="en-US" dirty="0"/>
              <a:t>[</a:t>
            </a:r>
            <a:r>
              <a:rPr lang="en-US" b="1" i="1" u="sng" dirty="0">
                <a:solidFill>
                  <a:srgbClr val="FFFF99"/>
                </a:solidFill>
              </a:rPr>
              <a:t>Data </a:t>
            </a:r>
            <a:r>
              <a:rPr lang="en-US" b="1" i="1" u="sng" dirty="0">
                <a:solidFill>
                  <a:srgbClr val="F5B1C4"/>
                </a:solidFill>
              </a:rPr>
              <a:t>Compression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[</a:t>
            </a:r>
            <a:r>
              <a:rPr lang="en-US" b="1" i="1" u="sng" dirty="0">
                <a:solidFill>
                  <a:srgbClr val="FFFF99"/>
                </a:solidFill>
              </a:rPr>
              <a:t>Data </a:t>
            </a:r>
            <a:r>
              <a:rPr lang="en-US" b="1" i="1" u="sng" dirty="0">
                <a:solidFill>
                  <a:srgbClr val="F5B1C4"/>
                </a:solidFill>
              </a:rPr>
              <a:t>Encryption</a:t>
            </a:r>
            <a:r>
              <a:rPr lang="en-US" dirty="0"/>
              <a:t>] = </a:t>
            </a:r>
            <a:r>
              <a:rPr lang="en-US" b="1" i="1" u="sng" dirty="0">
                <a:solidFill>
                  <a:srgbClr val="C00000"/>
                </a:solidFill>
              </a:rPr>
              <a:t>SSL</a:t>
            </a:r>
            <a:r>
              <a:rPr lang="en-US" dirty="0"/>
              <a:t> =&gt; </a:t>
            </a:r>
            <a:r>
              <a:rPr lang="en-US" b="1" i="1" u="sng" dirty="0">
                <a:solidFill>
                  <a:srgbClr val="0070C0"/>
                </a:solidFill>
              </a:rPr>
              <a:t>TLS</a:t>
            </a:r>
          </a:p>
        </p:txBody>
      </p:sp>
    </p:spTree>
    <p:extLst>
      <p:ext uri="{BB962C8B-B14F-4D97-AF65-F5344CB8AC3E}">
        <p14:creationId xmlns:p14="http://schemas.microsoft.com/office/powerpoint/2010/main" val="1201950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Function Summary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B0F0"/>
                </a:solidFill>
              </a:rPr>
              <a:t>Application Interface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(largest number of protocols in this Layer)</a:t>
            </a:r>
          </a:p>
          <a:p>
            <a:pPr lvl="1"/>
            <a:r>
              <a:rPr lang="en-US" dirty="0"/>
              <a:t>Provides “User Application Services” available to any Network</a:t>
            </a:r>
          </a:p>
        </p:txBody>
      </p:sp>
    </p:spTree>
    <p:extLst>
      <p:ext uri="{BB962C8B-B14F-4D97-AF65-F5344CB8AC3E}">
        <p14:creationId xmlns:p14="http://schemas.microsoft.com/office/powerpoint/2010/main" val="2173070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</a:t>
            </a:r>
            <a:r>
              <a:rPr lang="en-US" u="sng" dirty="0"/>
              <a:t>mapping</a:t>
            </a:r>
            <a:r>
              <a:rPr lang="en-US" dirty="0"/>
              <a:t> to TCP/IP (“</a:t>
            </a:r>
            <a:r>
              <a:rPr lang="en-US" dirty="0">
                <a:solidFill>
                  <a:srgbClr val="00B050"/>
                </a:solidFill>
              </a:rPr>
              <a:t>ATIN</a:t>
            </a:r>
            <a:r>
              <a:rPr lang="en-US" dirty="0"/>
              <a:t>” / </a:t>
            </a:r>
            <a:r>
              <a:rPr lang="en-US" u="sng" dirty="0">
                <a:solidFill>
                  <a:srgbClr val="D60093"/>
                </a:solidFill>
              </a:rPr>
              <a:t>DOD</a:t>
            </a:r>
            <a:r>
              <a:rPr lang="en-US" dirty="0"/>
              <a:t>) </a:t>
            </a:r>
            <a:r>
              <a:rPr lang="en-US" dirty="0">
                <a:solidFill>
                  <a:srgbClr val="0070C0"/>
                </a:solidFill>
              </a:rPr>
              <a:t>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u="sng" dirty="0">
                <a:solidFill>
                  <a:srgbClr val="00B050"/>
                </a:solidFill>
              </a:rPr>
              <a:t>Application Interface 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Layer 7</a:t>
            </a:r>
          </a:p>
          <a:p>
            <a:pPr lvl="1"/>
            <a:r>
              <a:rPr lang="en-US" dirty="0"/>
              <a:t>Layer 6</a:t>
            </a:r>
          </a:p>
          <a:p>
            <a:pPr lvl="1"/>
            <a:r>
              <a:rPr lang="en-US" dirty="0"/>
              <a:t>Layer 5</a:t>
            </a:r>
          </a:p>
          <a:p>
            <a:r>
              <a:rPr lang="en-US" b="1" u="sng" dirty="0">
                <a:solidFill>
                  <a:srgbClr val="00B050"/>
                </a:solidFill>
              </a:rPr>
              <a:t>Transport</a:t>
            </a:r>
          </a:p>
          <a:p>
            <a:pPr lvl="1"/>
            <a:r>
              <a:rPr lang="en-US" dirty="0"/>
              <a:t>Layer 4</a:t>
            </a:r>
          </a:p>
          <a:p>
            <a:r>
              <a:rPr lang="en-US" b="1" u="sng" dirty="0">
                <a:solidFill>
                  <a:srgbClr val="00B050"/>
                </a:solidFill>
              </a:rPr>
              <a:t>Internetworking</a:t>
            </a:r>
            <a:r>
              <a:rPr lang="en-US" dirty="0"/>
              <a:t> (Internet)</a:t>
            </a:r>
          </a:p>
          <a:p>
            <a:pPr lvl="1"/>
            <a:r>
              <a:rPr lang="en-US" dirty="0"/>
              <a:t>Layer 3</a:t>
            </a:r>
          </a:p>
          <a:p>
            <a:r>
              <a:rPr lang="en-US" b="1" u="sng" dirty="0">
                <a:solidFill>
                  <a:srgbClr val="00B050"/>
                </a:solidFill>
              </a:rPr>
              <a:t>Network Interface (NIC)</a:t>
            </a:r>
          </a:p>
          <a:p>
            <a:pPr lvl="1"/>
            <a:r>
              <a:rPr lang="en-US" dirty="0"/>
              <a:t>Layer 2</a:t>
            </a:r>
          </a:p>
          <a:p>
            <a:pPr lvl="1"/>
            <a:r>
              <a:rPr lang="en-US" dirty="0"/>
              <a:t>Layer 1</a:t>
            </a:r>
          </a:p>
        </p:txBody>
      </p:sp>
    </p:spTree>
    <p:extLst>
      <p:ext uri="{BB962C8B-B14F-4D97-AF65-F5344CB8AC3E}">
        <p14:creationId xmlns:p14="http://schemas.microsoft.com/office/powerpoint/2010/main" val="3821625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History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TCP/IP protocols 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1969</a:t>
            </a:r>
          </a:p>
          <a:p>
            <a:pPr lvl="2"/>
            <a:r>
              <a:rPr lang="en-US" dirty="0"/>
              <a:t>Initially developed as part of the research network developed by the United States </a:t>
            </a:r>
            <a:r>
              <a:rPr lang="en-US" i="1" dirty="0"/>
              <a:t>Defense Advanced Research Projects Agency</a:t>
            </a:r>
            <a:r>
              <a:rPr lang="en-US" dirty="0"/>
              <a:t> (</a:t>
            </a:r>
            <a:r>
              <a:rPr lang="en-US" b="1" i="1" u="sng" dirty="0">
                <a:solidFill>
                  <a:srgbClr val="FF33CC"/>
                </a:solidFill>
              </a:rPr>
              <a:t>DARPA</a:t>
            </a:r>
            <a:r>
              <a:rPr lang="en-US" dirty="0"/>
              <a:t> or </a:t>
            </a:r>
            <a:r>
              <a:rPr lang="en-US" i="1" dirty="0"/>
              <a:t>ARPA</a:t>
            </a:r>
            <a:r>
              <a:rPr lang="en-US" dirty="0"/>
              <a:t>)  </a:t>
            </a:r>
          </a:p>
          <a:p>
            <a:pPr lvl="2"/>
            <a:r>
              <a:rPr lang="en-US" dirty="0"/>
              <a:t>Became “</a:t>
            </a:r>
            <a:r>
              <a:rPr lang="en-US" b="1" i="1" u="sng" dirty="0" err="1">
                <a:solidFill>
                  <a:srgbClr val="FF33CC"/>
                </a:solidFill>
              </a:rPr>
              <a:t>ARPAnet</a:t>
            </a:r>
            <a:r>
              <a:rPr lang="en-US" dirty="0"/>
              <a:t>”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1973</a:t>
            </a:r>
          </a:p>
          <a:p>
            <a:pPr lvl="2"/>
            <a:r>
              <a:rPr lang="en-US" dirty="0"/>
              <a:t>Development of a full-fledged system of internetworking protocols for the </a:t>
            </a:r>
            <a:r>
              <a:rPr lang="en-US" b="1" i="1" u="sng" dirty="0" err="1">
                <a:solidFill>
                  <a:srgbClr val="FF33CC"/>
                </a:solidFill>
              </a:rPr>
              <a:t>ARPAnet</a:t>
            </a:r>
            <a:r>
              <a:rPr lang="en-US" dirty="0"/>
              <a:t> began</a:t>
            </a:r>
          </a:p>
          <a:p>
            <a:pPr lvl="3"/>
            <a:r>
              <a:rPr lang="en-US" dirty="0"/>
              <a:t>Spring of 73 </a:t>
            </a:r>
          </a:p>
          <a:p>
            <a:pPr lvl="4"/>
            <a:r>
              <a:rPr lang="en-US" dirty="0"/>
              <a:t>Network Control Program (</a:t>
            </a:r>
            <a:r>
              <a:rPr lang="en-US" b="1" i="1" u="sng" dirty="0">
                <a:solidFill>
                  <a:srgbClr val="FF33CC"/>
                </a:solidFill>
              </a:rPr>
              <a:t>NCP</a:t>
            </a:r>
            <a:r>
              <a:rPr lang="en-US" dirty="0"/>
              <a:t>) by Vinton Cerf</a:t>
            </a:r>
          </a:p>
          <a:p>
            <a:pPr lvl="3"/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Summer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1973</a:t>
            </a:r>
            <a:r>
              <a:rPr lang="en-US" dirty="0"/>
              <a:t> Cerf and Vinton started working on a replacement</a:t>
            </a:r>
          </a:p>
          <a:p>
            <a:pPr lvl="2"/>
            <a:r>
              <a:rPr lang="en-US" dirty="0"/>
              <a:t>1 core protocol – </a:t>
            </a:r>
            <a:r>
              <a:rPr lang="en-US" b="1" i="1" u="sng" dirty="0">
                <a:solidFill>
                  <a:srgbClr val="0070C0"/>
                </a:solidFill>
              </a:rPr>
              <a:t>TCP</a:t>
            </a:r>
          </a:p>
          <a:p>
            <a:pPr lvl="3"/>
            <a:r>
              <a:rPr lang="en-US" dirty="0"/>
              <a:t>Originally, “Transmission Control </a:t>
            </a:r>
            <a:r>
              <a:rPr lang="en-US" i="1" dirty="0"/>
              <a:t>Program</a:t>
            </a:r>
            <a:r>
              <a:rPr lang="en-US" dirty="0"/>
              <a:t>”</a:t>
            </a:r>
          </a:p>
          <a:p>
            <a:pPr lvl="4"/>
            <a:r>
              <a:rPr lang="en-US" dirty="0"/>
              <a:t>Later became TCP with the publication of </a:t>
            </a:r>
            <a:r>
              <a:rPr lang="en-US" b="1" i="1" u="sng" dirty="0">
                <a:solidFill>
                  <a:srgbClr val="99CCFF"/>
                </a:solidFill>
              </a:rPr>
              <a:t>RFC 675 </a:t>
            </a:r>
            <a:r>
              <a:rPr lang="en-US" dirty="0"/>
              <a:t>in December 1974</a:t>
            </a:r>
          </a:p>
        </p:txBody>
      </p:sp>
    </p:spTree>
    <p:extLst>
      <p:ext uri="{BB962C8B-B14F-4D97-AF65-F5344CB8AC3E}">
        <p14:creationId xmlns:p14="http://schemas.microsoft.com/office/powerpoint/2010/main" val="1202638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History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Original </a:t>
            </a:r>
            <a:r>
              <a:rPr lang="en-US" b="1" i="1" u="sng" dirty="0">
                <a:solidFill>
                  <a:srgbClr val="0070C0"/>
                </a:solidFill>
              </a:rPr>
              <a:t>TCP</a:t>
            </a:r>
            <a:r>
              <a:rPr lang="en-US" dirty="0"/>
              <a:t> was doing too much of the work</a:t>
            </a:r>
          </a:p>
          <a:p>
            <a:pPr lvl="1"/>
            <a:r>
              <a:rPr lang="en-US" b="1" i="1" u="sng" dirty="0">
                <a:solidFill>
                  <a:srgbClr val="F5B1C4"/>
                </a:solidFill>
              </a:rPr>
              <a:t>Split</a:t>
            </a:r>
            <a:r>
              <a:rPr lang="en-US" dirty="0"/>
              <a:t> into 2 parts, forming a </a:t>
            </a:r>
            <a:r>
              <a:rPr lang="en-US" b="1" i="1" u="sng" dirty="0">
                <a:solidFill>
                  <a:srgbClr val="00FFCC"/>
                </a:solidFill>
              </a:rPr>
              <a:t>Protocol Suite </a:t>
            </a:r>
            <a:r>
              <a:rPr lang="en-US" dirty="0"/>
              <a:t>:</a:t>
            </a:r>
          </a:p>
          <a:p>
            <a:pPr lvl="2"/>
            <a:r>
              <a:rPr lang="en-US" b="1" i="1" u="sng" dirty="0">
                <a:solidFill>
                  <a:srgbClr val="0070C0"/>
                </a:solidFill>
              </a:rPr>
              <a:t>TCP</a:t>
            </a:r>
            <a:r>
              <a:rPr lang="en-US" dirty="0"/>
              <a:t> above</a:t>
            </a:r>
          </a:p>
          <a:p>
            <a:pPr lvl="2"/>
            <a:r>
              <a:rPr lang="en-US" b="1" i="1" u="sng" dirty="0">
                <a:solidFill>
                  <a:srgbClr val="0070C0"/>
                </a:solidFill>
              </a:rPr>
              <a:t>IP</a:t>
            </a:r>
            <a:r>
              <a:rPr lang="en-US" dirty="0"/>
              <a:t> below</a:t>
            </a:r>
          </a:p>
          <a:p>
            <a:pPr lvl="3"/>
            <a:r>
              <a:rPr lang="en-US" dirty="0"/>
              <a:t>Suite Standardized in </a:t>
            </a:r>
            <a:r>
              <a:rPr lang="en-US" b="1" i="1" u="sng" dirty="0"/>
              <a:t>1982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1/1/1983</a:t>
            </a:r>
            <a:r>
              <a:rPr lang="en-US" dirty="0"/>
              <a:t> – </a:t>
            </a:r>
            <a:r>
              <a:rPr lang="en-US" b="1" i="1" u="sng" dirty="0" err="1">
                <a:solidFill>
                  <a:srgbClr val="FF33CC"/>
                </a:solidFill>
              </a:rPr>
              <a:t>ARPAnet</a:t>
            </a:r>
            <a:r>
              <a:rPr lang="en-US" dirty="0"/>
              <a:t> switched from </a:t>
            </a:r>
            <a:r>
              <a:rPr lang="en-US" b="1" i="1" u="sng" dirty="0"/>
              <a:t>NCP</a:t>
            </a:r>
            <a:r>
              <a:rPr lang="en-US" dirty="0"/>
              <a:t> to </a:t>
            </a:r>
            <a:r>
              <a:rPr lang="en-US" b="1" i="1" u="sng" dirty="0">
                <a:solidFill>
                  <a:srgbClr val="0070C0"/>
                </a:solidFill>
              </a:rPr>
              <a:t>TCP/IP</a:t>
            </a:r>
          </a:p>
          <a:p>
            <a:r>
              <a:rPr lang="en-US" b="1" i="1" u="sng" dirty="0" err="1">
                <a:solidFill>
                  <a:srgbClr val="FF33CC"/>
                </a:solidFill>
              </a:rPr>
              <a:t>ARPAnet</a:t>
            </a:r>
            <a:r>
              <a:rPr lang="en-US" dirty="0"/>
              <a:t> </a:t>
            </a:r>
            <a:r>
              <a:rPr lang="en-US" dirty="0">
                <a:solidFill>
                  <a:srgbClr val="EC6A92"/>
                </a:solidFill>
              </a:rPr>
              <a:t>ceased to exist </a:t>
            </a:r>
            <a:r>
              <a:rPr lang="en-US" dirty="0"/>
              <a:t>in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1990</a:t>
            </a:r>
          </a:p>
          <a:p>
            <a:pPr lvl="1"/>
            <a:r>
              <a:rPr lang="en-US" dirty="0"/>
              <a:t>“</a:t>
            </a:r>
            <a:r>
              <a:rPr lang="en-US" b="1" i="1" u="sng" dirty="0">
                <a:solidFill>
                  <a:srgbClr val="0070C0"/>
                </a:solidFill>
              </a:rPr>
              <a:t>Internet</a:t>
            </a:r>
            <a:r>
              <a:rPr lang="en-US" dirty="0"/>
              <a:t>” took its place</a:t>
            </a:r>
          </a:p>
          <a:p>
            <a:r>
              <a:rPr lang="en-US" dirty="0"/>
              <a:t>Additional Protocols “Evolved into existence”</a:t>
            </a:r>
          </a:p>
        </p:txBody>
      </p:sp>
    </p:spTree>
    <p:extLst>
      <p:ext uri="{BB962C8B-B14F-4D97-AF65-F5344CB8AC3E}">
        <p14:creationId xmlns:p14="http://schemas.microsoft.com/office/powerpoint/2010/main" val="3669075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 Protocol History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304800" y="990600"/>
            <a:ext cx="8610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Telnet</a:t>
            </a:r>
            <a:r>
              <a:rPr lang="en-US" dirty="0"/>
              <a:t> –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1969</a:t>
            </a:r>
          </a:p>
          <a:p>
            <a:pPr lvl="1"/>
            <a:r>
              <a:rPr lang="en-US" dirty="0"/>
              <a:t>“Teletype Network” – </a:t>
            </a:r>
            <a:r>
              <a:rPr lang="en-US" b="1" i="1" u="sng" dirty="0">
                <a:solidFill>
                  <a:srgbClr val="99CCFF"/>
                </a:solidFill>
              </a:rPr>
              <a:t>RFC 19</a:t>
            </a:r>
          </a:p>
          <a:p>
            <a:pPr lvl="1"/>
            <a:r>
              <a:rPr lang="en-US" dirty="0"/>
              <a:t>Officially “standardized”</a:t>
            </a:r>
          </a:p>
          <a:p>
            <a:pPr lvl="2"/>
            <a:r>
              <a:rPr lang="en-US" dirty="0"/>
              <a:t>March 5 , 1973</a:t>
            </a:r>
          </a:p>
          <a:p>
            <a:pPr lvl="2"/>
            <a:r>
              <a:rPr lang="en-US" dirty="0"/>
              <a:t>“</a:t>
            </a:r>
            <a:r>
              <a:rPr lang="en-US" b="1" u="sng" dirty="0"/>
              <a:t>Teletype over Network Protocol</a:t>
            </a:r>
            <a:r>
              <a:rPr lang="en-US" dirty="0"/>
              <a:t>” – </a:t>
            </a:r>
            <a:r>
              <a:rPr lang="en-US" b="1" i="1" u="sng" dirty="0">
                <a:solidFill>
                  <a:srgbClr val="99CCFF"/>
                </a:solidFill>
              </a:rPr>
              <a:t>RFC 206</a:t>
            </a:r>
          </a:p>
          <a:p>
            <a:pPr lvl="1"/>
            <a:r>
              <a:rPr lang="en-US" dirty="0"/>
              <a:t>Port 23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FTP</a:t>
            </a:r>
          </a:p>
          <a:p>
            <a:pPr lvl="1"/>
            <a:r>
              <a:rPr lang="en-US" b="1" i="1" dirty="0">
                <a:solidFill>
                  <a:srgbClr val="99CCFF"/>
                </a:solidFill>
              </a:rPr>
              <a:t>RFC 114 </a:t>
            </a:r>
            <a:r>
              <a:rPr lang="en-US" dirty="0"/>
              <a:t>in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1971</a:t>
            </a:r>
          </a:p>
          <a:p>
            <a:pPr lvl="1"/>
            <a:r>
              <a:rPr lang="en-US" b="1" i="1" u="sng" dirty="0">
                <a:solidFill>
                  <a:srgbClr val="FFFF00"/>
                </a:solidFill>
              </a:rPr>
              <a:t>Ports 20,21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TFTP</a:t>
            </a:r>
            <a:r>
              <a:rPr lang="en-US" dirty="0"/>
              <a:t> –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1980</a:t>
            </a:r>
          </a:p>
        </p:txBody>
      </p:sp>
    </p:spTree>
    <p:extLst>
      <p:ext uri="{BB962C8B-B14F-4D97-AF65-F5344CB8AC3E}">
        <p14:creationId xmlns:p14="http://schemas.microsoft.com/office/powerpoint/2010/main" val="1319009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CE1AC-A82C-49A0-9C75-39B1B7BD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 Protocol History …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5F8C1-4799-4239-B816-9A41B9614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C55D2-6F31-4496-A356-637D5A61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4009C5-09C2-4E84-951C-1468ABF29C8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SMTP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Early protocols (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1971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Mail Box Protocol</a:t>
            </a:r>
          </a:p>
          <a:p>
            <a:pPr lvl="2"/>
            <a:r>
              <a:rPr lang="en-US" dirty="0"/>
              <a:t>SNDMSG Program</a:t>
            </a:r>
          </a:p>
          <a:p>
            <a:pPr lvl="2"/>
            <a:r>
              <a:rPr lang="en-US" dirty="0"/>
              <a:t>RFC 788 – 1981</a:t>
            </a:r>
          </a:p>
          <a:p>
            <a:pPr lvl="1"/>
            <a:r>
              <a:rPr lang="en-US" b="1" i="1" u="sng" dirty="0">
                <a:solidFill>
                  <a:srgbClr val="7030A0"/>
                </a:solidFill>
              </a:rPr>
              <a:t>Port 25 </a:t>
            </a:r>
            <a:r>
              <a:rPr lang="en-US" dirty="0"/>
              <a:t>(</a:t>
            </a:r>
            <a:r>
              <a:rPr lang="en-US" b="1" i="1" u="sng" dirty="0">
                <a:solidFill>
                  <a:srgbClr val="FFC000"/>
                </a:solidFill>
              </a:rPr>
              <a:t>Unencrypted</a:t>
            </a:r>
            <a:r>
              <a:rPr lang="en-US" dirty="0"/>
              <a:t>), </a:t>
            </a:r>
            <a:r>
              <a:rPr lang="en-US" b="1" i="1" u="sng" dirty="0">
                <a:solidFill>
                  <a:srgbClr val="7030A0"/>
                </a:solidFill>
              </a:rPr>
              <a:t>465 </a:t>
            </a:r>
            <a:r>
              <a:rPr lang="en-US" dirty="0"/>
              <a:t>(</a:t>
            </a:r>
            <a:r>
              <a:rPr lang="en-US" b="1" i="1" u="sng" dirty="0">
                <a:solidFill>
                  <a:srgbClr val="FF0000"/>
                </a:solidFill>
              </a:rPr>
              <a:t>Encrypted</a:t>
            </a:r>
            <a:r>
              <a:rPr lang="en-US" dirty="0"/>
              <a:t>)</a:t>
            </a:r>
            <a:endParaRPr lang="en-US" b="1" dirty="0"/>
          </a:p>
          <a:p>
            <a:r>
              <a:rPr lang="en-US" b="1" i="1" u="sng" dirty="0">
                <a:solidFill>
                  <a:srgbClr val="0070C0"/>
                </a:solidFill>
              </a:rPr>
              <a:t>POP3</a:t>
            </a:r>
            <a:r>
              <a:rPr lang="en-US" b="1" dirty="0">
                <a:solidFill>
                  <a:srgbClr val="0070C0"/>
                </a:solidFill>
              </a:rPr>
              <a:t> – Post Office Protocol</a:t>
            </a:r>
          </a:p>
          <a:p>
            <a:pPr lvl="1"/>
            <a:r>
              <a:rPr lang="en-US" dirty="0"/>
              <a:t>Original Release (POP) in </a:t>
            </a:r>
            <a:r>
              <a:rPr lang="en-US" b="1" dirty="0">
                <a:solidFill>
                  <a:schemeClr val="bg1"/>
                </a:solidFill>
                <a:highlight>
                  <a:srgbClr val="FFFF00"/>
                </a:highlight>
              </a:rPr>
              <a:t>1984</a:t>
            </a:r>
            <a:r>
              <a:rPr lang="en-US" dirty="0"/>
              <a:t>, the upgraded to POP2 in </a:t>
            </a:r>
            <a:r>
              <a:rPr lang="en-US" b="1" dirty="0">
                <a:solidFill>
                  <a:schemeClr val="bg1"/>
                </a:solidFill>
                <a:highlight>
                  <a:srgbClr val="FFFF00"/>
                </a:highlight>
              </a:rPr>
              <a:t>1985</a:t>
            </a:r>
            <a:r>
              <a:rPr lang="en-US" dirty="0"/>
              <a:t>, followed by POP3 in </a:t>
            </a:r>
            <a:r>
              <a:rPr lang="en-US" b="1" dirty="0">
                <a:solidFill>
                  <a:schemeClr val="bg1"/>
                </a:solidFill>
                <a:highlight>
                  <a:srgbClr val="FFFF00"/>
                </a:highlight>
              </a:rPr>
              <a:t>1988</a:t>
            </a:r>
          </a:p>
          <a:p>
            <a:pPr lvl="1"/>
            <a:r>
              <a:rPr lang="en-US" b="1" i="1" u="sng" dirty="0">
                <a:solidFill>
                  <a:srgbClr val="7030A0"/>
                </a:solidFill>
              </a:rPr>
              <a:t>Port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7030A0"/>
                </a:solidFill>
              </a:rPr>
              <a:t>110</a:t>
            </a:r>
            <a:r>
              <a:rPr lang="en-US" dirty="0"/>
              <a:t> (</a:t>
            </a:r>
            <a:r>
              <a:rPr lang="en-US" b="1" i="1" u="sng" dirty="0">
                <a:solidFill>
                  <a:srgbClr val="FFC000"/>
                </a:solidFill>
              </a:rPr>
              <a:t>Unencrypted</a:t>
            </a:r>
            <a:r>
              <a:rPr lang="en-US" dirty="0"/>
              <a:t>), </a:t>
            </a:r>
            <a:r>
              <a:rPr lang="en-US" b="1" i="1" u="sng" dirty="0">
                <a:solidFill>
                  <a:srgbClr val="7030A0"/>
                </a:solidFill>
              </a:rPr>
              <a:t>Port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7030A0"/>
                </a:solidFill>
              </a:rPr>
              <a:t>995</a:t>
            </a:r>
            <a:r>
              <a:rPr lang="en-US" dirty="0"/>
              <a:t> (</a:t>
            </a:r>
            <a:r>
              <a:rPr lang="en-US" b="1" i="1" u="sng" dirty="0">
                <a:solidFill>
                  <a:srgbClr val="FF0000"/>
                </a:solidFill>
              </a:rPr>
              <a:t>Encrypted</a:t>
            </a:r>
            <a:r>
              <a:rPr lang="en-US" dirty="0"/>
              <a:t>)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IMAP – Internet Message Access Protocol</a:t>
            </a:r>
          </a:p>
          <a:p>
            <a:pPr lvl="1"/>
            <a:r>
              <a:rPr lang="en-US" dirty="0"/>
              <a:t>Designed by Mark Crispin in </a:t>
            </a:r>
            <a:r>
              <a:rPr lang="en-US" b="1" dirty="0">
                <a:solidFill>
                  <a:schemeClr val="bg1"/>
                </a:solidFill>
                <a:highlight>
                  <a:srgbClr val="FFFF00"/>
                </a:highlight>
              </a:rPr>
              <a:t>1986</a:t>
            </a:r>
            <a:r>
              <a:rPr lang="en-US" dirty="0"/>
              <a:t> as a remote access mailbox protocol, in contrast to the widely used POP</a:t>
            </a:r>
          </a:p>
          <a:p>
            <a:pPr lvl="1"/>
            <a:r>
              <a:rPr lang="en-US" b="1" i="1" u="sng" dirty="0">
                <a:solidFill>
                  <a:srgbClr val="7030A0"/>
                </a:solidFill>
              </a:rPr>
              <a:t>Port 143 </a:t>
            </a:r>
            <a:r>
              <a:rPr lang="en-US" dirty="0"/>
              <a:t>(</a:t>
            </a:r>
            <a:r>
              <a:rPr lang="en-US" b="1" i="1" u="sng" dirty="0">
                <a:solidFill>
                  <a:srgbClr val="FFC000"/>
                </a:solidFill>
              </a:rPr>
              <a:t>Unencrypted</a:t>
            </a:r>
            <a:r>
              <a:rPr lang="en-US" dirty="0"/>
              <a:t>), </a:t>
            </a:r>
            <a:r>
              <a:rPr lang="en-US" b="1" i="1" u="sng" dirty="0">
                <a:solidFill>
                  <a:srgbClr val="7030A0"/>
                </a:solidFill>
              </a:rPr>
              <a:t>Port 993 </a:t>
            </a:r>
            <a:r>
              <a:rPr lang="en-US" dirty="0"/>
              <a:t>(</a:t>
            </a:r>
            <a:r>
              <a:rPr lang="en-US" b="1" i="1" u="sng" dirty="0">
                <a:solidFill>
                  <a:srgbClr val="FF0000"/>
                </a:solidFill>
              </a:rPr>
              <a:t>Encrypted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484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 Protocol History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304800" y="990600"/>
            <a:ext cx="8610600" cy="5365750"/>
          </a:xfrm>
        </p:spPr>
        <p:txBody>
          <a:bodyPr>
            <a:normAutofit fontScale="550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DNS</a:t>
            </a:r>
          </a:p>
          <a:p>
            <a:pPr lvl="1"/>
            <a:r>
              <a:rPr lang="en-US" dirty="0"/>
              <a:t>Dates back to SRI-NIC implementation of the ultimate “Hosts.txt” file</a:t>
            </a:r>
          </a:p>
          <a:p>
            <a:pPr lvl="2"/>
            <a:r>
              <a:rPr lang="en-US" dirty="0"/>
              <a:t>Downloaded by users usually daily</a:t>
            </a:r>
          </a:p>
          <a:p>
            <a:pPr lvl="2"/>
            <a:r>
              <a:rPr lang="en-US" dirty="0"/>
              <a:t>Updates were made manually to this global, file</a:t>
            </a:r>
          </a:p>
          <a:p>
            <a:pPr lvl="2"/>
            <a:r>
              <a:rPr lang="en-US" b="1" i="1" u="sng" dirty="0">
                <a:solidFill>
                  <a:srgbClr val="7030A0"/>
                </a:solidFill>
              </a:rPr>
              <a:t>Port 53</a:t>
            </a:r>
          </a:p>
          <a:p>
            <a:pPr lvl="1"/>
            <a:r>
              <a:rPr lang="en-US" dirty="0"/>
              <a:t>RFC 883 –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1983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BOOTP</a:t>
            </a:r>
          </a:p>
          <a:p>
            <a:pPr lvl="1"/>
            <a:r>
              <a:rPr lang="en-US" b="1" i="1" u="sng" dirty="0">
                <a:solidFill>
                  <a:srgbClr val="7030A0"/>
                </a:solidFill>
              </a:rPr>
              <a:t>Ports 67, 68 </a:t>
            </a:r>
          </a:p>
          <a:p>
            <a:pPr lvl="1"/>
            <a:r>
              <a:rPr lang="en-US" dirty="0"/>
              <a:t>RFC 851 –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1985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DHCP</a:t>
            </a:r>
          </a:p>
          <a:p>
            <a:pPr lvl="1"/>
            <a:r>
              <a:rPr lang="en-US" dirty="0"/>
              <a:t>Based on BOOTP</a:t>
            </a:r>
          </a:p>
          <a:p>
            <a:pPr lvl="1"/>
            <a:r>
              <a:rPr lang="en-US" b="1" i="1" u="sng" dirty="0">
                <a:solidFill>
                  <a:srgbClr val="7030A0"/>
                </a:solidFill>
              </a:rPr>
              <a:t>Ports 67, 68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(the </a:t>
            </a:r>
            <a:r>
              <a:rPr lang="en-US" b="1" dirty="0">
                <a:solidFill>
                  <a:srgbClr val="0070C0"/>
                </a:solidFill>
              </a:rPr>
              <a:t>BOOTP</a:t>
            </a:r>
            <a:r>
              <a:rPr lang="en-US" dirty="0"/>
              <a:t> ports)</a:t>
            </a:r>
          </a:p>
          <a:p>
            <a:pPr lvl="1"/>
            <a:r>
              <a:rPr lang="en-US" dirty="0"/>
              <a:t>RFC 1531 -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1993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SNMP</a:t>
            </a:r>
          </a:p>
          <a:p>
            <a:pPr lvl="1"/>
            <a:r>
              <a:rPr lang="en-US" dirty="0"/>
              <a:t>V1 series –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1988</a:t>
            </a:r>
          </a:p>
          <a:p>
            <a:pPr lvl="1"/>
            <a:r>
              <a:rPr lang="en-US" dirty="0"/>
              <a:t>V2 series – RFC 1213 –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1991</a:t>
            </a:r>
          </a:p>
          <a:p>
            <a:pPr lvl="1"/>
            <a:r>
              <a:rPr lang="en-US" b="1" i="1" u="sng" dirty="0">
                <a:solidFill>
                  <a:srgbClr val="7030A0"/>
                </a:solidFill>
              </a:rPr>
              <a:t>Ports 161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(Message Traffic) and </a:t>
            </a:r>
            <a:r>
              <a:rPr lang="en-US" b="1" i="1" u="sng" dirty="0">
                <a:solidFill>
                  <a:srgbClr val="7030A0"/>
                </a:solidFill>
              </a:rPr>
              <a:t>162</a:t>
            </a:r>
            <a:r>
              <a:rPr lang="en-US" dirty="0"/>
              <a:t> (SNMPTRAP)</a:t>
            </a:r>
          </a:p>
        </p:txBody>
      </p:sp>
    </p:spTree>
    <p:extLst>
      <p:ext uri="{BB962C8B-B14F-4D97-AF65-F5344CB8AC3E}">
        <p14:creationId xmlns:p14="http://schemas.microsoft.com/office/powerpoint/2010/main" val="1972491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 Protocol History …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304800" y="990600"/>
            <a:ext cx="8610600" cy="5257800"/>
          </a:xfrm>
        </p:spPr>
        <p:txBody>
          <a:bodyPr>
            <a:normAutofit fontScale="550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</a:rPr>
              <a:t>NBNS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NetBIOS </a:t>
            </a:r>
            <a:r>
              <a:rPr lang="en-US" b="1" dirty="0">
                <a:solidFill>
                  <a:srgbClr val="00B0F0"/>
                </a:solidFill>
              </a:rPr>
              <a:t>(WINS </a:t>
            </a:r>
            <a:r>
              <a:rPr lang="en-US" b="1" dirty="0"/>
              <a:t>in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Microsoft</a:t>
            </a:r>
            <a:r>
              <a:rPr lang="en-US" b="1" dirty="0">
                <a:solidFill>
                  <a:srgbClr val="00B0F0"/>
                </a:solidFill>
              </a:rPr>
              <a:t>)</a:t>
            </a:r>
          </a:p>
          <a:p>
            <a:pPr lvl="2"/>
            <a:r>
              <a:rPr lang="en-US" dirty="0"/>
              <a:t>Developed by </a:t>
            </a:r>
            <a:r>
              <a:rPr lang="en-US" b="1" i="1" u="sng" dirty="0" err="1">
                <a:solidFill>
                  <a:srgbClr val="00B050"/>
                </a:solidFill>
              </a:rPr>
              <a:t>Sytek</a:t>
            </a:r>
            <a:r>
              <a:rPr lang="en-US" dirty="0"/>
              <a:t> Inc. in 1983 to be used in IBM’s PC LAN Network</a:t>
            </a:r>
          </a:p>
          <a:p>
            <a:pPr lvl="2"/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1987</a:t>
            </a:r>
            <a:r>
              <a:rPr lang="en-US" dirty="0"/>
              <a:t> – NetBIOS over TCP/IP</a:t>
            </a:r>
          </a:p>
          <a:p>
            <a:pPr lvl="3"/>
            <a:r>
              <a:rPr lang="en-US" dirty="0"/>
              <a:t>RFC 1001</a:t>
            </a:r>
          </a:p>
          <a:p>
            <a:pPr lvl="1"/>
            <a:r>
              <a:rPr lang="en-US" dirty="0"/>
              <a:t>NBNS grew as a SERVICE using RFC 1001</a:t>
            </a:r>
          </a:p>
          <a:p>
            <a:pPr lvl="1"/>
            <a:r>
              <a:rPr lang="en-US" b="1" i="1" u="sng" dirty="0">
                <a:solidFill>
                  <a:srgbClr val="7030A0"/>
                </a:solidFill>
              </a:rPr>
              <a:t>Ports 137, 138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HTTP</a:t>
            </a:r>
          </a:p>
          <a:p>
            <a:pPr lvl="1"/>
            <a:r>
              <a:rPr lang="en-US" dirty="0"/>
              <a:t>Tim Berners Lee (CERN) first proposed -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1989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HTML</a:t>
            </a:r>
          </a:p>
          <a:p>
            <a:pPr lvl="2"/>
            <a:r>
              <a:rPr lang="en-US" dirty="0"/>
              <a:t>HTTP</a:t>
            </a:r>
          </a:p>
          <a:p>
            <a:pPr lvl="2"/>
            <a:r>
              <a:rPr lang="en-US" dirty="0"/>
              <a:t>WWW</a:t>
            </a:r>
          </a:p>
          <a:p>
            <a:pPr lvl="1"/>
            <a:r>
              <a:rPr lang="en-US" b="1" i="1" u="sng" dirty="0">
                <a:solidFill>
                  <a:srgbClr val="7030A0"/>
                </a:solidFill>
              </a:rPr>
              <a:t>Port 80 </a:t>
            </a:r>
            <a:r>
              <a:rPr lang="en-US" dirty="0"/>
              <a:t>(</a:t>
            </a:r>
            <a:r>
              <a:rPr lang="en-US" b="1" i="1" u="sng" dirty="0">
                <a:solidFill>
                  <a:srgbClr val="FFC000"/>
                </a:solidFill>
              </a:rPr>
              <a:t>Unencrypted</a:t>
            </a:r>
            <a:r>
              <a:rPr lang="en-US" dirty="0"/>
              <a:t>), </a:t>
            </a:r>
            <a:r>
              <a:rPr lang="en-US" b="1" i="1" u="sng" dirty="0">
                <a:solidFill>
                  <a:srgbClr val="7030A0"/>
                </a:solidFill>
              </a:rPr>
              <a:t>Port 443 </a:t>
            </a:r>
            <a:r>
              <a:rPr lang="en-US" dirty="0"/>
              <a:t>(</a:t>
            </a:r>
            <a:r>
              <a:rPr lang="en-US" b="1" i="1" u="sng" dirty="0">
                <a:solidFill>
                  <a:srgbClr val="FF0000"/>
                </a:solidFill>
              </a:rPr>
              <a:t>Encrypted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V0.9 (1 command = “GET”) –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1991</a:t>
            </a:r>
          </a:p>
          <a:p>
            <a:pPr lvl="1"/>
            <a:r>
              <a:rPr lang="en-US" dirty="0"/>
              <a:t>V1.0 – RFC 1945 -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1996</a:t>
            </a:r>
          </a:p>
          <a:p>
            <a:pPr lvl="1"/>
            <a:r>
              <a:rPr lang="en-US" dirty="0"/>
              <a:t>V1.1 – RFC 2068 - January 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1997</a:t>
            </a:r>
          </a:p>
        </p:txBody>
      </p:sp>
    </p:spTree>
    <p:extLst>
      <p:ext uri="{BB962C8B-B14F-4D97-AF65-F5344CB8AC3E}">
        <p14:creationId xmlns:p14="http://schemas.microsoft.com/office/powerpoint/2010/main" val="3590651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D125F2-1C85-440E-877E-00F561836CB5}"/>
              </a:ext>
            </a:extLst>
          </p:cNvPr>
          <p:cNvSpPr/>
          <p:nvPr/>
        </p:nvSpPr>
        <p:spPr>
          <a:xfrm>
            <a:off x="63875" y="5902058"/>
            <a:ext cx="9018437" cy="565525"/>
          </a:xfrm>
          <a:prstGeom prst="round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DB90F766-77C9-4F70-BAC6-2CF845B3F5F0}"/>
              </a:ext>
            </a:extLst>
          </p:cNvPr>
          <p:cNvSpPr/>
          <p:nvPr/>
        </p:nvSpPr>
        <p:spPr>
          <a:xfrm>
            <a:off x="90712" y="228601"/>
            <a:ext cx="8991600" cy="5677051"/>
          </a:xfrm>
          <a:prstGeom prst="round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1650" y="6471573"/>
            <a:ext cx="3146622" cy="365125"/>
          </a:xfrm>
        </p:spPr>
        <p:txBody>
          <a:bodyPr/>
          <a:lstStyle/>
          <a:p>
            <a:r>
              <a:rPr lang="en-US" dirty="0"/>
              <a:t>Copyright IQ Consulting Experts 2000 - 2020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948583" y="668973"/>
            <a:ext cx="7605902" cy="1066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App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Interf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160588" y="771353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SMTP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922588" y="771353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SNMP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648272" y="780879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NNTP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160588" y="999953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ftp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922588" y="999953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telnet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644632" y="1223962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http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2160588" y="1228553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bootp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2922588" y="1228553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NFS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642286" y="1004716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rgbClr val="FF0000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DNS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5681230" y="1208049"/>
            <a:ext cx="641350" cy="152400"/>
          </a:xfrm>
          <a:prstGeom prst="rect">
            <a:avLst/>
          </a:prstGeom>
          <a:solidFill>
            <a:schemeClr val="tx1">
              <a:lumMod val="65000"/>
            </a:schemeClr>
          </a:solidFill>
          <a:ln w="19050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WINS</a:t>
            </a: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946645" y="1890221"/>
            <a:ext cx="7586852" cy="5334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Presentation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946645" y="2423621"/>
            <a:ext cx="7586852" cy="5334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Session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5663057" y="1494571"/>
            <a:ext cx="685713" cy="150504"/>
          </a:xfrm>
          <a:prstGeom prst="rect">
            <a:avLst/>
          </a:prstGeom>
          <a:solidFill>
            <a:schemeClr val="tx1">
              <a:lumMod val="65000"/>
            </a:schemeClr>
          </a:solidFill>
          <a:ln w="19050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SMB</a:t>
            </a:r>
          </a:p>
        </p:txBody>
      </p: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990662" y="3187469"/>
            <a:ext cx="7508222" cy="737054"/>
          </a:xfrm>
          <a:prstGeom prst="rect">
            <a:avLst/>
          </a:prstGeom>
          <a:solidFill>
            <a:schemeClr val="tx2">
              <a:lumMod val="50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000" b="1" dirty="0"/>
              <a:t>Transport</a:t>
            </a:r>
            <a:endParaRPr lang="en-US" b="1" dirty="0"/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2300288" y="3243263"/>
            <a:ext cx="1352550" cy="6096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TCP</a:t>
            </a:r>
          </a:p>
          <a:p>
            <a:pPr algn="ctr"/>
            <a:r>
              <a:rPr lang="en-US" sz="1200" u="sng" dirty="0">
                <a:solidFill>
                  <a:schemeClr val="bg1"/>
                </a:solidFill>
              </a:rPr>
              <a:t>Segment</a:t>
            </a:r>
            <a:endParaRPr lang="en-US" sz="1600" u="sng" dirty="0">
              <a:solidFill>
                <a:schemeClr val="bg1"/>
              </a:solidFill>
            </a:endParaRPr>
          </a:p>
        </p:txBody>
      </p:sp>
      <p:sp>
        <p:nvSpPr>
          <p:cNvPr id="29" name="Rectangle 25"/>
          <p:cNvSpPr>
            <a:spLocks noChangeArrowheads="1"/>
          </p:cNvSpPr>
          <p:nvPr/>
        </p:nvSpPr>
        <p:spPr bwMode="auto">
          <a:xfrm>
            <a:off x="3749480" y="3249861"/>
            <a:ext cx="1095379" cy="456933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UDP</a:t>
            </a:r>
          </a:p>
          <a:p>
            <a:pPr algn="ctr"/>
            <a:r>
              <a:rPr lang="en-US" sz="1200" u="sng" dirty="0">
                <a:solidFill>
                  <a:schemeClr val="bg1"/>
                </a:solidFill>
              </a:rPr>
              <a:t>Datagram</a:t>
            </a: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974966" y="4001611"/>
            <a:ext cx="7555164" cy="1003411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81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solidFill>
                  <a:schemeClr val="bg1"/>
                </a:solidFill>
              </a:rPr>
              <a:t>Network</a:t>
            </a: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974965" y="5048509"/>
            <a:ext cx="7555163" cy="878292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1800" b="1" dirty="0">
                <a:solidFill>
                  <a:schemeClr val="bg1"/>
                </a:solidFill>
              </a:rPr>
              <a:t>LLC</a:t>
            </a:r>
            <a:endParaRPr lang="en-US" sz="2000" b="1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sz="1800" b="1" dirty="0">
                <a:solidFill>
                  <a:schemeClr val="bg1"/>
                </a:solidFill>
              </a:rPr>
              <a:t>MAC</a:t>
            </a:r>
            <a:r>
              <a:rPr lang="en-US" sz="1800" dirty="0"/>
              <a:t> –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960204" y="6027349"/>
            <a:ext cx="7579167" cy="381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solidFill>
                  <a:schemeClr val="bg1"/>
                </a:solidFill>
              </a:rPr>
              <a:t>Physical</a:t>
            </a:r>
            <a:r>
              <a:rPr lang="en-US" dirty="0"/>
              <a:t>			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1931321" y="4478759"/>
            <a:ext cx="2812719" cy="216951"/>
          </a:xfrm>
          <a:prstGeom prst="rect">
            <a:avLst/>
          </a:prstGeom>
          <a:solidFill>
            <a:srgbClr val="99CCFF"/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IP Packets / Datagrams</a:t>
            </a:r>
          </a:p>
        </p:txBody>
      </p:sp>
      <p:sp>
        <p:nvSpPr>
          <p:cNvPr id="37" name="Rectangle 34"/>
          <p:cNvSpPr>
            <a:spLocks noChangeArrowheads="1"/>
          </p:cNvSpPr>
          <p:nvPr/>
        </p:nvSpPr>
        <p:spPr bwMode="auto">
          <a:xfrm>
            <a:off x="2278784" y="4269444"/>
            <a:ext cx="397820" cy="176921"/>
          </a:xfrm>
          <a:prstGeom prst="rect">
            <a:avLst/>
          </a:prstGeom>
          <a:solidFill>
            <a:srgbClr val="99CCFF"/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ICMP</a:t>
            </a:r>
          </a:p>
        </p:txBody>
      </p:sp>
      <p:sp>
        <p:nvSpPr>
          <p:cNvPr id="42" name="Rectangle 39"/>
          <p:cNvSpPr>
            <a:spLocks noChangeArrowheads="1"/>
          </p:cNvSpPr>
          <p:nvPr/>
        </p:nvSpPr>
        <p:spPr bwMode="auto">
          <a:xfrm>
            <a:off x="7484498" y="4244806"/>
            <a:ext cx="267280" cy="155723"/>
          </a:xfrm>
          <a:prstGeom prst="rect">
            <a:avLst/>
          </a:prstGeom>
          <a:solidFill>
            <a:srgbClr val="99CCFF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EGP</a:t>
            </a:r>
          </a:p>
        </p:txBody>
      </p:sp>
      <p:sp>
        <p:nvSpPr>
          <p:cNvPr id="43" name="Rectangle 40"/>
          <p:cNvSpPr>
            <a:spLocks noChangeArrowheads="1"/>
          </p:cNvSpPr>
          <p:nvPr/>
        </p:nvSpPr>
        <p:spPr bwMode="auto">
          <a:xfrm>
            <a:off x="4360680" y="5430982"/>
            <a:ext cx="359536" cy="222698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SLIP</a:t>
            </a:r>
          </a:p>
        </p:txBody>
      </p:sp>
      <p:sp>
        <p:nvSpPr>
          <p:cNvPr id="45" name="Rectangle 42"/>
          <p:cNvSpPr>
            <a:spLocks noChangeArrowheads="1"/>
          </p:cNvSpPr>
          <p:nvPr/>
        </p:nvSpPr>
        <p:spPr bwMode="auto">
          <a:xfrm>
            <a:off x="3312115" y="4716653"/>
            <a:ext cx="487261" cy="212725"/>
          </a:xfrm>
          <a:prstGeom prst="rect">
            <a:avLst/>
          </a:prstGeom>
          <a:solidFill>
            <a:srgbClr val="99CCFF"/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ARP</a:t>
            </a:r>
          </a:p>
        </p:txBody>
      </p:sp>
      <p:sp>
        <p:nvSpPr>
          <p:cNvPr id="50" name="Line 48"/>
          <p:cNvSpPr>
            <a:spLocks noChangeShapeType="1"/>
          </p:cNvSpPr>
          <p:nvPr/>
        </p:nvSpPr>
        <p:spPr bwMode="auto">
          <a:xfrm>
            <a:off x="1371600" y="5715000"/>
            <a:ext cx="715029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2" name="Rectangle 50"/>
          <p:cNvSpPr>
            <a:spLocks noChangeArrowheads="1"/>
          </p:cNvSpPr>
          <p:nvPr/>
        </p:nvSpPr>
        <p:spPr bwMode="auto">
          <a:xfrm>
            <a:off x="8118387" y="4965621"/>
            <a:ext cx="380497" cy="437031"/>
          </a:xfrm>
          <a:prstGeom prst="rect">
            <a:avLst/>
          </a:prstGeom>
          <a:solidFill>
            <a:srgbClr val="00B050"/>
          </a:solidFill>
          <a:ln w="9525">
            <a:solidFill>
              <a:srgbClr val="FFC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FFC000"/>
                </a:solidFill>
              </a:rPr>
              <a:t>DLC</a:t>
            </a:r>
          </a:p>
          <a:p>
            <a:pPr algn="ctr"/>
            <a:r>
              <a:rPr lang="en-US" sz="1000" b="1" dirty="0">
                <a:solidFill>
                  <a:srgbClr val="FFC000"/>
                </a:solidFill>
              </a:rPr>
              <a:t>SDLC</a:t>
            </a:r>
          </a:p>
          <a:p>
            <a:pPr algn="ctr"/>
            <a:r>
              <a:rPr lang="en-US" sz="1000" b="1" dirty="0">
                <a:solidFill>
                  <a:srgbClr val="FFC000"/>
                </a:solidFill>
              </a:rPr>
              <a:t>HDLC</a:t>
            </a:r>
          </a:p>
        </p:txBody>
      </p:sp>
      <p:sp>
        <p:nvSpPr>
          <p:cNvPr id="53" name="Rectangle 51"/>
          <p:cNvSpPr>
            <a:spLocks noChangeArrowheads="1"/>
          </p:cNvSpPr>
          <p:nvPr/>
        </p:nvSpPr>
        <p:spPr bwMode="auto">
          <a:xfrm>
            <a:off x="7520190" y="3492956"/>
            <a:ext cx="938010" cy="209550"/>
          </a:xfrm>
          <a:prstGeom prst="rect">
            <a:avLst/>
          </a:prstGeom>
          <a:solidFill>
            <a:srgbClr val="00B050"/>
          </a:solidFill>
          <a:ln w="9525">
            <a:solidFill>
              <a:srgbClr val="FFC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b="1" dirty="0"/>
              <a:t>NetBEUI</a:t>
            </a:r>
          </a:p>
        </p:txBody>
      </p:sp>
      <p:sp>
        <p:nvSpPr>
          <p:cNvPr id="54" name="Rectangle 12"/>
          <p:cNvSpPr>
            <a:spLocks noChangeArrowheads="1"/>
          </p:cNvSpPr>
          <p:nvPr/>
        </p:nvSpPr>
        <p:spPr bwMode="auto">
          <a:xfrm>
            <a:off x="7226300" y="420688"/>
            <a:ext cx="641350" cy="152400"/>
          </a:xfrm>
          <a:prstGeom prst="rect">
            <a:avLst/>
          </a:prstGeom>
          <a:solidFill>
            <a:schemeClr val="tx1">
              <a:lumMod val="65000"/>
            </a:schemeClr>
          </a:solidFill>
          <a:ln w="19050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/>
              <a:t>MS</a:t>
            </a:r>
          </a:p>
        </p:txBody>
      </p:sp>
      <p:sp>
        <p:nvSpPr>
          <p:cNvPr id="56" name="Rectangle 12"/>
          <p:cNvSpPr>
            <a:spLocks noChangeArrowheads="1"/>
          </p:cNvSpPr>
          <p:nvPr/>
        </p:nvSpPr>
        <p:spPr bwMode="auto">
          <a:xfrm>
            <a:off x="5375275" y="428626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TCP/IP</a:t>
            </a:r>
          </a:p>
        </p:txBody>
      </p:sp>
      <p:sp>
        <p:nvSpPr>
          <p:cNvPr id="57" name="Rectangle 18"/>
          <p:cNvSpPr>
            <a:spLocks noChangeArrowheads="1"/>
          </p:cNvSpPr>
          <p:nvPr/>
        </p:nvSpPr>
        <p:spPr bwMode="auto">
          <a:xfrm>
            <a:off x="6143625" y="428626"/>
            <a:ext cx="966787" cy="152400"/>
          </a:xfrm>
          <a:prstGeom prst="rect">
            <a:avLst/>
          </a:prstGeom>
          <a:solidFill>
            <a:srgbClr val="00B050"/>
          </a:solidFill>
          <a:ln w="19050">
            <a:solidFill>
              <a:srgbClr val="FFC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/>
              <a:t>IBM</a:t>
            </a:r>
          </a:p>
        </p:txBody>
      </p:sp>
      <p:sp>
        <p:nvSpPr>
          <p:cNvPr id="58" name="TextBox 1"/>
          <p:cNvSpPr txBox="1">
            <a:spLocks noChangeArrowheads="1"/>
          </p:cNvSpPr>
          <p:nvPr/>
        </p:nvSpPr>
        <p:spPr bwMode="auto">
          <a:xfrm>
            <a:off x="3840372" y="339258"/>
            <a:ext cx="895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r>
              <a:rPr lang="en-US" sz="1400" b="1" dirty="0"/>
              <a:t>Legend:</a:t>
            </a:r>
            <a:endParaRPr lang="en-US" b="1" dirty="0"/>
          </a:p>
        </p:txBody>
      </p:sp>
      <p:sp>
        <p:nvSpPr>
          <p:cNvPr id="62" name="Rectangle 8"/>
          <p:cNvSpPr>
            <a:spLocks noChangeArrowheads="1"/>
          </p:cNvSpPr>
          <p:nvPr/>
        </p:nvSpPr>
        <p:spPr bwMode="auto">
          <a:xfrm>
            <a:off x="4398963" y="1229643"/>
            <a:ext cx="641350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DHCP</a:t>
            </a:r>
          </a:p>
        </p:txBody>
      </p:sp>
      <p:sp>
        <p:nvSpPr>
          <p:cNvPr id="63" name="Rectangle 12"/>
          <p:cNvSpPr>
            <a:spLocks noChangeArrowheads="1"/>
          </p:cNvSpPr>
          <p:nvPr/>
        </p:nvSpPr>
        <p:spPr bwMode="auto">
          <a:xfrm>
            <a:off x="1540965" y="5329536"/>
            <a:ext cx="668958" cy="391722"/>
          </a:xfrm>
          <a:prstGeom prst="rect">
            <a:avLst/>
          </a:prstGeom>
          <a:solidFill>
            <a:srgbClr val="0070C0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Project 802</a:t>
            </a:r>
          </a:p>
          <a:p>
            <a:pPr algn="ctr"/>
            <a:r>
              <a:rPr lang="en-US" sz="1000" b="1" dirty="0">
                <a:solidFill>
                  <a:schemeClr val="bg1"/>
                </a:solidFill>
              </a:rPr>
              <a:t>Framing</a:t>
            </a:r>
          </a:p>
        </p:txBody>
      </p:sp>
      <p:sp>
        <p:nvSpPr>
          <p:cNvPr id="70" name="Rectangle 4"/>
          <p:cNvSpPr>
            <a:spLocks noChangeArrowheads="1"/>
          </p:cNvSpPr>
          <p:nvPr/>
        </p:nvSpPr>
        <p:spPr bwMode="auto">
          <a:xfrm>
            <a:off x="4410272" y="756866"/>
            <a:ext cx="641350" cy="152400"/>
          </a:xfrm>
          <a:prstGeom prst="rect">
            <a:avLst/>
          </a:prstGeom>
          <a:solidFill>
            <a:srgbClr val="FFC00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Custom</a:t>
            </a:r>
          </a:p>
        </p:txBody>
      </p:sp>
      <p:sp>
        <p:nvSpPr>
          <p:cNvPr id="71" name="Rectangle 8"/>
          <p:cNvSpPr>
            <a:spLocks noChangeArrowheads="1"/>
          </p:cNvSpPr>
          <p:nvPr/>
        </p:nvSpPr>
        <p:spPr bwMode="auto">
          <a:xfrm>
            <a:off x="4398963" y="1022154"/>
            <a:ext cx="641350" cy="152400"/>
          </a:xfrm>
          <a:prstGeom prst="rect">
            <a:avLst/>
          </a:prstGeom>
          <a:solidFill>
            <a:srgbClr val="99CCFF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LDAP</a:t>
            </a:r>
          </a:p>
        </p:txBody>
      </p:sp>
      <p:sp>
        <p:nvSpPr>
          <p:cNvPr id="72" name="Rectangle 7"/>
          <p:cNvSpPr>
            <a:spLocks noChangeArrowheads="1"/>
          </p:cNvSpPr>
          <p:nvPr/>
        </p:nvSpPr>
        <p:spPr bwMode="auto">
          <a:xfrm>
            <a:off x="2430812" y="1447585"/>
            <a:ext cx="1468437" cy="1430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https</a:t>
            </a:r>
          </a:p>
        </p:txBody>
      </p:sp>
      <p:sp>
        <p:nvSpPr>
          <p:cNvPr id="73" name="Rectangle 19"/>
          <p:cNvSpPr>
            <a:spLocks noChangeArrowheads="1"/>
          </p:cNvSpPr>
          <p:nvPr/>
        </p:nvSpPr>
        <p:spPr bwMode="auto">
          <a:xfrm>
            <a:off x="7838085" y="4291616"/>
            <a:ext cx="620116" cy="244455"/>
          </a:xfrm>
          <a:prstGeom prst="rect">
            <a:avLst/>
          </a:prstGeom>
          <a:solidFill>
            <a:srgbClr val="CC3399"/>
          </a:solidFill>
          <a:ln w="57150">
            <a:solidFill>
              <a:srgbClr val="FF660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75" name="Rectangle 19"/>
          <p:cNvSpPr>
            <a:spLocks noChangeArrowheads="1"/>
          </p:cNvSpPr>
          <p:nvPr/>
        </p:nvSpPr>
        <p:spPr bwMode="auto">
          <a:xfrm>
            <a:off x="4149725" y="6143961"/>
            <a:ext cx="1866900" cy="180637"/>
          </a:xfrm>
          <a:prstGeom prst="rect">
            <a:avLst/>
          </a:prstGeom>
          <a:solidFill>
            <a:srgbClr val="CC3399"/>
          </a:solidFill>
          <a:ln w="57150">
            <a:solidFill>
              <a:srgbClr val="FF660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</a:rPr>
              <a:t>Repeators</a:t>
            </a:r>
            <a:r>
              <a:rPr lang="en-US" sz="1400" b="1" dirty="0">
                <a:solidFill>
                  <a:schemeClr val="bg1"/>
                </a:solidFill>
              </a:rPr>
              <a:t> / Hubs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77" name="Rectangle 19"/>
          <p:cNvSpPr>
            <a:spLocks noChangeArrowheads="1"/>
          </p:cNvSpPr>
          <p:nvPr/>
        </p:nvSpPr>
        <p:spPr bwMode="auto">
          <a:xfrm>
            <a:off x="8736629" y="634241"/>
            <a:ext cx="295831" cy="235585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78" name="Rectangle 19"/>
          <p:cNvSpPr>
            <a:spLocks noChangeArrowheads="1"/>
          </p:cNvSpPr>
          <p:nvPr/>
        </p:nvSpPr>
        <p:spPr bwMode="auto">
          <a:xfrm>
            <a:off x="8730668" y="3182594"/>
            <a:ext cx="295831" cy="830275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T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79" name="Rectangle 19"/>
          <p:cNvSpPr>
            <a:spLocks noChangeArrowheads="1"/>
          </p:cNvSpPr>
          <p:nvPr/>
        </p:nvSpPr>
        <p:spPr bwMode="auto">
          <a:xfrm>
            <a:off x="8736629" y="4164126"/>
            <a:ext cx="295831" cy="896924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I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0" name="Rectangle 19"/>
          <p:cNvSpPr>
            <a:spLocks noChangeArrowheads="1"/>
          </p:cNvSpPr>
          <p:nvPr/>
        </p:nvSpPr>
        <p:spPr bwMode="auto">
          <a:xfrm>
            <a:off x="8736629" y="5307871"/>
            <a:ext cx="295831" cy="1048480"/>
          </a:xfrm>
          <a:prstGeom prst="rect">
            <a:avLst/>
          </a:prstGeom>
          <a:solidFill>
            <a:schemeClr val="tx1"/>
          </a:solidFill>
          <a:ln w="57150">
            <a:solidFill>
              <a:srgbClr val="00B05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N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Rectangle 42"/>
          <p:cNvSpPr>
            <a:spLocks noChangeArrowheads="1"/>
          </p:cNvSpPr>
          <p:nvPr/>
        </p:nvSpPr>
        <p:spPr bwMode="auto">
          <a:xfrm>
            <a:off x="7879406" y="4618798"/>
            <a:ext cx="579255" cy="201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RIP, OSPF</a:t>
            </a:r>
          </a:p>
        </p:txBody>
      </p:sp>
      <p:sp>
        <p:nvSpPr>
          <p:cNvPr id="82" name="Rectangle 41"/>
          <p:cNvSpPr>
            <a:spLocks noChangeArrowheads="1"/>
          </p:cNvSpPr>
          <p:nvPr/>
        </p:nvSpPr>
        <p:spPr bwMode="auto">
          <a:xfrm>
            <a:off x="6087141" y="5873834"/>
            <a:ext cx="293903" cy="270127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0070C0"/>
                </a:solidFill>
              </a:rPr>
              <a:t>ATM</a:t>
            </a:r>
          </a:p>
        </p:txBody>
      </p:sp>
      <p:sp>
        <p:nvSpPr>
          <p:cNvPr id="83" name="Rectangle 41"/>
          <p:cNvSpPr>
            <a:spLocks noChangeArrowheads="1"/>
          </p:cNvSpPr>
          <p:nvPr/>
        </p:nvSpPr>
        <p:spPr bwMode="auto">
          <a:xfrm>
            <a:off x="6469150" y="5867457"/>
            <a:ext cx="205739" cy="276504"/>
          </a:xfrm>
          <a:prstGeom prst="rect">
            <a:avLst/>
          </a:prstGeom>
          <a:solidFill>
            <a:srgbClr val="99CCFF"/>
          </a:solidFill>
          <a:ln w="38100">
            <a:solidFill>
              <a:srgbClr val="FFC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0070C0"/>
                </a:solidFill>
              </a:rPr>
              <a:t>FR</a:t>
            </a:r>
          </a:p>
        </p:txBody>
      </p:sp>
      <p:sp>
        <p:nvSpPr>
          <p:cNvPr id="84" name="Rectangle 41"/>
          <p:cNvSpPr>
            <a:spLocks noChangeArrowheads="1"/>
          </p:cNvSpPr>
          <p:nvPr/>
        </p:nvSpPr>
        <p:spPr bwMode="auto">
          <a:xfrm>
            <a:off x="6747479" y="5862547"/>
            <a:ext cx="307646" cy="276505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0070C0"/>
                </a:solidFill>
              </a:rPr>
              <a:t>Broad</a:t>
            </a:r>
          </a:p>
        </p:txBody>
      </p:sp>
      <p:sp>
        <p:nvSpPr>
          <p:cNvPr id="85" name="Rectangle 41"/>
          <p:cNvSpPr>
            <a:spLocks noChangeArrowheads="1"/>
          </p:cNvSpPr>
          <p:nvPr/>
        </p:nvSpPr>
        <p:spPr bwMode="auto">
          <a:xfrm>
            <a:off x="5625051" y="5846945"/>
            <a:ext cx="373984" cy="243122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0070C0"/>
                </a:solidFill>
              </a:rPr>
              <a:t>SONET</a:t>
            </a:r>
          </a:p>
          <a:p>
            <a:pPr algn="ctr"/>
            <a:r>
              <a:rPr lang="en-US" sz="1000" b="1" dirty="0">
                <a:solidFill>
                  <a:srgbClr val="0070C0"/>
                </a:solidFill>
              </a:rPr>
              <a:t>SDH</a:t>
            </a:r>
          </a:p>
        </p:txBody>
      </p:sp>
      <p:sp>
        <p:nvSpPr>
          <p:cNvPr id="86" name="Rectangle 41"/>
          <p:cNvSpPr>
            <a:spLocks noChangeArrowheads="1"/>
          </p:cNvSpPr>
          <p:nvPr/>
        </p:nvSpPr>
        <p:spPr bwMode="auto">
          <a:xfrm>
            <a:off x="5143815" y="5895681"/>
            <a:ext cx="373984" cy="180637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0070C0"/>
                </a:solidFill>
              </a:rPr>
              <a:t>X.25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2780" y="5337939"/>
            <a:ext cx="10774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5B1C4"/>
                </a:solidFill>
              </a:rPr>
              <a:t>WAN Protos </a:t>
            </a:r>
          </a:p>
          <a:p>
            <a:r>
              <a:rPr lang="en-US" sz="800" b="1" dirty="0">
                <a:solidFill>
                  <a:srgbClr val="F5B1C4"/>
                </a:solidFill>
              </a:rPr>
              <a:t>(Circuit Switching)</a:t>
            </a:r>
            <a:endParaRPr lang="en-US" b="1" dirty="0">
              <a:solidFill>
                <a:srgbClr val="F5B1C4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301258" y="4860357"/>
            <a:ext cx="1026243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C000"/>
                </a:solidFill>
              </a:rPr>
              <a:t>LAN Protos</a:t>
            </a:r>
          </a:p>
          <a:p>
            <a:r>
              <a:rPr lang="en-US" sz="900" b="1" dirty="0">
                <a:solidFill>
                  <a:srgbClr val="FFC000"/>
                </a:solidFill>
              </a:rPr>
              <a:t>(Packet Switching)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90" name="Rectangle 36"/>
          <p:cNvSpPr>
            <a:spLocks noChangeArrowheads="1"/>
          </p:cNvSpPr>
          <p:nvPr/>
        </p:nvSpPr>
        <p:spPr bwMode="auto">
          <a:xfrm>
            <a:off x="2634210" y="5408380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rgbClr val="FFC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ETH</a:t>
            </a:r>
          </a:p>
        </p:txBody>
      </p:sp>
      <p:sp>
        <p:nvSpPr>
          <p:cNvPr id="91" name="Rectangle 36"/>
          <p:cNvSpPr>
            <a:spLocks noChangeArrowheads="1"/>
          </p:cNvSpPr>
          <p:nvPr/>
        </p:nvSpPr>
        <p:spPr bwMode="auto">
          <a:xfrm>
            <a:off x="2678756" y="5577114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rgbClr val="FFC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TR</a:t>
            </a:r>
          </a:p>
        </p:txBody>
      </p:sp>
      <p:sp>
        <p:nvSpPr>
          <p:cNvPr id="92" name="Rectangle 36"/>
          <p:cNvSpPr>
            <a:spLocks noChangeArrowheads="1"/>
          </p:cNvSpPr>
          <p:nvPr/>
        </p:nvSpPr>
        <p:spPr bwMode="auto">
          <a:xfrm>
            <a:off x="2736933" y="5744748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rgbClr val="FFC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FDDI</a:t>
            </a:r>
          </a:p>
        </p:txBody>
      </p:sp>
      <p:sp>
        <p:nvSpPr>
          <p:cNvPr id="87" name="Rectangle 2"/>
          <p:cNvSpPr>
            <a:spLocks noChangeArrowheads="1"/>
          </p:cNvSpPr>
          <p:nvPr/>
        </p:nvSpPr>
        <p:spPr bwMode="auto">
          <a:xfrm>
            <a:off x="5097935" y="1025024"/>
            <a:ext cx="399526" cy="152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NBNS</a:t>
            </a:r>
          </a:p>
        </p:txBody>
      </p:sp>
      <p:sp>
        <p:nvSpPr>
          <p:cNvPr id="95" name="Rectangle 37"/>
          <p:cNvSpPr>
            <a:spLocks noChangeArrowheads="1"/>
          </p:cNvSpPr>
          <p:nvPr/>
        </p:nvSpPr>
        <p:spPr bwMode="auto">
          <a:xfrm>
            <a:off x="1411314" y="2300596"/>
            <a:ext cx="641350" cy="284846"/>
          </a:xfrm>
          <a:prstGeom prst="rect">
            <a:avLst/>
          </a:prstGeom>
          <a:solidFill>
            <a:srgbClr val="99CCFF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VoIP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5" name="Right Brace 104"/>
          <p:cNvSpPr/>
          <p:nvPr/>
        </p:nvSpPr>
        <p:spPr>
          <a:xfrm flipH="1">
            <a:off x="540791" y="5321110"/>
            <a:ext cx="407790" cy="595338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DLL</a:t>
            </a:r>
          </a:p>
        </p:txBody>
      </p:sp>
      <p:sp>
        <p:nvSpPr>
          <p:cNvPr id="106" name="Right Brace 105"/>
          <p:cNvSpPr/>
          <p:nvPr/>
        </p:nvSpPr>
        <p:spPr>
          <a:xfrm rot="5400000" flipH="1">
            <a:off x="8733967" y="302082"/>
            <a:ext cx="340057" cy="346657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8605199" y="35892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DOD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BE35326-3A60-4D56-88D1-348F363EFA00}"/>
              </a:ext>
            </a:extLst>
          </p:cNvPr>
          <p:cNvCxnSpPr/>
          <p:nvPr/>
        </p:nvCxnSpPr>
        <p:spPr>
          <a:xfrm flipV="1">
            <a:off x="158750" y="3078794"/>
            <a:ext cx="8991600" cy="1509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Lightning Bolt 46">
            <a:extLst>
              <a:ext uri="{FF2B5EF4-FFF2-40B4-BE49-F238E27FC236}">
                <a16:creationId xmlns:a16="http://schemas.microsoft.com/office/drawing/2014/main" id="{3E63EF10-013E-4767-8223-2DA3BEECB493}"/>
              </a:ext>
            </a:extLst>
          </p:cNvPr>
          <p:cNvSpPr/>
          <p:nvPr/>
        </p:nvSpPr>
        <p:spPr>
          <a:xfrm flipV="1">
            <a:off x="5148404" y="4367246"/>
            <a:ext cx="489658" cy="1032951"/>
          </a:xfrm>
          <a:prstGeom prst="lightningBolt">
            <a:avLst/>
          </a:prstGeom>
          <a:solidFill>
            <a:srgbClr val="FFC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 41"/>
          <p:cNvSpPr>
            <a:spLocks noChangeArrowheads="1"/>
          </p:cNvSpPr>
          <p:nvPr/>
        </p:nvSpPr>
        <p:spPr bwMode="auto">
          <a:xfrm>
            <a:off x="5057917" y="5055929"/>
            <a:ext cx="562186" cy="308520"/>
          </a:xfrm>
          <a:prstGeom prst="rect">
            <a:avLst/>
          </a:prstGeom>
          <a:solidFill>
            <a:srgbClr val="99CCFF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000" b="1" dirty="0">
              <a:solidFill>
                <a:srgbClr val="00B050"/>
              </a:solidFill>
            </a:endParaRPr>
          </a:p>
        </p:txBody>
      </p:sp>
      <p:sp>
        <p:nvSpPr>
          <p:cNvPr id="96" name="Lightning Bolt 95">
            <a:extLst>
              <a:ext uri="{FF2B5EF4-FFF2-40B4-BE49-F238E27FC236}">
                <a16:creationId xmlns:a16="http://schemas.microsoft.com/office/drawing/2014/main" id="{C29EF083-6689-43ED-BE5A-FED5E82F8302}"/>
              </a:ext>
            </a:extLst>
          </p:cNvPr>
          <p:cNvSpPr/>
          <p:nvPr/>
        </p:nvSpPr>
        <p:spPr>
          <a:xfrm flipH="1" flipV="1">
            <a:off x="6381044" y="4342505"/>
            <a:ext cx="474870" cy="1010037"/>
          </a:xfrm>
          <a:prstGeom prst="lightningBolt">
            <a:avLst/>
          </a:prstGeom>
          <a:solidFill>
            <a:srgbClr val="FFC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lowchart: Document 47">
            <a:extLst>
              <a:ext uri="{FF2B5EF4-FFF2-40B4-BE49-F238E27FC236}">
                <a16:creationId xmlns:a16="http://schemas.microsoft.com/office/drawing/2014/main" id="{B3E5645C-739C-43B4-842F-3140CA5C2C2E}"/>
              </a:ext>
            </a:extLst>
          </p:cNvPr>
          <p:cNvSpPr/>
          <p:nvPr/>
        </p:nvSpPr>
        <p:spPr>
          <a:xfrm>
            <a:off x="2639209" y="4774049"/>
            <a:ext cx="507308" cy="187974"/>
          </a:xfrm>
          <a:prstGeom prst="flowChartDocumen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cache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2417765" y="1694730"/>
            <a:ext cx="1942915" cy="1501574"/>
          </a:xfrm>
          <a:prstGeom prst="rect">
            <a:avLst/>
          </a:prstGeom>
          <a:solidFill>
            <a:srgbClr val="0070C0"/>
          </a:solidFill>
          <a:ln w="9525">
            <a:solidFill>
              <a:schemeClr val="bg1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sz="1800" b="1" dirty="0"/>
              <a:t>  Sockets</a:t>
            </a:r>
            <a:endParaRPr lang="en-US" sz="1000" b="1" dirty="0"/>
          </a:p>
        </p:txBody>
      </p:sp>
      <p:sp>
        <p:nvSpPr>
          <p:cNvPr id="98" name="Rectangle 39">
            <a:extLst>
              <a:ext uri="{FF2B5EF4-FFF2-40B4-BE49-F238E27FC236}">
                <a16:creationId xmlns:a16="http://schemas.microsoft.com/office/drawing/2014/main" id="{506C823C-1612-4580-88FD-3459F27BF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225" y="4044575"/>
            <a:ext cx="1262179" cy="163433"/>
          </a:xfrm>
          <a:prstGeom prst="rect">
            <a:avLst/>
          </a:prstGeom>
          <a:solidFill>
            <a:srgbClr val="99CCFF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NAT</a:t>
            </a:r>
          </a:p>
        </p:txBody>
      </p:sp>
      <p:sp>
        <p:nvSpPr>
          <p:cNvPr id="69" name="Rectangle 19"/>
          <p:cNvSpPr>
            <a:spLocks noChangeArrowheads="1"/>
          </p:cNvSpPr>
          <p:nvPr/>
        </p:nvSpPr>
        <p:spPr bwMode="auto">
          <a:xfrm>
            <a:off x="2430813" y="1770374"/>
            <a:ext cx="434097" cy="14583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rgbClr val="FF000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99" name="Rectangle 22">
            <a:extLst>
              <a:ext uri="{FF2B5EF4-FFF2-40B4-BE49-F238E27FC236}">
                <a16:creationId xmlns:a16="http://schemas.microsoft.com/office/drawing/2014/main" id="{537417AE-629C-43AC-B684-1EFFF1375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249" y="960436"/>
            <a:ext cx="633331" cy="192499"/>
          </a:xfrm>
          <a:prstGeom prst="rect">
            <a:avLst/>
          </a:prstGeom>
          <a:solidFill>
            <a:schemeClr val="tx1">
              <a:lumMod val="65000"/>
            </a:schemeClr>
          </a:solidFill>
          <a:ln w="19050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Browser</a:t>
            </a:r>
          </a:p>
        </p:txBody>
      </p:sp>
      <p:sp>
        <p:nvSpPr>
          <p:cNvPr id="93" name="Rectangle 22"/>
          <p:cNvSpPr>
            <a:spLocks noChangeArrowheads="1"/>
          </p:cNvSpPr>
          <p:nvPr/>
        </p:nvSpPr>
        <p:spPr bwMode="auto">
          <a:xfrm>
            <a:off x="7922599" y="691656"/>
            <a:ext cx="586945" cy="662294"/>
          </a:xfrm>
          <a:prstGeom prst="rect">
            <a:avLst/>
          </a:prstGeom>
          <a:solidFill>
            <a:srgbClr val="99CCFF"/>
          </a:solidFill>
          <a:ln w="57150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SAMBA</a:t>
            </a:r>
          </a:p>
        </p:txBody>
      </p:sp>
      <p:sp>
        <p:nvSpPr>
          <p:cNvPr id="102" name="Rectangle 36">
            <a:extLst>
              <a:ext uri="{FF2B5EF4-FFF2-40B4-BE49-F238E27FC236}">
                <a16:creationId xmlns:a16="http://schemas.microsoft.com/office/drawing/2014/main" id="{050A86C1-0D0D-4CF3-9B19-632ACDC58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112" y="5030051"/>
            <a:ext cx="259372" cy="1117197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 err="1">
                <a:solidFill>
                  <a:srgbClr val="0070C0"/>
                </a:solidFill>
              </a:rPr>
              <a:t>mpls</a:t>
            </a:r>
            <a:endParaRPr lang="en-US" sz="1000" b="1" dirty="0">
              <a:solidFill>
                <a:srgbClr val="0070C0"/>
              </a:solidFill>
            </a:endParaRPr>
          </a:p>
        </p:txBody>
      </p:sp>
      <p:sp>
        <p:nvSpPr>
          <p:cNvPr id="59" name="Rectangle 19"/>
          <p:cNvSpPr>
            <a:spLocks noChangeArrowheads="1"/>
          </p:cNvSpPr>
          <p:nvPr/>
        </p:nvSpPr>
        <p:spPr bwMode="auto">
          <a:xfrm>
            <a:off x="3886758" y="1757456"/>
            <a:ext cx="282375" cy="117076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rgbClr val="FF0000"/>
            </a:solidFill>
            <a:prstDash val="sysDot"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1" name="Rectangle 12">
            <a:extLst>
              <a:ext uri="{FF2B5EF4-FFF2-40B4-BE49-F238E27FC236}">
                <a16:creationId xmlns:a16="http://schemas.microsoft.com/office/drawing/2014/main" id="{889556CE-6347-4ECE-B90A-E34DA0002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3033" y="449785"/>
            <a:ext cx="641350" cy="152400"/>
          </a:xfrm>
          <a:prstGeom prst="rect">
            <a:avLst/>
          </a:prstGeom>
          <a:solidFill>
            <a:srgbClr val="CC3399"/>
          </a:solidFill>
          <a:ln w="38100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/>
              <a:t>HW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A23EF48-C9C8-4FF7-8CF9-6D03CEC43ABE}"/>
              </a:ext>
            </a:extLst>
          </p:cNvPr>
          <p:cNvSpPr/>
          <p:nvPr/>
        </p:nvSpPr>
        <p:spPr>
          <a:xfrm>
            <a:off x="5362260" y="1995812"/>
            <a:ext cx="1241963" cy="918532"/>
          </a:xfrm>
          <a:prstGeom prst="roundRect">
            <a:avLst/>
          </a:prstGeom>
          <a:solidFill>
            <a:schemeClr val="tx1">
              <a:lumMod val="50000"/>
              <a:alpha val="55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604604" y="2084954"/>
            <a:ext cx="379528" cy="209587"/>
          </a:xfrm>
          <a:prstGeom prst="rect">
            <a:avLst/>
          </a:prstGeom>
          <a:solidFill>
            <a:schemeClr val="tx1">
              <a:lumMod val="65000"/>
            </a:schemeClr>
          </a:solidFill>
          <a:ln w="19050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700" b="1" dirty="0">
                <a:solidFill>
                  <a:schemeClr val="bg1"/>
                </a:solidFill>
              </a:rPr>
              <a:t>RDR.SYS</a:t>
            </a: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6053571" y="2092753"/>
            <a:ext cx="365558" cy="204774"/>
          </a:xfrm>
          <a:prstGeom prst="rect">
            <a:avLst/>
          </a:prstGeom>
          <a:solidFill>
            <a:schemeClr val="tx1">
              <a:lumMod val="65000"/>
            </a:schemeClr>
          </a:solidFill>
          <a:ln w="19050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700" b="1" dirty="0">
                <a:solidFill>
                  <a:schemeClr val="bg1"/>
                </a:solidFill>
              </a:rPr>
              <a:t>SRV.SYS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5430742" y="2612986"/>
            <a:ext cx="1121544" cy="151005"/>
          </a:xfrm>
          <a:prstGeom prst="rect">
            <a:avLst/>
          </a:prstGeom>
          <a:solidFill>
            <a:schemeClr val="tx1">
              <a:lumMod val="65000"/>
            </a:schemeClr>
          </a:solidFill>
          <a:ln w="19050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700" b="1" dirty="0">
                <a:solidFill>
                  <a:schemeClr val="bg1"/>
                </a:solidFill>
              </a:rPr>
              <a:t>Transport Driver Interface TDI</a:t>
            </a:r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8013937" y="1442091"/>
            <a:ext cx="444264" cy="1280151"/>
          </a:xfrm>
          <a:prstGeom prst="rect">
            <a:avLst/>
          </a:prstGeom>
          <a:solidFill>
            <a:srgbClr val="00B050"/>
          </a:solidFill>
          <a:ln w="38100">
            <a:solidFill>
              <a:srgbClr val="FFC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900" b="1" dirty="0"/>
              <a:t>NetBIOS</a:t>
            </a:r>
            <a:endParaRPr lang="en-US" sz="1000" b="1" dirty="0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62EF6FCF-E532-46A1-A6C2-96FF48B4A45E}"/>
              </a:ext>
            </a:extLst>
          </p:cNvPr>
          <p:cNvSpPr/>
          <p:nvPr/>
        </p:nvSpPr>
        <p:spPr>
          <a:xfrm>
            <a:off x="5574031" y="864125"/>
            <a:ext cx="828894" cy="895518"/>
          </a:xfrm>
          <a:prstGeom prst="roundRect">
            <a:avLst/>
          </a:prstGeom>
          <a:solidFill>
            <a:schemeClr val="tx1">
              <a:lumMod val="50000"/>
              <a:alpha val="55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8">
            <a:extLst>
              <a:ext uri="{FF2B5EF4-FFF2-40B4-BE49-F238E27FC236}">
                <a16:creationId xmlns:a16="http://schemas.microsoft.com/office/drawing/2014/main" id="{D85ADB66-7B88-435B-A553-CBB4DDA8E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315" y="1442091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LDAPS</a:t>
            </a:r>
          </a:p>
        </p:txBody>
      </p:sp>
      <p:sp>
        <p:nvSpPr>
          <p:cNvPr id="107" name="Rectangle 5">
            <a:extLst>
              <a:ext uri="{FF2B5EF4-FFF2-40B4-BE49-F238E27FC236}">
                <a16:creationId xmlns:a16="http://schemas.microsoft.com/office/drawing/2014/main" id="{8374E417-F4FA-41E3-9FD2-DE612BEBC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4994" y="1434981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ftps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8" name="Rectangle 5">
            <a:extLst>
              <a:ext uri="{FF2B5EF4-FFF2-40B4-BE49-F238E27FC236}">
                <a16:creationId xmlns:a16="http://schemas.microsoft.com/office/drawing/2014/main" id="{902248AB-98BC-4F07-A243-28B23482D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537" y="1434981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 err="1">
                <a:solidFill>
                  <a:schemeClr val="bg1"/>
                </a:solidFill>
              </a:rPr>
              <a:t>ssh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10" name="Rectangle 36">
            <a:extLst>
              <a:ext uri="{FF2B5EF4-FFF2-40B4-BE49-F238E27FC236}">
                <a16:creationId xmlns:a16="http://schemas.microsoft.com/office/drawing/2014/main" id="{3E6B0D14-4258-4235-86BE-EA32695CE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231" y="5742848"/>
            <a:ext cx="294509" cy="634920"/>
          </a:xfrm>
          <a:prstGeom prst="rect">
            <a:avLst/>
          </a:prstGeom>
          <a:solidFill>
            <a:srgbClr val="FF9966"/>
          </a:solidFill>
          <a:ln w="57150">
            <a:solidFill>
              <a:schemeClr val="bg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DRV</a:t>
            </a:r>
          </a:p>
        </p:txBody>
      </p:sp>
      <p:sp>
        <p:nvSpPr>
          <p:cNvPr id="66" name="Rectangle 12"/>
          <p:cNvSpPr>
            <a:spLocks noChangeArrowheads="1"/>
          </p:cNvSpPr>
          <p:nvPr/>
        </p:nvSpPr>
        <p:spPr bwMode="auto">
          <a:xfrm>
            <a:off x="1937013" y="3008307"/>
            <a:ext cx="405172" cy="289122"/>
          </a:xfrm>
          <a:prstGeom prst="rect">
            <a:avLst/>
          </a:prstGeom>
          <a:solidFill>
            <a:srgbClr val="7030A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dirty="0"/>
              <a:t>PORTS</a:t>
            </a:r>
          </a:p>
        </p:txBody>
      </p:sp>
      <p:sp>
        <p:nvSpPr>
          <p:cNvPr id="111" name="Rectangle 36">
            <a:extLst>
              <a:ext uri="{FF2B5EF4-FFF2-40B4-BE49-F238E27FC236}">
                <a16:creationId xmlns:a16="http://schemas.microsoft.com/office/drawing/2014/main" id="{2C318955-E409-4941-8AB7-299557CA4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9777" y="2025200"/>
            <a:ext cx="681358" cy="497066"/>
          </a:xfrm>
          <a:prstGeom prst="rect">
            <a:avLst/>
          </a:prstGeom>
          <a:solidFill>
            <a:srgbClr val="99CCFF"/>
          </a:solidFill>
          <a:ln w="381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dirty="0">
                <a:solidFill>
                  <a:srgbClr val="C00000"/>
                </a:solidFill>
              </a:rPr>
              <a:t>ISAKMP</a:t>
            </a:r>
          </a:p>
          <a:p>
            <a:pPr algn="ctr"/>
            <a:r>
              <a:rPr lang="en-US" sz="1000" dirty="0">
                <a:solidFill>
                  <a:srgbClr val="C00000"/>
                </a:solidFill>
              </a:rPr>
              <a:t>“</a:t>
            </a:r>
            <a:r>
              <a:rPr lang="en-US" sz="800" dirty="0">
                <a:solidFill>
                  <a:srgbClr val="C00000"/>
                </a:solidFill>
              </a:rPr>
              <a:t>Secy. Assn. Svc</a:t>
            </a:r>
            <a:r>
              <a:rPr lang="en-US" sz="10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112" name="Rectangle 41">
            <a:extLst>
              <a:ext uri="{FF2B5EF4-FFF2-40B4-BE49-F238E27FC236}">
                <a16:creationId xmlns:a16="http://schemas.microsoft.com/office/drawing/2014/main" id="{DB9AE40E-D0FA-4AF5-8439-A9A6B4B78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155" y="5036332"/>
            <a:ext cx="705785" cy="178938"/>
          </a:xfrm>
          <a:prstGeom prst="rect">
            <a:avLst/>
          </a:prstGeom>
          <a:solidFill>
            <a:srgbClr val="99CCFF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EAP/EAPOL</a:t>
            </a:r>
          </a:p>
        </p:txBody>
      </p:sp>
      <p:sp>
        <p:nvSpPr>
          <p:cNvPr id="116" name="Rectangle 7">
            <a:extLst>
              <a:ext uri="{FF2B5EF4-FFF2-40B4-BE49-F238E27FC236}">
                <a16:creationId xmlns:a16="http://schemas.microsoft.com/office/drawing/2014/main" id="{E3A5E9C6-46AC-4186-917B-3682F5936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408" y="297164"/>
            <a:ext cx="1468437" cy="3005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Custom Authentication</a:t>
            </a:r>
          </a:p>
          <a:p>
            <a:pPr algn="ctr"/>
            <a:r>
              <a:rPr lang="en-US" sz="1000" b="1" dirty="0">
                <a:solidFill>
                  <a:schemeClr val="bg1"/>
                </a:solidFill>
              </a:rPr>
              <a:t>Above the Net Stack</a:t>
            </a:r>
          </a:p>
        </p:txBody>
      </p:sp>
      <p:sp>
        <p:nvSpPr>
          <p:cNvPr id="117" name="Rectangle 41">
            <a:extLst>
              <a:ext uri="{FF2B5EF4-FFF2-40B4-BE49-F238E27FC236}">
                <a16:creationId xmlns:a16="http://schemas.microsoft.com/office/drawing/2014/main" id="{C74479AB-4147-4310-93FE-3CF0CF547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98" y="5061748"/>
            <a:ext cx="359536" cy="329751"/>
          </a:xfrm>
          <a:prstGeom prst="rect">
            <a:avLst/>
          </a:prstGeom>
          <a:solidFill>
            <a:srgbClr val="99CCFF"/>
          </a:solidFill>
          <a:ln w="38100">
            <a:solidFill>
              <a:schemeClr val="bg1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PAP/</a:t>
            </a:r>
          </a:p>
          <a:p>
            <a:pPr algn="ctr"/>
            <a:r>
              <a:rPr lang="en-US" sz="1000" b="1" dirty="0">
                <a:solidFill>
                  <a:schemeClr val="bg1"/>
                </a:solidFill>
              </a:rPr>
              <a:t>CHAP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D9DC83-DBA4-4822-B138-4C535D982E27}"/>
              </a:ext>
            </a:extLst>
          </p:cNvPr>
          <p:cNvSpPr txBox="1"/>
          <p:nvPr/>
        </p:nvSpPr>
        <p:spPr>
          <a:xfrm>
            <a:off x="262612" y="5972436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HW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0C32C2-4D3D-4BC2-AADE-69E6857D5E01}"/>
              </a:ext>
            </a:extLst>
          </p:cNvPr>
          <p:cNvSpPr txBox="1"/>
          <p:nvPr/>
        </p:nvSpPr>
        <p:spPr>
          <a:xfrm>
            <a:off x="606249" y="277957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SW</a:t>
            </a:r>
          </a:p>
        </p:txBody>
      </p:sp>
      <p:sp>
        <p:nvSpPr>
          <p:cNvPr id="121" name="Rectangle 41">
            <a:extLst>
              <a:ext uri="{FF2B5EF4-FFF2-40B4-BE49-F238E27FC236}">
                <a16:creationId xmlns:a16="http://schemas.microsoft.com/office/drawing/2014/main" id="{F43B154B-5FF7-48CF-99EF-D8E538B93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96" y="5131653"/>
            <a:ext cx="252620" cy="503098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Wi</a:t>
            </a:r>
          </a:p>
          <a:p>
            <a:pPr algn="ctr"/>
            <a:r>
              <a:rPr lang="en-US" sz="1000" b="1" dirty="0">
                <a:solidFill>
                  <a:schemeClr val="bg1"/>
                </a:solidFill>
              </a:rPr>
              <a:t>Max</a:t>
            </a:r>
          </a:p>
        </p:txBody>
      </p:sp>
      <p:sp>
        <p:nvSpPr>
          <p:cNvPr id="122" name="Rectangle 36">
            <a:extLst>
              <a:ext uri="{FF2B5EF4-FFF2-40B4-BE49-F238E27FC236}">
                <a16:creationId xmlns:a16="http://schemas.microsoft.com/office/drawing/2014/main" id="{D790DD74-1CB6-4577-818B-0D6EEDA76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490" y="5255980"/>
            <a:ext cx="641350" cy="152400"/>
          </a:xfrm>
          <a:prstGeom prst="rect">
            <a:avLst/>
          </a:prstGeom>
          <a:solidFill>
            <a:srgbClr val="99CCFF"/>
          </a:solidFill>
          <a:ln w="38100">
            <a:solidFill>
              <a:srgbClr val="FFC000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WL</a:t>
            </a:r>
          </a:p>
        </p:txBody>
      </p:sp>
      <p:sp>
        <p:nvSpPr>
          <p:cNvPr id="125" name="Rectangle 36">
            <a:extLst>
              <a:ext uri="{FF2B5EF4-FFF2-40B4-BE49-F238E27FC236}">
                <a16:creationId xmlns:a16="http://schemas.microsoft.com/office/drawing/2014/main" id="{B589E16A-0C6B-4368-97BF-95A36B2E7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268" y="4035540"/>
            <a:ext cx="1808423" cy="305504"/>
          </a:xfrm>
          <a:prstGeom prst="rect">
            <a:avLst/>
          </a:prstGeom>
          <a:solidFill>
            <a:srgbClr val="99CCFF"/>
          </a:solidFill>
          <a:ln w="381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50" b="1" u="sng" dirty="0">
                <a:solidFill>
                  <a:srgbClr val="C00000"/>
                </a:solidFill>
              </a:rPr>
              <a:t>IPSEC</a:t>
            </a:r>
            <a:endParaRPr lang="en-US" sz="1000" b="1" u="sng" dirty="0">
              <a:solidFill>
                <a:srgbClr val="C00000"/>
              </a:solidFill>
            </a:endParaRPr>
          </a:p>
        </p:txBody>
      </p:sp>
      <p:sp>
        <p:nvSpPr>
          <p:cNvPr id="119" name="Rectangle 34">
            <a:extLst>
              <a:ext uri="{FF2B5EF4-FFF2-40B4-BE49-F238E27FC236}">
                <a16:creationId xmlns:a16="http://schemas.microsoft.com/office/drawing/2014/main" id="{43A3D82A-8A0F-4A03-A6E0-CD5E80F10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6085" y="4112048"/>
            <a:ext cx="438325" cy="167398"/>
          </a:xfrm>
          <a:prstGeom prst="rect">
            <a:avLst/>
          </a:prstGeom>
          <a:solidFill>
            <a:srgbClr val="99CCFF"/>
          </a:solidFill>
          <a:ln w="38100">
            <a:solidFill>
              <a:srgbClr val="FF0000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200" b="1" u="sng" dirty="0">
                <a:solidFill>
                  <a:srgbClr val="C00000"/>
                </a:solidFill>
              </a:rPr>
              <a:t>ESP</a:t>
            </a:r>
            <a:endParaRPr lang="en-US" sz="1000" b="1" u="sng" dirty="0">
              <a:solidFill>
                <a:srgbClr val="C00000"/>
              </a:solidFill>
            </a:endParaRPr>
          </a:p>
        </p:txBody>
      </p:sp>
      <p:sp>
        <p:nvSpPr>
          <p:cNvPr id="120" name="Rectangle 34">
            <a:extLst>
              <a:ext uri="{FF2B5EF4-FFF2-40B4-BE49-F238E27FC236}">
                <a16:creationId xmlns:a16="http://schemas.microsoft.com/office/drawing/2014/main" id="{26C4FCA1-4D5C-47DB-AF2E-E3E97C10C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1553" y="4096128"/>
            <a:ext cx="380622" cy="178996"/>
          </a:xfrm>
          <a:prstGeom prst="rect">
            <a:avLst/>
          </a:prstGeom>
          <a:solidFill>
            <a:srgbClr val="99CCFF"/>
          </a:solidFill>
          <a:ln w="38100">
            <a:solidFill>
              <a:srgbClr val="FF0000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200" b="1" u="sng" dirty="0">
                <a:solidFill>
                  <a:srgbClr val="C00000"/>
                </a:solidFill>
              </a:rPr>
              <a:t>AH</a:t>
            </a:r>
            <a:endParaRPr lang="en-US" sz="1000" b="1" u="sng" dirty="0">
              <a:solidFill>
                <a:srgbClr val="C00000"/>
              </a:solidFill>
            </a:endParaRPr>
          </a:p>
        </p:txBody>
      </p:sp>
      <p:sp>
        <p:nvSpPr>
          <p:cNvPr id="38" name="Rectangle 35"/>
          <p:cNvSpPr>
            <a:spLocks noChangeArrowheads="1"/>
          </p:cNvSpPr>
          <p:nvPr/>
        </p:nvSpPr>
        <p:spPr bwMode="auto">
          <a:xfrm>
            <a:off x="7967327" y="4055101"/>
            <a:ext cx="444362" cy="152400"/>
          </a:xfrm>
          <a:prstGeom prst="rect">
            <a:avLst/>
          </a:prstGeom>
          <a:solidFill>
            <a:srgbClr val="99CCFF"/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IGMP</a:t>
            </a:r>
          </a:p>
        </p:txBody>
      </p:sp>
      <p:sp>
        <p:nvSpPr>
          <p:cNvPr id="126" name="Rectangle 34">
            <a:extLst>
              <a:ext uri="{FF2B5EF4-FFF2-40B4-BE49-F238E27FC236}">
                <a16:creationId xmlns:a16="http://schemas.microsoft.com/office/drawing/2014/main" id="{5E650A45-05D1-435A-9D78-902B906D4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7976" y="4053220"/>
            <a:ext cx="572551" cy="360751"/>
          </a:xfrm>
          <a:prstGeom prst="rect">
            <a:avLst/>
          </a:prstGeom>
          <a:solidFill>
            <a:srgbClr val="99CCFF"/>
          </a:solidFill>
          <a:ln w="381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127" name="Rectangle 41">
            <a:extLst>
              <a:ext uri="{FF2B5EF4-FFF2-40B4-BE49-F238E27FC236}">
                <a16:creationId xmlns:a16="http://schemas.microsoft.com/office/drawing/2014/main" id="{EAF4BE01-D342-4D6A-9F39-784C13B86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3474" y="5851151"/>
            <a:ext cx="373984" cy="241558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rgbClr val="0070C0"/>
                </a:solidFill>
              </a:rPr>
              <a:t>RS-232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01600D9-F152-4495-BB51-2949E90AF890}"/>
              </a:ext>
            </a:extLst>
          </p:cNvPr>
          <p:cNvCxnSpPr>
            <a:stCxn id="45" idx="1"/>
            <a:endCxn id="48" idx="3"/>
          </p:cNvCxnSpPr>
          <p:nvPr/>
        </p:nvCxnSpPr>
        <p:spPr>
          <a:xfrm flipH="1">
            <a:off x="3146517" y="4823016"/>
            <a:ext cx="165598" cy="4502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6003EA-3D66-438A-A07C-ED1FA9981065}"/>
              </a:ext>
            </a:extLst>
          </p:cNvPr>
          <p:cNvCxnSpPr>
            <a:cxnSpLocks/>
          </p:cNvCxnSpPr>
          <p:nvPr/>
        </p:nvCxnSpPr>
        <p:spPr>
          <a:xfrm flipH="1">
            <a:off x="3864890" y="5016314"/>
            <a:ext cx="7088" cy="889338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Flowchart: Direct Access Storage 157">
            <a:extLst>
              <a:ext uri="{FF2B5EF4-FFF2-40B4-BE49-F238E27FC236}">
                <a16:creationId xmlns:a16="http://schemas.microsoft.com/office/drawing/2014/main" id="{1E80CF37-B330-4233-95BF-3F22293ED44A}"/>
              </a:ext>
            </a:extLst>
          </p:cNvPr>
          <p:cNvSpPr/>
          <p:nvPr/>
        </p:nvSpPr>
        <p:spPr>
          <a:xfrm>
            <a:off x="4653033" y="4248024"/>
            <a:ext cx="511878" cy="133592"/>
          </a:xfrm>
          <a:prstGeom prst="flowChartMagneticDrum">
            <a:avLst/>
          </a:prstGeom>
          <a:solidFill>
            <a:srgbClr val="F5B1C4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4888B8E-7CB1-4C90-93B5-3DE0DE7818EC}"/>
              </a:ext>
            </a:extLst>
          </p:cNvPr>
          <p:cNvSpPr txBox="1"/>
          <p:nvPr/>
        </p:nvSpPr>
        <p:spPr>
          <a:xfrm>
            <a:off x="4722337" y="4013566"/>
            <a:ext cx="4347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u="sng" dirty="0">
                <a:solidFill>
                  <a:srgbClr val="C00000"/>
                </a:solidFill>
              </a:rPr>
              <a:t>GRE</a:t>
            </a:r>
            <a:endParaRPr lang="en-US" sz="900" b="1" u="sng" dirty="0">
              <a:solidFill>
                <a:srgbClr val="C00000"/>
              </a:solidFill>
            </a:endParaRPr>
          </a:p>
        </p:txBody>
      </p:sp>
      <p:sp>
        <p:nvSpPr>
          <p:cNvPr id="160" name="Flowchart: Direct Access Storage 159">
            <a:extLst>
              <a:ext uri="{FF2B5EF4-FFF2-40B4-BE49-F238E27FC236}">
                <a16:creationId xmlns:a16="http://schemas.microsoft.com/office/drawing/2014/main" id="{EB17F89C-1509-4AB8-B936-2C05BD203353}"/>
              </a:ext>
            </a:extLst>
          </p:cNvPr>
          <p:cNvSpPr/>
          <p:nvPr/>
        </p:nvSpPr>
        <p:spPr>
          <a:xfrm>
            <a:off x="5097935" y="5214469"/>
            <a:ext cx="511878" cy="126894"/>
          </a:xfrm>
          <a:prstGeom prst="flowChartMagneticDrum">
            <a:avLst/>
          </a:prstGeom>
          <a:solidFill>
            <a:srgbClr val="F5B1C4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DE0D273A-2D36-4A28-AEE0-89EC2106C95B}"/>
              </a:ext>
            </a:extLst>
          </p:cNvPr>
          <p:cNvSpPr txBox="1"/>
          <p:nvPr/>
        </p:nvSpPr>
        <p:spPr>
          <a:xfrm>
            <a:off x="5123458" y="5006608"/>
            <a:ext cx="4299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</a:rPr>
              <a:t>PPTP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2531742-149C-4C77-B575-6B700FDD55B7}"/>
              </a:ext>
            </a:extLst>
          </p:cNvPr>
          <p:cNvSpPr txBox="1"/>
          <p:nvPr/>
        </p:nvSpPr>
        <p:spPr>
          <a:xfrm>
            <a:off x="6424661" y="5182412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</a:rPr>
              <a:t>L2TP</a:t>
            </a:r>
          </a:p>
        </p:txBody>
      </p:sp>
      <p:sp>
        <p:nvSpPr>
          <p:cNvPr id="180" name="Cylinder 179">
            <a:extLst>
              <a:ext uri="{FF2B5EF4-FFF2-40B4-BE49-F238E27FC236}">
                <a16:creationId xmlns:a16="http://schemas.microsoft.com/office/drawing/2014/main" id="{51B9B758-E865-4E4C-841F-DE1C32B647BA}"/>
              </a:ext>
            </a:extLst>
          </p:cNvPr>
          <p:cNvSpPr/>
          <p:nvPr/>
        </p:nvSpPr>
        <p:spPr>
          <a:xfrm>
            <a:off x="3957567" y="1823994"/>
            <a:ext cx="140755" cy="1059464"/>
          </a:xfrm>
          <a:prstGeom prst="can">
            <a:avLst/>
          </a:prstGeom>
          <a:solidFill>
            <a:srgbClr val="F5B1C4"/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B34B81CB-D21D-493B-964B-2DC00460FE2C}"/>
              </a:ext>
            </a:extLst>
          </p:cNvPr>
          <p:cNvSpPr txBox="1"/>
          <p:nvPr/>
        </p:nvSpPr>
        <p:spPr>
          <a:xfrm>
            <a:off x="2800923" y="2609266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TLS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6B0DD7B-113E-4F7B-A34B-E9AA8B66A956}"/>
              </a:ext>
            </a:extLst>
          </p:cNvPr>
          <p:cNvSpPr txBox="1"/>
          <p:nvPr/>
        </p:nvSpPr>
        <p:spPr>
          <a:xfrm>
            <a:off x="3981775" y="2030610"/>
            <a:ext cx="409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SSL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183" name="Cylinder 182">
            <a:extLst>
              <a:ext uri="{FF2B5EF4-FFF2-40B4-BE49-F238E27FC236}">
                <a16:creationId xmlns:a16="http://schemas.microsoft.com/office/drawing/2014/main" id="{3C3E89AA-C9E3-4785-817F-D37DA9D76938}"/>
              </a:ext>
            </a:extLst>
          </p:cNvPr>
          <p:cNvSpPr/>
          <p:nvPr/>
        </p:nvSpPr>
        <p:spPr>
          <a:xfrm>
            <a:off x="2572087" y="1718370"/>
            <a:ext cx="143751" cy="1426838"/>
          </a:xfrm>
          <a:prstGeom prst="can">
            <a:avLst/>
          </a:prstGeom>
          <a:solidFill>
            <a:srgbClr val="F5B1C4"/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39">
            <a:extLst>
              <a:ext uri="{FF2B5EF4-FFF2-40B4-BE49-F238E27FC236}">
                <a16:creationId xmlns:a16="http://schemas.microsoft.com/office/drawing/2014/main" id="{EE5F1162-72C9-4C37-AE2A-A13A9C844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226" y="4481338"/>
            <a:ext cx="267280" cy="155723"/>
          </a:xfrm>
          <a:prstGeom prst="rect">
            <a:avLst/>
          </a:prstGeom>
          <a:solidFill>
            <a:srgbClr val="99CCFF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BGP</a:t>
            </a:r>
          </a:p>
        </p:txBody>
      </p:sp>
      <p:sp>
        <p:nvSpPr>
          <p:cNvPr id="185" name="Rectangle 8">
            <a:extLst>
              <a:ext uri="{FF2B5EF4-FFF2-40B4-BE49-F238E27FC236}">
                <a16:creationId xmlns:a16="http://schemas.microsoft.com/office/drawing/2014/main" id="{6D6A36F4-B7BC-4D9F-8C94-D37C9A2D1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672" y="755406"/>
            <a:ext cx="641350" cy="152400"/>
          </a:xfrm>
          <a:prstGeom prst="rect">
            <a:avLst/>
          </a:prstGeom>
          <a:solidFill>
            <a:srgbClr val="99CCFF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.onion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B4A554A-E0B8-4A32-8D00-0319EB7D150A}"/>
              </a:ext>
            </a:extLst>
          </p:cNvPr>
          <p:cNvSpPr txBox="1"/>
          <p:nvPr/>
        </p:nvSpPr>
        <p:spPr>
          <a:xfrm>
            <a:off x="4192498" y="66984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ISO/OSI Model</a:t>
            </a: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C962929C-47BF-46E4-AB4B-A22E8FED06CB}"/>
              </a:ext>
            </a:extLst>
          </p:cNvPr>
          <p:cNvCxnSpPr>
            <a:cxnSpLocks/>
            <a:stCxn id="44" idx="0"/>
            <a:endCxn id="126" idx="2"/>
          </p:cNvCxnSpPr>
          <p:nvPr/>
        </p:nvCxnSpPr>
        <p:spPr>
          <a:xfrm flipH="1" flipV="1">
            <a:off x="4904252" y="4413971"/>
            <a:ext cx="75430" cy="1040990"/>
          </a:xfrm>
          <a:prstGeom prst="straightConnector1">
            <a:avLst/>
          </a:prstGeom>
          <a:ln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2F53499C-BB86-4BD1-8738-055C39A56D59}"/>
              </a:ext>
            </a:extLst>
          </p:cNvPr>
          <p:cNvCxnSpPr>
            <a:cxnSpLocks/>
            <a:stCxn id="44" idx="0"/>
          </p:cNvCxnSpPr>
          <p:nvPr/>
        </p:nvCxnSpPr>
        <p:spPr>
          <a:xfrm flipH="1" flipV="1">
            <a:off x="4351311" y="4695710"/>
            <a:ext cx="628371" cy="759251"/>
          </a:xfrm>
          <a:prstGeom prst="straightConnector1">
            <a:avLst/>
          </a:prstGeom>
          <a:ln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Rectangle 36">
            <a:extLst>
              <a:ext uri="{FF2B5EF4-FFF2-40B4-BE49-F238E27FC236}">
                <a16:creationId xmlns:a16="http://schemas.microsoft.com/office/drawing/2014/main" id="{D693A687-18F7-4B5D-9926-4CFEAB408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057" y="5058870"/>
            <a:ext cx="565763" cy="346997"/>
          </a:xfrm>
          <a:prstGeom prst="rect">
            <a:avLst/>
          </a:prstGeom>
          <a:solidFill>
            <a:srgbClr val="99CCFF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000" b="1" dirty="0">
              <a:solidFill>
                <a:srgbClr val="00B050"/>
              </a:solidFill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8F400FA8-B704-4B92-99EF-FBA209B81E7F}"/>
              </a:ext>
            </a:extLst>
          </p:cNvPr>
          <p:cNvSpPr txBox="1"/>
          <p:nvPr/>
        </p:nvSpPr>
        <p:spPr>
          <a:xfrm>
            <a:off x="6444834" y="5016536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</a:rPr>
              <a:t>L2TP</a:t>
            </a:r>
          </a:p>
        </p:txBody>
      </p:sp>
      <p:sp>
        <p:nvSpPr>
          <p:cNvPr id="218" name="Flowchart: Direct Access Storage 217">
            <a:extLst>
              <a:ext uri="{FF2B5EF4-FFF2-40B4-BE49-F238E27FC236}">
                <a16:creationId xmlns:a16="http://schemas.microsoft.com/office/drawing/2014/main" id="{6EBAEDEB-3AF3-42AE-B256-AFDDDCF8B8D0}"/>
              </a:ext>
            </a:extLst>
          </p:cNvPr>
          <p:cNvSpPr/>
          <p:nvPr/>
        </p:nvSpPr>
        <p:spPr>
          <a:xfrm>
            <a:off x="6389680" y="5240954"/>
            <a:ext cx="511878" cy="131358"/>
          </a:xfrm>
          <a:prstGeom prst="flowChartMagneticDrum">
            <a:avLst/>
          </a:prstGeom>
          <a:solidFill>
            <a:srgbClr val="F5B1C4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1"/>
          <p:cNvSpPr>
            <a:spLocks noChangeArrowheads="1"/>
          </p:cNvSpPr>
          <p:nvPr/>
        </p:nvSpPr>
        <p:spPr bwMode="auto">
          <a:xfrm>
            <a:off x="4792690" y="5454961"/>
            <a:ext cx="373984" cy="137785"/>
          </a:xfrm>
          <a:prstGeom prst="rect">
            <a:avLst/>
          </a:prstGeom>
          <a:solidFill>
            <a:srgbClr val="99CCFF"/>
          </a:solidFill>
          <a:ln w="38100">
            <a:solidFill>
              <a:srgbClr val="F5B1C4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PPP</a:t>
            </a:r>
          </a:p>
        </p:txBody>
      </p:sp>
      <p:sp>
        <p:nvSpPr>
          <p:cNvPr id="234" name="Cylinder 233">
            <a:extLst>
              <a:ext uri="{FF2B5EF4-FFF2-40B4-BE49-F238E27FC236}">
                <a16:creationId xmlns:a16="http://schemas.microsoft.com/office/drawing/2014/main" id="{8FC393F6-5DD2-49F4-B840-AC31066E39D7}"/>
              </a:ext>
            </a:extLst>
          </p:cNvPr>
          <p:cNvSpPr/>
          <p:nvPr/>
        </p:nvSpPr>
        <p:spPr>
          <a:xfrm>
            <a:off x="7083964" y="1735483"/>
            <a:ext cx="338802" cy="3685462"/>
          </a:xfrm>
          <a:prstGeom prst="can">
            <a:avLst/>
          </a:prstGeom>
          <a:solidFill>
            <a:srgbClr val="F5B1C4"/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41">
            <a:extLst>
              <a:ext uri="{FF2B5EF4-FFF2-40B4-BE49-F238E27FC236}">
                <a16:creationId xmlns:a16="http://schemas.microsoft.com/office/drawing/2014/main" id="{7B45859E-24C2-4869-9932-D3025ED77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2082" y="5020761"/>
            <a:ext cx="233347" cy="348305"/>
          </a:xfrm>
          <a:prstGeom prst="rect">
            <a:avLst/>
          </a:prstGeom>
          <a:solidFill>
            <a:srgbClr val="99CCFF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PEAP</a:t>
            </a:r>
            <a:endParaRPr lang="en-US" sz="1000" b="1" dirty="0">
              <a:solidFill>
                <a:srgbClr val="FF0000"/>
              </a:solidFill>
            </a:endParaRPr>
          </a:p>
        </p:txBody>
      </p:sp>
      <p:sp>
        <p:nvSpPr>
          <p:cNvPr id="115" name="Rectangle 41">
            <a:extLst>
              <a:ext uri="{FF2B5EF4-FFF2-40B4-BE49-F238E27FC236}">
                <a16:creationId xmlns:a16="http://schemas.microsoft.com/office/drawing/2014/main" id="{D63315C3-A572-4E2E-B88F-EB01F1C63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051" y="4630895"/>
            <a:ext cx="261001" cy="324302"/>
          </a:xfrm>
          <a:prstGeom prst="rect">
            <a:avLst/>
          </a:prstGeom>
          <a:solidFill>
            <a:srgbClr val="99CCFF"/>
          </a:solidFill>
          <a:ln w="38100">
            <a:solidFill>
              <a:srgbClr val="00B05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700" b="1" dirty="0">
                <a:solidFill>
                  <a:srgbClr val="00B0F0"/>
                </a:solidFill>
              </a:rPr>
              <a:t>Cisco</a:t>
            </a:r>
          </a:p>
          <a:p>
            <a:pPr algn="ctr"/>
            <a:r>
              <a:rPr lang="en-US" sz="700" b="1" dirty="0">
                <a:solidFill>
                  <a:srgbClr val="00B0F0"/>
                </a:solidFill>
              </a:rPr>
              <a:t>LEAP</a:t>
            </a: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46EEA8AC-7D6B-4C5A-97EE-7DCBF1D9C2CF}"/>
              </a:ext>
            </a:extLst>
          </p:cNvPr>
          <p:cNvCxnSpPr>
            <a:cxnSpLocks/>
          </p:cNvCxnSpPr>
          <p:nvPr/>
        </p:nvCxnSpPr>
        <p:spPr>
          <a:xfrm flipV="1">
            <a:off x="7095668" y="4340421"/>
            <a:ext cx="321044" cy="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BDAFB103-EE0A-4007-831F-2FD0AB9C600A}"/>
              </a:ext>
            </a:extLst>
          </p:cNvPr>
          <p:cNvCxnSpPr>
            <a:stCxn id="127" idx="0"/>
            <a:endCxn id="47" idx="0"/>
          </p:cNvCxnSpPr>
          <p:nvPr/>
        </p:nvCxnSpPr>
        <p:spPr>
          <a:xfrm rot="5400000" flipH="1" flipV="1">
            <a:off x="4684985" y="5195678"/>
            <a:ext cx="450954" cy="859993"/>
          </a:xfrm>
          <a:prstGeom prst="bentConnector3">
            <a:avLst>
              <a:gd name="adj1" fmla="val 28274"/>
            </a:avLst>
          </a:prstGeom>
          <a:ln w="12700"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7E030FFA-1C6C-4D67-8251-E9F33F1AACD6}"/>
              </a:ext>
            </a:extLst>
          </p:cNvPr>
          <p:cNvCxnSpPr>
            <a:stCxn id="44" idx="3"/>
          </p:cNvCxnSpPr>
          <p:nvPr/>
        </p:nvCxnSpPr>
        <p:spPr>
          <a:xfrm flipV="1">
            <a:off x="5166674" y="5523853"/>
            <a:ext cx="171747" cy="1"/>
          </a:xfrm>
          <a:prstGeom prst="straightConnector1">
            <a:avLst/>
          </a:prstGeom>
          <a:ln w="12700"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655A6685-6E1F-486C-8ECC-4E0E07D2108E}"/>
              </a:ext>
            </a:extLst>
          </p:cNvPr>
          <p:cNvCxnSpPr>
            <a:stCxn id="86" idx="0"/>
          </p:cNvCxnSpPr>
          <p:nvPr/>
        </p:nvCxnSpPr>
        <p:spPr>
          <a:xfrm flipV="1">
            <a:off x="5330807" y="5621323"/>
            <a:ext cx="584" cy="274358"/>
          </a:xfrm>
          <a:prstGeom prst="straightConnector1">
            <a:avLst/>
          </a:prstGeom>
          <a:ln w="12700"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: Elbow 248">
            <a:extLst>
              <a:ext uri="{FF2B5EF4-FFF2-40B4-BE49-F238E27FC236}">
                <a16:creationId xmlns:a16="http://schemas.microsoft.com/office/drawing/2014/main" id="{BB9EE845-E3D3-40EA-B757-ED9B98D0F715}"/>
              </a:ext>
            </a:extLst>
          </p:cNvPr>
          <p:cNvCxnSpPr>
            <a:cxnSpLocks/>
            <a:stCxn id="85" idx="0"/>
            <a:endCxn id="47" idx="0"/>
          </p:cNvCxnSpPr>
          <p:nvPr/>
        </p:nvCxnSpPr>
        <p:spPr>
          <a:xfrm rot="16200000" flipV="1">
            <a:off x="5352877" y="5387779"/>
            <a:ext cx="446748" cy="471584"/>
          </a:xfrm>
          <a:prstGeom prst="bentConnector3">
            <a:avLst>
              <a:gd name="adj1" fmla="val 27258"/>
            </a:avLst>
          </a:prstGeom>
          <a:ln w="12700"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: Elbow 252">
            <a:extLst>
              <a:ext uri="{FF2B5EF4-FFF2-40B4-BE49-F238E27FC236}">
                <a16:creationId xmlns:a16="http://schemas.microsoft.com/office/drawing/2014/main" id="{635B88E9-BCE4-4834-AA11-35B4FB86DA2B}"/>
              </a:ext>
            </a:extLst>
          </p:cNvPr>
          <p:cNvCxnSpPr>
            <a:cxnSpLocks/>
            <a:stCxn id="82" idx="0"/>
          </p:cNvCxnSpPr>
          <p:nvPr/>
        </p:nvCxnSpPr>
        <p:spPr>
          <a:xfrm rot="16200000" flipV="1">
            <a:off x="5931640" y="5571381"/>
            <a:ext cx="159226" cy="445680"/>
          </a:xfrm>
          <a:prstGeom prst="bentConnector2">
            <a:avLst/>
          </a:prstGeom>
          <a:ln w="12700"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: Elbow 256">
            <a:extLst>
              <a:ext uri="{FF2B5EF4-FFF2-40B4-BE49-F238E27FC236}">
                <a16:creationId xmlns:a16="http://schemas.microsoft.com/office/drawing/2014/main" id="{1C43F52C-CA1D-42B7-97E2-294709A35D42}"/>
              </a:ext>
            </a:extLst>
          </p:cNvPr>
          <p:cNvCxnSpPr>
            <a:cxnSpLocks/>
            <a:stCxn id="83" idx="0"/>
          </p:cNvCxnSpPr>
          <p:nvPr/>
        </p:nvCxnSpPr>
        <p:spPr>
          <a:xfrm rot="16200000" flipV="1">
            <a:off x="6332972" y="5628409"/>
            <a:ext cx="145760" cy="332336"/>
          </a:xfrm>
          <a:prstGeom prst="bentConnector2">
            <a:avLst/>
          </a:prstGeom>
          <a:ln w="12700"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: Elbow 258">
            <a:extLst>
              <a:ext uri="{FF2B5EF4-FFF2-40B4-BE49-F238E27FC236}">
                <a16:creationId xmlns:a16="http://schemas.microsoft.com/office/drawing/2014/main" id="{56FD9D06-A48C-48C3-9D45-C0655A625297}"/>
              </a:ext>
            </a:extLst>
          </p:cNvPr>
          <p:cNvCxnSpPr>
            <a:cxnSpLocks/>
            <a:stCxn id="84" idx="0"/>
          </p:cNvCxnSpPr>
          <p:nvPr/>
        </p:nvCxnSpPr>
        <p:spPr>
          <a:xfrm rot="16200000" flipV="1">
            <a:off x="6671080" y="5632325"/>
            <a:ext cx="140456" cy="319988"/>
          </a:xfrm>
          <a:prstGeom prst="bentConnector2">
            <a:avLst/>
          </a:prstGeom>
          <a:ln w="12700"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B2BDF42A-C647-43D5-95BD-F8E593AB8E2D}"/>
              </a:ext>
            </a:extLst>
          </p:cNvPr>
          <p:cNvCxnSpPr>
            <a:cxnSpLocks/>
          </p:cNvCxnSpPr>
          <p:nvPr/>
        </p:nvCxnSpPr>
        <p:spPr>
          <a:xfrm flipH="1" flipV="1">
            <a:off x="6881904" y="5706011"/>
            <a:ext cx="782208" cy="5852"/>
          </a:xfrm>
          <a:prstGeom prst="straightConnector1">
            <a:avLst/>
          </a:prstGeom>
          <a:ln w="12700">
            <a:solidFill>
              <a:srgbClr val="F5B1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19"/>
          <p:cNvSpPr>
            <a:spLocks noChangeArrowheads="1"/>
          </p:cNvSpPr>
          <p:nvPr/>
        </p:nvSpPr>
        <p:spPr bwMode="auto">
          <a:xfrm>
            <a:off x="3641165" y="5445192"/>
            <a:ext cx="636608" cy="343334"/>
          </a:xfrm>
          <a:prstGeom prst="rect">
            <a:avLst/>
          </a:prstGeom>
          <a:solidFill>
            <a:srgbClr val="CC3399"/>
          </a:solidFill>
          <a:ln w="57150">
            <a:solidFill>
              <a:srgbClr val="FF660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Bridges/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</a:rPr>
              <a:t>Switches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77" name="Rectangle 12">
            <a:extLst>
              <a:ext uri="{FF2B5EF4-FFF2-40B4-BE49-F238E27FC236}">
                <a16:creationId xmlns:a16="http://schemas.microsoft.com/office/drawing/2014/main" id="{F10BF6F5-6B7F-4950-92E7-6DCC8E9F6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440" y="415080"/>
            <a:ext cx="603688" cy="160315"/>
          </a:xfrm>
          <a:prstGeom prst="rect">
            <a:avLst/>
          </a:prstGeom>
          <a:solidFill>
            <a:srgbClr val="99CCFF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b="1" dirty="0" err="1">
                <a:solidFill>
                  <a:srgbClr val="C00000"/>
                </a:solidFill>
              </a:rPr>
              <a:t>secy</a:t>
            </a:r>
            <a:endParaRPr lang="en-US" sz="1000" b="1" dirty="0">
              <a:solidFill>
                <a:srgbClr val="C00000"/>
              </a:solidFill>
            </a:endParaRPr>
          </a:p>
        </p:txBody>
      </p:sp>
      <p:sp>
        <p:nvSpPr>
          <p:cNvPr id="142" name="Lightning Bolt 141">
            <a:extLst>
              <a:ext uri="{FF2B5EF4-FFF2-40B4-BE49-F238E27FC236}">
                <a16:creationId xmlns:a16="http://schemas.microsoft.com/office/drawing/2014/main" id="{4EADA694-368B-4B9C-A90D-3379B4CBFF3E}"/>
              </a:ext>
            </a:extLst>
          </p:cNvPr>
          <p:cNvSpPr/>
          <p:nvPr/>
        </p:nvSpPr>
        <p:spPr>
          <a:xfrm flipV="1">
            <a:off x="5708248" y="4361599"/>
            <a:ext cx="489658" cy="1032951"/>
          </a:xfrm>
          <a:prstGeom prst="lightningBolt">
            <a:avLst/>
          </a:prstGeom>
          <a:solidFill>
            <a:srgbClr val="FFC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6" name="Rectangle 36">
            <a:extLst>
              <a:ext uri="{FF2B5EF4-FFF2-40B4-BE49-F238E27FC236}">
                <a16:creationId xmlns:a16="http://schemas.microsoft.com/office/drawing/2014/main" id="{3F15F25D-44C7-416D-88CE-DACDB8D9A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8633" y="5058477"/>
            <a:ext cx="565763" cy="346997"/>
          </a:xfrm>
          <a:prstGeom prst="rect">
            <a:avLst/>
          </a:prstGeom>
          <a:solidFill>
            <a:srgbClr val="99CCFF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000" b="1" dirty="0">
              <a:solidFill>
                <a:srgbClr val="00B050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5A4E573-366E-42C6-BE03-571164A720DC}"/>
              </a:ext>
            </a:extLst>
          </p:cNvPr>
          <p:cNvSpPr txBox="1"/>
          <p:nvPr/>
        </p:nvSpPr>
        <p:spPr>
          <a:xfrm>
            <a:off x="5788410" y="5016143"/>
            <a:ext cx="3529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</a:rPr>
              <a:t>L2F</a:t>
            </a:r>
          </a:p>
        </p:txBody>
      </p:sp>
      <p:sp>
        <p:nvSpPr>
          <p:cNvPr id="178" name="Flowchart: Direct Access Storage 177">
            <a:extLst>
              <a:ext uri="{FF2B5EF4-FFF2-40B4-BE49-F238E27FC236}">
                <a16:creationId xmlns:a16="http://schemas.microsoft.com/office/drawing/2014/main" id="{CC2F75FF-2DFC-4520-B083-A862D1D37BB8}"/>
              </a:ext>
            </a:extLst>
          </p:cNvPr>
          <p:cNvSpPr/>
          <p:nvPr/>
        </p:nvSpPr>
        <p:spPr>
          <a:xfrm>
            <a:off x="5744369" y="5228132"/>
            <a:ext cx="511878" cy="142557"/>
          </a:xfrm>
          <a:prstGeom prst="flowChartMagneticDrum">
            <a:avLst/>
          </a:prstGeom>
          <a:solidFill>
            <a:srgbClr val="F5B1C4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53F21F70-F94F-45FB-88A4-997B71C52041}"/>
              </a:ext>
            </a:extLst>
          </p:cNvPr>
          <p:cNvSpPr/>
          <p:nvPr/>
        </p:nvSpPr>
        <p:spPr>
          <a:xfrm>
            <a:off x="6531300" y="4373103"/>
            <a:ext cx="498032" cy="170835"/>
          </a:xfrm>
          <a:prstGeom prst="left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9DBE200-2153-4571-BD76-9F0473026277}"/>
              </a:ext>
            </a:extLst>
          </p:cNvPr>
          <p:cNvCxnSpPr>
            <a:cxnSpLocks/>
          </p:cNvCxnSpPr>
          <p:nvPr/>
        </p:nvCxnSpPr>
        <p:spPr>
          <a:xfrm flipV="1">
            <a:off x="7093523" y="3196304"/>
            <a:ext cx="338802" cy="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FE514AA-38C2-40B8-8390-0F0E040A6ECF}"/>
              </a:ext>
            </a:extLst>
          </p:cNvPr>
          <p:cNvSpPr/>
          <p:nvPr/>
        </p:nvSpPr>
        <p:spPr>
          <a:xfrm>
            <a:off x="6199747" y="6258284"/>
            <a:ext cx="74571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 b="1" dirty="0">
                <a:solidFill>
                  <a:srgbClr val="FFC000"/>
                </a:solidFill>
              </a:rPr>
              <a:t>(Packet Switching)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6EE6134-74F2-4C09-8547-70D7ABCEC3A9}"/>
              </a:ext>
            </a:extLst>
          </p:cNvPr>
          <p:cNvCxnSpPr>
            <a:cxnSpLocks/>
            <a:endCxn id="83" idx="2"/>
          </p:cNvCxnSpPr>
          <p:nvPr/>
        </p:nvCxnSpPr>
        <p:spPr>
          <a:xfrm flipH="1" flipV="1">
            <a:off x="6572020" y="6143961"/>
            <a:ext cx="6282" cy="15502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2">
            <a:extLst>
              <a:ext uri="{FF2B5EF4-FFF2-40B4-BE49-F238E27FC236}">
                <a16:creationId xmlns:a16="http://schemas.microsoft.com/office/drawing/2014/main" id="{C0BB2221-7DFA-4C1B-83B4-B45DB1F9B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0447" y="2998379"/>
            <a:ext cx="405172" cy="289122"/>
          </a:xfrm>
          <a:prstGeom prst="rect">
            <a:avLst/>
          </a:prstGeom>
          <a:solidFill>
            <a:srgbClr val="7030A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dirty="0"/>
              <a:t>PORTS</a:t>
            </a:r>
          </a:p>
        </p:txBody>
      </p:sp>
      <p:sp>
        <p:nvSpPr>
          <p:cNvPr id="154" name="Rectangle 7">
            <a:extLst>
              <a:ext uri="{FF2B5EF4-FFF2-40B4-BE49-F238E27FC236}">
                <a16:creationId xmlns:a16="http://schemas.microsoft.com/office/drawing/2014/main" id="{1BE291CE-CB3E-44FC-86CA-4826FCC80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2475" y="293213"/>
            <a:ext cx="505125" cy="3005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TOR</a:t>
            </a:r>
          </a:p>
          <a:p>
            <a:pPr algn="ctr"/>
            <a:r>
              <a:rPr lang="en-US" sz="1000" b="1" dirty="0">
                <a:solidFill>
                  <a:schemeClr val="bg1"/>
                </a:solidFill>
              </a:rPr>
              <a:t>Browser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468EED4-81F0-4EC7-9CE9-09B7C3D34B76}"/>
              </a:ext>
            </a:extLst>
          </p:cNvPr>
          <p:cNvCxnSpPr>
            <a:stCxn id="185" idx="2"/>
            <a:endCxn id="183" idx="1"/>
          </p:cNvCxnSpPr>
          <p:nvPr/>
        </p:nvCxnSpPr>
        <p:spPr>
          <a:xfrm>
            <a:off x="1738347" y="907806"/>
            <a:ext cx="905616" cy="8105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386CCF7-F889-40DC-80CC-26AA6097EC0E}"/>
              </a:ext>
            </a:extLst>
          </p:cNvPr>
          <p:cNvCxnSpPr>
            <a:stCxn id="154" idx="2"/>
            <a:endCxn id="185" idx="0"/>
          </p:cNvCxnSpPr>
          <p:nvPr/>
        </p:nvCxnSpPr>
        <p:spPr>
          <a:xfrm>
            <a:off x="1735038" y="593789"/>
            <a:ext cx="3309" cy="1616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036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loud 5"/>
          <p:cNvSpPr/>
          <p:nvPr/>
        </p:nvSpPr>
        <p:spPr bwMode="auto">
          <a:xfrm>
            <a:off x="76200" y="13405"/>
            <a:ext cx="8991600" cy="3422272"/>
          </a:xfrm>
          <a:prstGeom prst="cloud">
            <a:avLst/>
          </a:prstGeom>
          <a:solidFill>
            <a:srgbClr val="FF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0" y="4102421"/>
            <a:ext cx="4260803" cy="2577381"/>
          </a:xfrm>
          <a:prstGeom prst="roundRect">
            <a:avLst/>
          </a:prstGeom>
          <a:solidFill>
            <a:srgbClr val="00B050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3280011" y="1600952"/>
            <a:ext cx="4810838" cy="2427882"/>
          </a:xfrm>
          <a:prstGeom prst="roundRect">
            <a:avLst/>
          </a:prstGeom>
          <a:solidFill>
            <a:srgbClr val="FFFF00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7162800" y="4743450"/>
            <a:ext cx="1752600" cy="1257300"/>
          </a:xfrm>
          <a:prstGeom prst="round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i="1" u="sng" dirty="0">
                <a:solidFill>
                  <a:schemeClr val="accent2">
                    <a:lumMod val="75000"/>
                  </a:schemeClr>
                </a:solidFill>
              </a:rPr>
              <a:t>Extranet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i="1" u="sng" dirty="0">
                <a:solidFill>
                  <a:schemeClr val="accent2">
                    <a:lumMod val="75000"/>
                  </a:schemeClr>
                </a:solidFill>
              </a:rPr>
              <a:t>To Biz Partners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b="1" i="1" u="sng" dirty="0">
                <a:solidFill>
                  <a:schemeClr val="accent2">
                    <a:lumMod val="75000"/>
                  </a:schemeClr>
                </a:solidFill>
              </a:rPr>
              <a:t>Network/s</a:t>
            </a:r>
            <a:endParaRPr lang="en-US" sz="1100" dirty="0"/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6096000" y="5366151"/>
            <a:ext cx="1066800" cy="5949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5127772" y="4512617"/>
            <a:ext cx="771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u="sng" dirty="0"/>
              <a:t>B2B</a:t>
            </a:r>
            <a:endParaRPr lang="en-US" b="1" i="1" u="sng" dirty="0"/>
          </a:p>
        </p:txBody>
      </p:sp>
      <p:sp>
        <p:nvSpPr>
          <p:cNvPr id="14" name="Rounded Rectangle 13"/>
          <p:cNvSpPr/>
          <p:nvPr/>
        </p:nvSpPr>
        <p:spPr bwMode="auto">
          <a:xfrm>
            <a:off x="4892634" y="4933950"/>
            <a:ext cx="1219200" cy="1066800"/>
          </a:xfrm>
          <a:prstGeom prst="round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5" name="Straight Arrow Connector 14"/>
          <p:cNvCxnSpPr>
            <a:stCxn id="118" idx="1"/>
          </p:cNvCxnSpPr>
          <p:nvPr/>
        </p:nvCxnSpPr>
        <p:spPr bwMode="auto">
          <a:xfrm>
            <a:off x="4362822" y="5402475"/>
            <a:ext cx="704478" cy="25797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triangl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Connector 15"/>
          <p:cNvCxnSpPr/>
          <p:nvPr/>
        </p:nvCxnSpPr>
        <p:spPr bwMode="auto">
          <a:xfrm>
            <a:off x="914400" y="4951516"/>
            <a:ext cx="23622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Connector 17"/>
          <p:cNvCxnSpPr/>
          <p:nvPr/>
        </p:nvCxnSpPr>
        <p:spPr bwMode="auto">
          <a:xfrm>
            <a:off x="2590800" y="5715000"/>
            <a:ext cx="10668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>
            <a:off x="1066800" y="6248400"/>
            <a:ext cx="12954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>
            <a:off x="2349069" y="5143058"/>
            <a:ext cx="0" cy="865432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>
            <a:cxnSpLocks/>
          </p:cNvCxnSpPr>
          <p:nvPr/>
        </p:nvCxnSpPr>
        <p:spPr bwMode="auto">
          <a:xfrm>
            <a:off x="3124200" y="5715000"/>
            <a:ext cx="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>
            <a:cxnSpLocks/>
          </p:cNvCxnSpPr>
          <p:nvPr/>
        </p:nvCxnSpPr>
        <p:spPr bwMode="auto">
          <a:xfrm flipV="1">
            <a:off x="1219200" y="5081548"/>
            <a:ext cx="0" cy="340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Straight Connector 22"/>
          <p:cNvCxnSpPr>
            <a:cxnSpLocks/>
          </p:cNvCxnSpPr>
          <p:nvPr/>
        </p:nvCxnSpPr>
        <p:spPr bwMode="auto">
          <a:xfrm flipH="1" flipV="1">
            <a:off x="2260158" y="4280731"/>
            <a:ext cx="3132" cy="48705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>
            <a:off x="3733800" y="5016945"/>
            <a:ext cx="0" cy="80828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/>
          <p:cNvCxnSpPr>
            <a:cxnSpLocks/>
            <a:stCxn id="31" idx="3"/>
            <a:endCxn id="97" idx="1"/>
          </p:cNvCxnSpPr>
          <p:nvPr/>
        </p:nvCxnSpPr>
        <p:spPr bwMode="auto">
          <a:xfrm>
            <a:off x="817558" y="4179242"/>
            <a:ext cx="11417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>
            <a:cxnSpLocks/>
          </p:cNvCxnSpPr>
          <p:nvPr/>
        </p:nvCxnSpPr>
        <p:spPr bwMode="auto">
          <a:xfrm>
            <a:off x="3205119" y="2101019"/>
            <a:ext cx="4186281" cy="45582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>
            <a:cxnSpLocks/>
          </p:cNvCxnSpPr>
          <p:nvPr/>
        </p:nvCxnSpPr>
        <p:spPr bwMode="auto">
          <a:xfrm>
            <a:off x="3810000" y="3474013"/>
            <a:ext cx="3639078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 flipV="1">
            <a:off x="5400294" y="5403085"/>
            <a:ext cx="530926" cy="9402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9"/>
          <p:cNvSpPr txBox="1"/>
          <p:nvPr/>
        </p:nvSpPr>
        <p:spPr>
          <a:xfrm>
            <a:off x="4667237" y="3643012"/>
            <a:ext cx="1995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>
                <a:solidFill>
                  <a:srgbClr val="FF0000"/>
                </a:solidFill>
              </a:rPr>
              <a:t>DMZ -“Perimeter”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4158" y="3883653"/>
            <a:ext cx="533400" cy="591178"/>
          </a:xfrm>
          <a:prstGeom prst="rect">
            <a:avLst/>
          </a:prstGeom>
          <a:solidFill>
            <a:srgbClr val="FFC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rgbClr val="FF0000"/>
                </a:solidFill>
              </a:rPr>
              <a:t>Edge Router</a:t>
            </a:r>
          </a:p>
          <a:p>
            <a:pPr algn="ctr"/>
            <a:r>
              <a:rPr lang="en-US" sz="700" b="1" dirty="0">
                <a:solidFill>
                  <a:srgbClr val="FF0000"/>
                </a:solidFill>
              </a:rPr>
              <a:t>(BGP)</a:t>
            </a:r>
          </a:p>
          <a:p>
            <a:pPr algn="ctr"/>
            <a:r>
              <a:rPr lang="en-US" sz="700" b="1" dirty="0">
                <a:solidFill>
                  <a:srgbClr val="FF0000"/>
                </a:solidFill>
              </a:rPr>
              <a:t>/</a:t>
            </a:r>
          </a:p>
          <a:p>
            <a:pPr algn="ctr"/>
            <a:r>
              <a:rPr lang="en-US" sz="700" b="1" dirty="0">
                <a:solidFill>
                  <a:srgbClr val="FF0000"/>
                </a:solidFill>
              </a:rPr>
              <a:t>FW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248107" y="3263385"/>
            <a:ext cx="747098" cy="348522"/>
          </a:xfrm>
          <a:prstGeom prst="rect">
            <a:avLst/>
          </a:prstGeom>
          <a:solidFill>
            <a:schemeClr val="tx1">
              <a:lumMod val="5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FW /  BGP / NAT</a:t>
            </a:r>
            <a:endParaRPr lang="en-US" sz="1100" b="1" dirty="0"/>
          </a:p>
        </p:txBody>
      </p:sp>
      <p:sp>
        <p:nvSpPr>
          <p:cNvPr id="33" name="Rectangle 32"/>
          <p:cNvSpPr/>
          <p:nvPr/>
        </p:nvSpPr>
        <p:spPr>
          <a:xfrm>
            <a:off x="5031383" y="5305221"/>
            <a:ext cx="482071" cy="254841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IGRP or </a:t>
            </a:r>
          </a:p>
          <a:p>
            <a:pPr algn="ctr"/>
            <a:r>
              <a:rPr lang="en-US" sz="700" dirty="0"/>
              <a:t>VPN</a:t>
            </a:r>
            <a:endParaRPr lang="en-US" sz="1000" dirty="0"/>
          </a:p>
        </p:txBody>
      </p:sp>
      <p:sp>
        <p:nvSpPr>
          <p:cNvPr id="34" name="Rectangle 33"/>
          <p:cNvSpPr/>
          <p:nvPr/>
        </p:nvSpPr>
        <p:spPr>
          <a:xfrm>
            <a:off x="5964382" y="5275666"/>
            <a:ext cx="533400" cy="2548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FW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1069848" y="4683818"/>
            <a:ext cx="533400" cy="2548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FW</a:t>
            </a:r>
            <a:endParaRPr lang="en-US" dirty="0"/>
          </a:p>
        </p:txBody>
      </p:sp>
      <p:sp>
        <p:nvSpPr>
          <p:cNvPr id="37" name="Cube 36"/>
          <p:cNvSpPr/>
          <p:nvPr/>
        </p:nvSpPr>
        <p:spPr>
          <a:xfrm>
            <a:off x="3933812" y="1731811"/>
            <a:ext cx="832269" cy="813797"/>
          </a:xfrm>
          <a:prstGeom prst="cube">
            <a:avLst/>
          </a:prstGeom>
          <a:solidFill>
            <a:srgbClr val="EC6A92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RADIUS</a:t>
            </a:r>
            <a:r>
              <a:rPr lang="en-US" sz="600" b="1" dirty="0">
                <a:solidFill>
                  <a:srgbClr val="FF0000"/>
                </a:solidFill>
              </a:rPr>
              <a:t>/</a:t>
            </a:r>
          </a:p>
          <a:p>
            <a:pPr algn="ctr"/>
            <a:r>
              <a:rPr lang="en-US" sz="600" b="1" dirty="0">
                <a:solidFill>
                  <a:srgbClr val="FF0000"/>
                </a:solidFill>
              </a:rPr>
              <a:t>TACACS/</a:t>
            </a:r>
          </a:p>
          <a:p>
            <a:pPr algn="ctr"/>
            <a:r>
              <a:rPr lang="en-US" sz="600" b="1" dirty="0">
                <a:solidFill>
                  <a:srgbClr val="FF0000"/>
                </a:solidFill>
              </a:rPr>
              <a:t>Diameter</a:t>
            </a:r>
            <a:endParaRPr lang="en-US" sz="1000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667000" y="49339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1172525" y="54875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1968905" y="4715640"/>
            <a:ext cx="533400" cy="16115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SW</a:t>
            </a:r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2054842" y="4989853"/>
            <a:ext cx="533400" cy="16115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SW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1650195" y="5608370"/>
            <a:ext cx="533400" cy="16115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SW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2337069" y="5656725"/>
            <a:ext cx="533400" cy="16115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SW</a:t>
            </a:r>
            <a:endParaRPr lang="en-US" dirty="0"/>
          </a:p>
        </p:txBody>
      </p:sp>
      <p:sp>
        <p:nvSpPr>
          <p:cNvPr id="47" name="Cube 46"/>
          <p:cNvSpPr/>
          <p:nvPr/>
        </p:nvSpPr>
        <p:spPr>
          <a:xfrm>
            <a:off x="2836784" y="1088753"/>
            <a:ext cx="244686" cy="554688"/>
          </a:xfrm>
          <a:prstGeom prst="cube">
            <a:avLst/>
          </a:prstGeom>
          <a:solidFill>
            <a:srgbClr val="F5B1C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VPN</a:t>
            </a:r>
          </a:p>
        </p:txBody>
      </p:sp>
      <p:sp>
        <p:nvSpPr>
          <p:cNvPr id="49" name="Cube 48"/>
          <p:cNvSpPr/>
          <p:nvPr/>
        </p:nvSpPr>
        <p:spPr>
          <a:xfrm>
            <a:off x="3266362" y="4626396"/>
            <a:ext cx="728856" cy="40820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DIRECTORY</a:t>
            </a:r>
          </a:p>
          <a:p>
            <a:pPr algn="ctr"/>
            <a:r>
              <a:rPr lang="en-US" sz="600" b="1" dirty="0">
                <a:solidFill>
                  <a:srgbClr val="FF0000"/>
                </a:solidFill>
              </a:rPr>
              <a:t>Logon</a:t>
            </a:r>
          </a:p>
        </p:txBody>
      </p:sp>
      <p:sp>
        <p:nvSpPr>
          <p:cNvPr id="53" name="Cube 52"/>
          <p:cNvSpPr/>
          <p:nvPr/>
        </p:nvSpPr>
        <p:spPr>
          <a:xfrm>
            <a:off x="4627357" y="3269464"/>
            <a:ext cx="494491" cy="370455"/>
          </a:xfrm>
          <a:prstGeom prst="cub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Proxy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9200" y="6200775"/>
            <a:ext cx="4475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FF00"/>
                </a:solidFill>
              </a:rPr>
              <a:t>DFW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869619" y="6067141"/>
            <a:ext cx="533400" cy="1944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1268432" y="4924846"/>
            <a:ext cx="5501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FF00"/>
                </a:solidFill>
              </a:rPr>
              <a:t>Branch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970842" y="5364885"/>
            <a:ext cx="533400" cy="1543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R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918906" y="5198320"/>
            <a:ext cx="4347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FF00"/>
                </a:solidFill>
              </a:rPr>
              <a:t>Corp</a:t>
            </a:r>
            <a:endParaRPr lang="en-US" dirty="0">
              <a:solidFill>
                <a:srgbClr val="FFFF00"/>
              </a:solidFill>
            </a:endParaRPr>
          </a:p>
        </p:txBody>
      </p:sp>
      <p:cxnSp>
        <p:nvCxnSpPr>
          <p:cNvPr id="64" name="Straight Connector 63"/>
          <p:cNvCxnSpPr>
            <a:cxnSpLocks/>
          </p:cNvCxnSpPr>
          <p:nvPr/>
        </p:nvCxnSpPr>
        <p:spPr bwMode="auto">
          <a:xfrm>
            <a:off x="3276600" y="5714470"/>
            <a:ext cx="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Connector 64"/>
          <p:cNvCxnSpPr>
            <a:cxnSpLocks/>
          </p:cNvCxnSpPr>
          <p:nvPr/>
        </p:nvCxnSpPr>
        <p:spPr bwMode="auto">
          <a:xfrm>
            <a:off x="3429000" y="5720443"/>
            <a:ext cx="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Connector 65"/>
          <p:cNvCxnSpPr>
            <a:cxnSpLocks/>
          </p:cNvCxnSpPr>
          <p:nvPr/>
        </p:nvCxnSpPr>
        <p:spPr bwMode="auto">
          <a:xfrm>
            <a:off x="2590800" y="4951516"/>
            <a:ext cx="0" cy="3848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Connector 67"/>
          <p:cNvCxnSpPr>
            <a:cxnSpLocks/>
          </p:cNvCxnSpPr>
          <p:nvPr/>
        </p:nvCxnSpPr>
        <p:spPr bwMode="auto">
          <a:xfrm>
            <a:off x="2667000" y="4951968"/>
            <a:ext cx="0" cy="3848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Straight Connector 68"/>
          <p:cNvCxnSpPr>
            <a:cxnSpLocks/>
          </p:cNvCxnSpPr>
          <p:nvPr/>
        </p:nvCxnSpPr>
        <p:spPr bwMode="auto">
          <a:xfrm>
            <a:off x="2734043" y="4951515"/>
            <a:ext cx="0" cy="3848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Straight Connector 69"/>
          <p:cNvCxnSpPr>
            <a:cxnSpLocks/>
          </p:cNvCxnSpPr>
          <p:nvPr/>
        </p:nvCxnSpPr>
        <p:spPr bwMode="auto">
          <a:xfrm>
            <a:off x="2856848" y="4951515"/>
            <a:ext cx="0" cy="3848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Straight Connector 70"/>
          <p:cNvCxnSpPr>
            <a:cxnSpLocks/>
          </p:cNvCxnSpPr>
          <p:nvPr/>
        </p:nvCxnSpPr>
        <p:spPr bwMode="auto">
          <a:xfrm flipV="1">
            <a:off x="3209836" y="5489983"/>
            <a:ext cx="523964" cy="5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Connector 72"/>
          <p:cNvCxnSpPr>
            <a:cxnSpLocks/>
          </p:cNvCxnSpPr>
          <p:nvPr/>
        </p:nvCxnSpPr>
        <p:spPr bwMode="auto">
          <a:xfrm flipV="1">
            <a:off x="3205119" y="5595093"/>
            <a:ext cx="523964" cy="5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Straight Connector 73"/>
          <p:cNvCxnSpPr>
            <a:cxnSpLocks/>
          </p:cNvCxnSpPr>
          <p:nvPr/>
        </p:nvCxnSpPr>
        <p:spPr bwMode="auto">
          <a:xfrm flipV="1">
            <a:off x="695236" y="5107288"/>
            <a:ext cx="523964" cy="5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Straight Connector 74"/>
          <p:cNvCxnSpPr>
            <a:cxnSpLocks/>
          </p:cNvCxnSpPr>
          <p:nvPr/>
        </p:nvCxnSpPr>
        <p:spPr bwMode="auto">
          <a:xfrm flipV="1">
            <a:off x="683556" y="5240100"/>
            <a:ext cx="523964" cy="5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7" name="Rectangle 76"/>
          <p:cNvSpPr/>
          <p:nvPr/>
        </p:nvSpPr>
        <p:spPr>
          <a:xfrm>
            <a:off x="5089045" y="2434464"/>
            <a:ext cx="533400" cy="16115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FW</a:t>
            </a:r>
            <a:endParaRPr lang="en-US" dirty="0"/>
          </a:p>
        </p:txBody>
      </p:sp>
      <p:cxnSp>
        <p:nvCxnSpPr>
          <p:cNvPr id="81" name="Straight Arrow Connector 80"/>
          <p:cNvCxnSpPr>
            <a:cxnSpLocks/>
            <a:stCxn id="77" idx="0"/>
          </p:cNvCxnSpPr>
          <p:nvPr/>
        </p:nvCxnSpPr>
        <p:spPr>
          <a:xfrm flipV="1">
            <a:off x="5355745" y="2146601"/>
            <a:ext cx="0" cy="28786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ube 82"/>
          <p:cNvSpPr/>
          <p:nvPr/>
        </p:nvSpPr>
        <p:spPr>
          <a:xfrm>
            <a:off x="269507" y="5412487"/>
            <a:ext cx="568692" cy="1143000"/>
          </a:xfrm>
          <a:prstGeom prst="cub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Intranet</a:t>
            </a:r>
          </a:p>
          <a:p>
            <a:pPr algn="ctr"/>
            <a:r>
              <a:rPr lang="en-US" sz="600" b="1" dirty="0">
                <a:solidFill>
                  <a:srgbClr val="FF0000"/>
                </a:solidFill>
              </a:rPr>
              <a:t>WWW</a:t>
            </a:r>
          </a:p>
        </p:txBody>
      </p:sp>
      <p:grpSp>
        <p:nvGrpSpPr>
          <p:cNvPr id="88" name="Group 87"/>
          <p:cNvGrpSpPr/>
          <p:nvPr/>
        </p:nvGrpSpPr>
        <p:grpSpPr>
          <a:xfrm>
            <a:off x="2360439" y="6008490"/>
            <a:ext cx="802139" cy="468423"/>
            <a:chOff x="683556" y="2895600"/>
            <a:chExt cx="802139" cy="468423"/>
          </a:xfrm>
        </p:grpSpPr>
        <p:sp>
          <p:nvSpPr>
            <p:cNvPr id="84" name="Cylinder 83"/>
            <p:cNvSpPr/>
            <p:nvPr/>
          </p:nvSpPr>
          <p:spPr>
            <a:xfrm>
              <a:off x="683556" y="2895600"/>
              <a:ext cx="488969" cy="2286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Cylinder 84"/>
            <p:cNvSpPr/>
            <p:nvPr/>
          </p:nvSpPr>
          <p:spPr>
            <a:xfrm>
              <a:off x="787946" y="2966812"/>
              <a:ext cx="488969" cy="2286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Cylinder 85"/>
            <p:cNvSpPr/>
            <p:nvPr/>
          </p:nvSpPr>
          <p:spPr>
            <a:xfrm>
              <a:off x="892336" y="3048265"/>
              <a:ext cx="488969" cy="2286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Cylinder 86"/>
            <p:cNvSpPr/>
            <p:nvPr/>
          </p:nvSpPr>
          <p:spPr>
            <a:xfrm>
              <a:off x="996726" y="3135423"/>
              <a:ext cx="488969" cy="2286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rgbClr val="FF0000"/>
                  </a:solidFill>
                </a:rPr>
                <a:t>DBMS</a:t>
              </a:r>
            </a:p>
          </p:txBody>
        </p:sp>
      </p:grpSp>
      <p:sp>
        <p:nvSpPr>
          <p:cNvPr id="89" name="Rectangle 88"/>
          <p:cNvSpPr/>
          <p:nvPr/>
        </p:nvSpPr>
        <p:spPr>
          <a:xfrm>
            <a:off x="3668019" y="5198320"/>
            <a:ext cx="533400" cy="344483"/>
          </a:xfrm>
          <a:prstGeom prst="rect">
            <a:avLst/>
          </a:prstGeom>
          <a:solidFill>
            <a:srgbClr val="FF0000">
              <a:alpha val="3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[FW]</a:t>
            </a:r>
          </a:p>
          <a:p>
            <a:pPr algn="ctr"/>
            <a:r>
              <a:rPr lang="en-US" sz="1100" dirty="0"/>
              <a:t>BGP</a:t>
            </a:r>
            <a:endParaRPr lang="en-US" dirty="0"/>
          </a:p>
        </p:txBody>
      </p:sp>
      <p:sp>
        <p:nvSpPr>
          <p:cNvPr id="12" name="Cloud 11"/>
          <p:cNvSpPr/>
          <p:nvPr/>
        </p:nvSpPr>
        <p:spPr>
          <a:xfrm>
            <a:off x="4743469" y="775714"/>
            <a:ext cx="920541" cy="332566"/>
          </a:xfrm>
          <a:prstGeom prst="cloud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Azure</a:t>
            </a:r>
            <a:endParaRPr lang="en-US" sz="200" dirty="0"/>
          </a:p>
        </p:txBody>
      </p:sp>
      <p:sp>
        <p:nvSpPr>
          <p:cNvPr id="78" name="Cloud 77"/>
          <p:cNvSpPr/>
          <p:nvPr/>
        </p:nvSpPr>
        <p:spPr>
          <a:xfrm>
            <a:off x="5802627" y="750746"/>
            <a:ext cx="1063244" cy="381000"/>
          </a:xfrm>
          <a:prstGeom prst="cloud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</a:t>
            </a:r>
          </a:p>
        </p:txBody>
      </p:sp>
      <p:sp>
        <p:nvSpPr>
          <p:cNvPr id="80" name="Rounded Rectangle 8"/>
          <p:cNvSpPr/>
          <p:nvPr/>
        </p:nvSpPr>
        <p:spPr bwMode="auto">
          <a:xfrm>
            <a:off x="7315200" y="4895850"/>
            <a:ext cx="1752600" cy="1257300"/>
          </a:xfrm>
          <a:prstGeom prst="round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i="1" u="sng" dirty="0">
                <a:solidFill>
                  <a:schemeClr val="accent2">
                    <a:lumMod val="75000"/>
                  </a:schemeClr>
                </a:solidFill>
              </a:rPr>
              <a:t>Extranet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i="1" u="sng" dirty="0">
                <a:solidFill>
                  <a:schemeClr val="accent2">
                    <a:lumMod val="75000"/>
                  </a:schemeClr>
                </a:solidFill>
              </a:rPr>
              <a:t>To Biz Partners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b="1" i="1" u="sng" dirty="0">
                <a:solidFill>
                  <a:schemeClr val="accent2">
                    <a:lumMod val="75000"/>
                  </a:schemeClr>
                </a:solidFill>
              </a:rPr>
              <a:t>Network/s</a:t>
            </a:r>
            <a:endParaRPr lang="en-US" sz="1100" dirty="0"/>
          </a:p>
        </p:txBody>
      </p:sp>
      <p:sp>
        <p:nvSpPr>
          <p:cNvPr id="90" name="Rounded Rectangle 8"/>
          <p:cNvSpPr/>
          <p:nvPr/>
        </p:nvSpPr>
        <p:spPr bwMode="auto">
          <a:xfrm>
            <a:off x="7467600" y="5048250"/>
            <a:ext cx="1752600" cy="1257300"/>
          </a:xfrm>
          <a:prstGeom prst="round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i="1" u="sng" dirty="0">
                <a:solidFill>
                  <a:schemeClr val="accent2">
                    <a:lumMod val="75000"/>
                  </a:schemeClr>
                </a:solidFill>
              </a:rPr>
              <a:t>Extranet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i="1" u="sng" dirty="0">
                <a:solidFill>
                  <a:schemeClr val="accent2">
                    <a:lumMod val="75000"/>
                  </a:schemeClr>
                </a:solidFill>
              </a:rPr>
              <a:t>To Biz Partners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b="1" i="1" u="sng" dirty="0">
                <a:solidFill>
                  <a:schemeClr val="accent2">
                    <a:lumMod val="75000"/>
                  </a:schemeClr>
                </a:solidFill>
              </a:rPr>
              <a:t>Network/s</a:t>
            </a:r>
            <a:endParaRPr lang="en-US" sz="1100" dirty="0"/>
          </a:p>
        </p:txBody>
      </p:sp>
      <p:sp>
        <p:nvSpPr>
          <p:cNvPr id="92" name="Cloud 91"/>
          <p:cNvSpPr/>
          <p:nvPr/>
        </p:nvSpPr>
        <p:spPr>
          <a:xfrm>
            <a:off x="3416711" y="794597"/>
            <a:ext cx="1218262" cy="3810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Google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84BDF38-CE59-4A44-927D-DFE25593D1FD}"/>
              </a:ext>
            </a:extLst>
          </p:cNvPr>
          <p:cNvCxnSpPr>
            <a:stCxn id="60" idx="3"/>
          </p:cNvCxnSpPr>
          <p:nvPr/>
        </p:nvCxnSpPr>
        <p:spPr>
          <a:xfrm flipV="1">
            <a:off x="1504242" y="4951515"/>
            <a:ext cx="400758" cy="490521"/>
          </a:xfrm>
          <a:prstGeom prst="bentConnector2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4169D226-7A11-411E-BE44-130A5AD54005}"/>
              </a:ext>
            </a:extLst>
          </p:cNvPr>
          <p:cNvCxnSpPr>
            <a:stCxn id="58" idx="0"/>
          </p:cNvCxnSpPr>
          <p:nvPr/>
        </p:nvCxnSpPr>
        <p:spPr>
          <a:xfrm rot="5400000" flipH="1" flipV="1">
            <a:off x="2131291" y="5807413"/>
            <a:ext cx="264756" cy="254700"/>
          </a:xfrm>
          <a:prstGeom prst="bentConnector3">
            <a:avLst>
              <a:gd name="adj1" fmla="val 81659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D25AED74-8830-4D40-B26C-88AA6AD6D2F7}"/>
              </a:ext>
            </a:extLst>
          </p:cNvPr>
          <p:cNvCxnSpPr>
            <a:cxnSpLocks/>
          </p:cNvCxnSpPr>
          <p:nvPr/>
        </p:nvCxnSpPr>
        <p:spPr>
          <a:xfrm rot="10800000">
            <a:off x="914401" y="5542804"/>
            <a:ext cx="901269" cy="610347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auto">
          <a:xfrm>
            <a:off x="838200" y="5562600"/>
            <a:ext cx="10668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8E87D9F-163D-47D8-A9BC-E034FBB48FCD}"/>
              </a:ext>
            </a:extLst>
          </p:cNvPr>
          <p:cNvSpPr txBox="1"/>
          <p:nvPr/>
        </p:nvSpPr>
        <p:spPr>
          <a:xfrm>
            <a:off x="3552622" y="6177670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10/24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F900B19-4EFB-4C8D-981B-2FF3E412CE21}"/>
              </a:ext>
            </a:extLst>
          </p:cNvPr>
          <p:cNvSpPr/>
          <p:nvPr/>
        </p:nvSpPr>
        <p:spPr>
          <a:xfrm>
            <a:off x="1959265" y="4102091"/>
            <a:ext cx="533400" cy="1543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R</a:t>
            </a:r>
            <a:endParaRPr lang="en-US" dirty="0"/>
          </a:p>
        </p:txBody>
      </p:sp>
      <p:sp>
        <p:nvSpPr>
          <p:cNvPr id="98" name="Cube 97">
            <a:extLst>
              <a:ext uri="{FF2B5EF4-FFF2-40B4-BE49-F238E27FC236}">
                <a16:creationId xmlns:a16="http://schemas.microsoft.com/office/drawing/2014/main" id="{6E8D266D-1E7B-413C-BC14-777384E7E1A3}"/>
              </a:ext>
            </a:extLst>
          </p:cNvPr>
          <p:cNvSpPr/>
          <p:nvPr/>
        </p:nvSpPr>
        <p:spPr>
          <a:xfrm>
            <a:off x="5657052" y="5161367"/>
            <a:ext cx="263417" cy="611966"/>
          </a:xfrm>
          <a:prstGeom prst="cube">
            <a:avLst/>
          </a:prstGeom>
          <a:solidFill>
            <a:srgbClr val="F5B1C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VPN</a:t>
            </a:r>
          </a:p>
        </p:txBody>
      </p:sp>
      <p:sp>
        <p:nvSpPr>
          <p:cNvPr id="5" name="Lightning Bolt 4"/>
          <p:cNvSpPr/>
          <p:nvPr/>
        </p:nvSpPr>
        <p:spPr bwMode="auto">
          <a:xfrm>
            <a:off x="-181203" y="416495"/>
            <a:ext cx="3101223" cy="925917"/>
          </a:xfrm>
          <a:prstGeom prst="lightningBol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78EBF863-9F40-4D12-9B09-C03470B414BB}"/>
              </a:ext>
            </a:extLst>
          </p:cNvPr>
          <p:cNvCxnSpPr>
            <a:cxnSpLocks/>
          </p:cNvCxnSpPr>
          <p:nvPr/>
        </p:nvCxnSpPr>
        <p:spPr bwMode="auto">
          <a:xfrm>
            <a:off x="3905437" y="2767470"/>
            <a:ext cx="3469445" cy="27357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99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0" name="Cube 99">
            <a:extLst>
              <a:ext uri="{FF2B5EF4-FFF2-40B4-BE49-F238E27FC236}">
                <a16:creationId xmlns:a16="http://schemas.microsoft.com/office/drawing/2014/main" id="{F473A6A3-BA27-4998-ADCB-62EF45DD4771}"/>
              </a:ext>
            </a:extLst>
          </p:cNvPr>
          <p:cNvSpPr/>
          <p:nvPr/>
        </p:nvSpPr>
        <p:spPr>
          <a:xfrm>
            <a:off x="5435444" y="2633436"/>
            <a:ext cx="524105" cy="326139"/>
          </a:xfrm>
          <a:prstGeom prst="cube">
            <a:avLst/>
          </a:prstGeom>
          <a:solidFill>
            <a:srgbClr val="FFC000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Honey</a:t>
            </a:r>
            <a:endParaRPr lang="en-US" sz="600" b="1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5DA1EB4-AC57-492A-9F62-548E79EBAB72}"/>
              </a:ext>
            </a:extLst>
          </p:cNvPr>
          <p:cNvSpPr/>
          <p:nvPr/>
        </p:nvSpPr>
        <p:spPr>
          <a:xfrm>
            <a:off x="5740053" y="3074903"/>
            <a:ext cx="533400" cy="161159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FW</a:t>
            </a:r>
            <a:endParaRPr lang="en-US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BDCE9DD-E59C-499A-B980-CFABF22D95B0}"/>
              </a:ext>
            </a:extLst>
          </p:cNvPr>
          <p:cNvCxnSpPr>
            <a:cxnSpLocks/>
            <a:stCxn id="106" idx="2"/>
          </p:cNvCxnSpPr>
          <p:nvPr/>
        </p:nvCxnSpPr>
        <p:spPr>
          <a:xfrm>
            <a:off x="6006753" y="3236062"/>
            <a:ext cx="0" cy="20088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D46398F-7F6B-447E-A697-DEABC88C1BC4}"/>
              </a:ext>
            </a:extLst>
          </p:cNvPr>
          <p:cNvCxnSpPr>
            <a:cxnSpLocks/>
            <a:stCxn id="106" idx="0"/>
          </p:cNvCxnSpPr>
          <p:nvPr/>
        </p:nvCxnSpPr>
        <p:spPr>
          <a:xfrm flipV="1">
            <a:off x="6006753" y="2787040"/>
            <a:ext cx="0" cy="28786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Beveled 125">
            <a:extLst>
              <a:ext uri="{FF2B5EF4-FFF2-40B4-BE49-F238E27FC236}">
                <a16:creationId xmlns:a16="http://schemas.microsoft.com/office/drawing/2014/main" id="{20D97F61-C5F8-4749-8B2D-A03B5DF8E8EF}"/>
              </a:ext>
            </a:extLst>
          </p:cNvPr>
          <p:cNvSpPr/>
          <p:nvPr/>
        </p:nvSpPr>
        <p:spPr>
          <a:xfrm>
            <a:off x="155055" y="0"/>
            <a:ext cx="502662" cy="38010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Parallelogram 126">
            <a:extLst>
              <a:ext uri="{FF2B5EF4-FFF2-40B4-BE49-F238E27FC236}">
                <a16:creationId xmlns:a16="http://schemas.microsoft.com/office/drawing/2014/main" id="{E754656D-C96A-4871-8270-C638D80F3313}"/>
              </a:ext>
            </a:extLst>
          </p:cNvPr>
          <p:cNvSpPr/>
          <p:nvPr/>
        </p:nvSpPr>
        <p:spPr>
          <a:xfrm>
            <a:off x="112947" y="393510"/>
            <a:ext cx="544770" cy="103792"/>
          </a:xfrm>
          <a:prstGeom prst="parallelogram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A06F7AE-95EC-4375-93CE-0086FB3D44DA}"/>
              </a:ext>
            </a:extLst>
          </p:cNvPr>
          <p:cNvSpPr txBox="1"/>
          <p:nvPr/>
        </p:nvSpPr>
        <p:spPr>
          <a:xfrm>
            <a:off x="609973" y="3391"/>
            <a:ext cx="567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Remote</a:t>
            </a:r>
          </a:p>
          <a:p>
            <a:r>
              <a:rPr lang="en-US" sz="1000" b="1" dirty="0"/>
              <a:t>Client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CAF419BF-8494-443C-BBB5-FD9085F34544}"/>
              </a:ext>
            </a:extLst>
          </p:cNvPr>
          <p:cNvCxnSpPr>
            <a:cxnSpLocks/>
            <a:stCxn id="78" idx="1"/>
            <a:endCxn id="103" idx="0"/>
          </p:cNvCxnSpPr>
          <p:nvPr/>
        </p:nvCxnSpPr>
        <p:spPr>
          <a:xfrm flipH="1">
            <a:off x="5384561" y="1131340"/>
            <a:ext cx="949688" cy="550700"/>
          </a:xfrm>
          <a:prstGeom prst="straightConnector1">
            <a:avLst/>
          </a:prstGeom>
          <a:ln w="76200">
            <a:solidFill>
              <a:schemeClr val="bg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Cube 132">
            <a:extLst>
              <a:ext uri="{FF2B5EF4-FFF2-40B4-BE49-F238E27FC236}">
                <a16:creationId xmlns:a16="http://schemas.microsoft.com/office/drawing/2014/main" id="{A452484B-F077-476F-82E0-826EEF92900B}"/>
              </a:ext>
            </a:extLst>
          </p:cNvPr>
          <p:cNvSpPr/>
          <p:nvPr/>
        </p:nvSpPr>
        <p:spPr>
          <a:xfrm>
            <a:off x="6307870" y="3261813"/>
            <a:ext cx="686474" cy="444209"/>
          </a:xfrm>
          <a:prstGeom prst="cub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Public</a:t>
            </a:r>
          </a:p>
          <a:p>
            <a:pPr algn="ctr"/>
            <a:r>
              <a:rPr lang="en-US" sz="800" b="1" dirty="0"/>
              <a:t>Email</a:t>
            </a:r>
          </a:p>
        </p:txBody>
      </p: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EA76D8B6-1AC1-4EE1-90F1-15205156BBC4}"/>
              </a:ext>
            </a:extLst>
          </p:cNvPr>
          <p:cNvCxnSpPr>
            <a:cxnSpLocks/>
            <a:stCxn id="31" idx="0"/>
          </p:cNvCxnSpPr>
          <p:nvPr/>
        </p:nvCxnSpPr>
        <p:spPr>
          <a:xfrm rot="5400000" flipH="1" flipV="1">
            <a:off x="1694278" y="2311569"/>
            <a:ext cx="428664" cy="2715504"/>
          </a:xfrm>
          <a:prstGeom prst="bentConnector2">
            <a:avLst/>
          </a:prstGeom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87249EA1-4C93-4DDD-BD63-156E8D3F2DD7}"/>
              </a:ext>
            </a:extLst>
          </p:cNvPr>
          <p:cNvSpPr txBox="1"/>
          <p:nvPr/>
        </p:nvSpPr>
        <p:spPr>
          <a:xfrm>
            <a:off x="1841809" y="2392015"/>
            <a:ext cx="83693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Bastion – </a:t>
            </a:r>
          </a:p>
          <a:p>
            <a:r>
              <a:rPr lang="en-US" sz="900" b="1" dirty="0"/>
              <a:t>Limited DNS</a:t>
            </a:r>
          </a:p>
          <a:p>
            <a:r>
              <a:rPr lang="en-US" sz="900" b="1" dirty="0"/>
              <a:t>Proxy,</a:t>
            </a:r>
          </a:p>
          <a:p>
            <a:r>
              <a:rPr lang="en-US" sz="900" b="1" dirty="0"/>
              <a:t>VPN,</a:t>
            </a:r>
          </a:p>
          <a:p>
            <a:r>
              <a:rPr lang="en-US" sz="900" b="1" dirty="0"/>
              <a:t>Honeypot</a:t>
            </a:r>
          </a:p>
        </p:txBody>
      </p:sp>
      <p:sp>
        <p:nvSpPr>
          <p:cNvPr id="51" name="Cube 50"/>
          <p:cNvSpPr/>
          <p:nvPr/>
        </p:nvSpPr>
        <p:spPr>
          <a:xfrm>
            <a:off x="6336639" y="2545608"/>
            <a:ext cx="524104" cy="506003"/>
          </a:xfrm>
          <a:prstGeom prst="cub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Public-</a:t>
            </a:r>
          </a:p>
          <a:p>
            <a:pPr algn="ctr"/>
            <a:r>
              <a:rPr lang="en-US" sz="600" b="1" dirty="0">
                <a:solidFill>
                  <a:srgbClr val="FF0000"/>
                </a:solidFill>
              </a:rPr>
              <a:t>Facing</a:t>
            </a:r>
          </a:p>
          <a:p>
            <a:pPr algn="ctr"/>
            <a:r>
              <a:rPr lang="en-US" sz="600" b="1" dirty="0">
                <a:solidFill>
                  <a:srgbClr val="FF0000"/>
                </a:solidFill>
              </a:rPr>
              <a:t>WWW</a:t>
            </a:r>
          </a:p>
        </p:txBody>
      </p:sp>
      <p:sp>
        <p:nvSpPr>
          <p:cNvPr id="103" name="Cube 102">
            <a:extLst>
              <a:ext uri="{FF2B5EF4-FFF2-40B4-BE49-F238E27FC236}">
                <a16:creationId xmlns:a16="http://schemas.microsoft.com/office/drawing/2014/main" id="{95AE100D-EA3F-4C85-A80C-A3787D6575D6}"/>
              </a:ext>
            </a:extLst>
          </p:cNvPr>
          <p:cNvSpPr/>
          <p:nvPr/>
        </p:nvSpPr>
        <p:spPr>
          <a:xfrm>
            <a:off x="4985798" y="1682040"/>
            <a:ext cx="686474" cy="444209"/>
          </a:xfrm>
          <a:prstGeom prst="cub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/>
              <a:t>Federation</a:t>
            </a:r>
          </a:p>
          <a:p>
            <a:pPr algn="ctr"/>
            <a:r>
              <a:rPr lang="en-US" sz="600" b="1" dirty="0"/>
              <a:t>SSO</a:t>
            </a:r>
          </a:p>
        </p:txBody>
      </p:sp>
      <p:sp>
        <p:nvSpPr>
          <p:cNvPr id="104" name="Cube 103">
            <a:extLst>
              <a:ext uri="{FF2B5EF4-FFF2-40B4-BE49-F238E27FC236}">
                <a16:creationId xmlns:a16="http://schemas.microsoft.com/office/drawing/2014/main" id="{81ABA986-E701-495F-8C38-1335AAAFB547}"/>
              </a:ext>
            </a:extLst>
          </p:cNvPr>
          <p:cNvSpPr/>
          <p:nvPr/>
        </p:nvSpPr>
        <p:spPr>
          <a:xfrm>
            <a:off x="4716177" y="2584879"/>
            <a:ext cx="298244" cy="430310"/>
          </a:xfrm>
          <a:prstGeom prst="cub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DNS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353568-1002-460D-BFC9-928F4C4780E6}"/>
              </a:ext>
            </a:extLst>
          </p:cNvPr>
          <p:cNvSpPr txBox="1"/>
          <p:nvPr/>
        </p:nvSpPr>
        <p:spPr>
          <a:xfrm>
            <a:off x="6996211" y="2883648"/>
            <a:ext cx="8996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Public-Facing 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Resources 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Sub Nets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7657C2A-2069-498E-BBBF-9B81BC6C482A}"/>
              </a:ext>
            </a:extLst>
          </p:cNvPr>
          <p:cNvSpPr txBox="1"/>
          <p:nvPr/>
        </p:nvSpPr>
        <p:spPr>
          <a:xfrm>
            <a:off x="7326364" y="1849250"/>
            <a:ext cx="75854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Scanning / 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Legitimacy </a:t>
            </a:r>
          </a:p>
          <a:p>
            <a:r>
              <a:rPr lang="en-US" sz="1000" b="1" dirty="0">
                <a:solidFill>
                  <a:srgbClr val="FF0000"/>
                </a:solidFill>
              </a:rPr>
              <a:t>Sub Net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5FE15AC-55DC-4B27-8AFB-5EE38939A09F}"/>
              </a:ext>
            </a:extLst>
          </p:cNvPr>
          <p:cNvCxnSpPr>
            <a:cxnSpLocks/>
            <a:endCxn id="51" idx="1"/>
          </p:cNvCxnSpPr>
          <p:nvPr/>
        </p:nvCxnSpPr>
        <p:spPr>
          <a:xfrm flipH="1">
            <a:off x="6535441" y="663889"/>
            <a:ext cx="619818" cy="2008220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be 53"/>
          <p:cNvSpPr/>
          <p:nvPr/>
        </p:nvSpPr>
        <p:spPr>
          <a:xfrm>
            <a:off x="5733924" y="1860972"/>
            <a:ext cx="533397" cy="614098"/>
          </a:xfrm>
          <a:prstGeom prst="cube">
            <a:avLst/>
          </a:prstGeom>
          <a:solidFill>
            <a:schemeClr val="tx2">
              <a:lumMod val="60000"/>
              <a:lumOff val="40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rgbClr val="FF0000"/>
                </a:solidFill>
              </a:rPr>
              <a:t>NIDS</a:t>
            </a:r>
            <a:endParaRPr lang="en-US" sz="600" b="1" dirty="0"/>
          </a:p>
          <a:p>
            <a:pPr algn="ctr"/>
            <a:r>
              <a:rPr lang="en-US" sz="600" b="1" dirty="0">
                <a:solidFill>
                  <a:srgbClr val="FF0000"/>
                </a:solidFill>
              </a:rPr>
              <a:t>/ NIPS</a:t>
            </a:r>
            <a:endParaRPr lang="en-US" sz="600" b="1" dirty="0"/>
          </a:p>
        </p:txBody>
      </p:sp>
      <p:sp>
        <p:nvSpPr>
          <p:cNvPr id="123" name="Rectangle: Beveled 122">
            <a:extLst>
              <a:ext uri="{FF2B5EF4-FFF2-40B4-BE49-F238E27FC236}">
                <a16:creationId xmlns:a16="http://schemas.microsoft.com/office/drawing/2014/main" id="{4329E5BE-1B15-409C-A986-5F33AD517179}"/>
              </a:ext>
            </a:extLst>
          </p:cNvPr>
          <p:cNvSpPr/>
          <p:nvPr/>
        </p:nvSpPr>
        <p:spPr>
          <a:xfrm>
            <a:off x="6911469" y="73583"/>
            <a:ext cx="502662" cy="380104"/>
          </a:xfrm>
          <a:prstGeom prst="bevel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" name="Parallelogram 123">
            <a:extLst>
              <a:ext uri="{FF2B5EF4-FFF2-40B4-BE49-F238E27FC236}">
                <a16:creationId xmlns:a16="http://schemas.microsoft.com/office/drawing/2014/main" id="{A861D3F6-B49F-4925-8AEF-84690A0A13CB}"/>
              </a:ext>
            </a:extLst>
          </p:cNvPr>
          <p:cNvSpPr/>
          <p:nvPr/>
        </p:nvSpPr>
        <p:spPr>
          <a:xfrm>
            <a:off x="6873483" y="460076"/>
            <a:ext cx="544770" cy="103792"/>
          </a:xfrm>
          <a:prstGeom prst="parallelogram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Cube 98">
            <a:extLst>
              <a:ext uri="{FF2B5EF4-FFF2-40B4-BE49-F238E27FC236}">
                <a16:creationId xmlns:a16="http://schemas.microsoft.com/office/drawing/2014/main" id="{EF9919C8-FE81-4CF3-B905-8017B674B99A}"/>
              </a:ext>
            </a:extLst>
          </p:cNvPr>
          <p:cNvSpPr/>
          <p:nvPr/>
        </p:nvSpPr>
        <p:spPr>
          <a:xfrm>
            <a:off x="6733982" y="1887262"/>
            <a:ext cx="651413" cy="532599"/>
          </a:xfrm>
          <a:prstGeom prst="cube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NAC / </a:t>
            </a:r>
            <a:endParaRPr lang="en-US" sz="500" b="1" dirty="0">
              <a:solidFill>
                <a:srgbClr val="FF0000"/>
              </a:solidFill>
            </a:endParaRPr>
          </a:p>
          <a:p>
            <a:pPr algn="ctr"/>
            <a:r>
              <a:rPr lang="en-US" sz="1000" b="1" dirty="0">
                <a:solidFill>
                  <a:srgbClr val="FF0000"/>
                </a:solidFill>
              </a:rPr>
              <a:t>Health</a:t>
            </a:r>
            <a:endParaRPr lang="en-US" sz="1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271CB5-5514-4990-8376-C7E9DDEE3179}"/>
              </a:ext>
            </a:extLst>
          </p:cNvPr>
          <p:cNvSpPr txBox="1"/>
          <p:nvPr/>
        </p:nvSpPr>
        <p:spPr>
          <a:xfrm>
            <a:off x="2593051" y="4115992"/>
            <a:ext cx="878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Intranet</a:t>
            </a:r>
          </a:p>
          <a:p>
            <a:r>
              <a:rPr lang="en-US" b="1" i="1" u="sng" dirty="0"/>
              <a:t>Zone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CE2BB4B-3813-4224-BA5F-61FB65C45318}"/>
              </a:ext>
            </a:extLst>
          </p:cNvPr>
          <p:cNvSpPr txBox="1"/>
          <p:nvPr/>
        </p:nvSpPr>
        <p:spPr>
          <a:xfrm>
            <a:off x="7402278" y="721579"/>
            <a:ext cx="878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Internet</a:t>
            </a:r>
          </a:p>
          <a:p>
            <a:r>
              <a:rPr lang="en-US" b="1" i="1" u="sng" dirty="0"/>
              <a:t>Zone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65003A0-B40F-4F66-8A24-4C701F9D9E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132" y="1801659"/>
            <a:ext cx="598719" cy="598719"/>
          </a:xfrm>
          <a:prstGeom prst="rect">
            <a:avLst/>
          </a:prstGeom>
          <a:solidFill>
            <a:schemeClr val="tx1">
              <a:lumMod val="65000"/>
            </a:schemeClr>
          </a:solidFill>
          <a:ln w="38100">
            <a:solidFill>
              <a:srgbClr val="FF0000"/>
            </a:solidFill>
          </a:ln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8DDA526-605B-4A5A-8FC0-169ACB77FE11}"/>
              </a:ext>
            </a:extLst>
          </p:cNvPr>
          <p:cNvSpPr txBox="1"/>
          <p:nvPr/>
        </p:nvSpPr>
        <p:spPr>
          <a:xfrm>
            <a:off x="1312734" y="752704"/>
            <a:ext cx="4219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VPN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7BFD5A6-30AB-41FA-B41E-F8E4119E5DEC}"/>
              </a:ext>
            </a:extLst>
          </p:cNvPr>
          <p:cNvCxnSpPr>
            <a:cxnSpLocks/>
            <a:stCxn id="12" idx="1"/>
            <a:endCxn id="103" idx="0"/>
          </p:cNvCxnSpPr>
          <p:nvPr/>
        </p:nvCxnSpPr>
        <p:spPr>
          <a:xfrm>
            <a:off x="5203740" y="1107926"/>
            <a:ext cx="180821" cy="574114"/>
          </a:xfrm>
          <a:prstGeom prst="straightConnector1">
            <a:avLst/>
          </a:prstGeom>
          <a:ln w="76200">
            <a:solidFill>
              <a:schemeClr val="bg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4881834-8356-43B3-B7F6-A5DDC2D807BE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2574851" y="2101019"/>
            <a:ext cx="588937" cy="25781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cxnSpLocks/>
            <a:endCxn id="38" idx="1"/>
          </p:cNvCxnSpPr>
          <p:nvPr/>
        </p:nvCxnSpPr>
        <p:spPr>
          <a:xfrm>
            <a:off x="-3498" y="583303"/>
            <a:ext cx="1979630" cy="1517716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Image result for gateway symbol">
            <a:extLst>
              <a:ext uri="{FF2B5EF4-FFF2-40B4-BE49-F238E27FC236}">
                <a16:creationId xmlns:a16="http://schemas.microsoft.com/office/drawing/2014/main" id="{A1C03916-CA65-4018-966D-D1D867112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046" y="1667465"/>
            <a:ext cx="616416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" name="Picture 4" descr="Image result for gateway symbol">
            <a:extLst>
              <a:ext uri="{FF2B5EF4-FFF2-40B4-BE49-F238E27FC236}">
                <a16:creationId xmlns:a16="http://schemas.microsoft.com/office/drawing/2014/main" id="{5D6BB2DA-AAAE-4A4C-8492-C51A7A761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106339" y="5168644"/>
            <a:ext cx="256483" cy="46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A16C52A8-56DE-48C3-94D1-0C8C10B7BC4D}"/>
              </a:ext>
            </a:extLst>
          </p:cNvPr>
          <p:cNvCxnSpPr>
            <a:cxnSpLocks/>
            <a:stCxn id="124" idx="4"/>
            <a:endCxn id="47" idx="0"/>
          </p:cNvCxnSpPr>
          <p:nvPr/>
        </p:nvCxnSpPr>
        <p:spPr>
          <a:xfrm rot="5400000">
            <a:off x="4805349" y="-1251767"/>
            <a:ext cx="524885" cy="4156155"/>
          </a:xfrm>
          <a:prstGeom prst="bentConnector3">
            <a:avLst>
              <a:gd name="adj1" fmla="val 15382"/>
            </a:avLst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A66B219-0476-4DE3-B1A7-D9123E47DC63}"/>
              </a:ext>
            </a:extLst>
          </p:cNvPr>
          <p:cNvCxnSpPr>
            <a:cxnSpLocks/>
            <a:stCxn id="92" idx="1"/>
          </p:cNvCxnSpPr>
          <p:nvPr/>
        </p:nvCxnSpPr>
        <p:spPr>
          <a:xfrm>
            <a:off x="4025842" y="1175191"/>
            <a:ext cx="1356631" cy="481402"/>
          </a:xfrm>
          <a:prstGeom prst="straightConnector1">
            <a:avLst/>
          </a:prstGeom>
          <a:ln w="76200">
            <a:solidFill>
              <a:schemeClr val="bg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cxnSpLocks/>
            <a:stCxn id="77" idx="2"/>
          </p:cNvCxnSpPr>
          <p:nvPr/>
        </p:nvCxnSpPr>
        <p:spPr>
          <a:xfrm>
            <a:off x="5355745" y="2595623"/>
            <a:ext cx="0" cy="20088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E49219F-E98D-4FB8-A605-891D0294642D}"/>
              </a:ext>
            </a:extLst>
          </p:cNvPr>
          <p:cNvGrpSpPr/>
          <p:nvPr/>
        </p:nvGrpSpPr>
        <p:grpSpPr>
          <a:xfrm>
            <a:off x="107474" y="4812029"/>
            <a:ext cx="924274" cy="473030"/>
            <a:chOff x="177239" y="5028751"/>
            <a:chExt cx="924274" cy="473030"/>
          </a:xfrm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4AAEC299-8BD6-4750-86CF-0BDFFEB59495}"/>
                </a:ext>
              </a:extLst>
            </p:cNvPr>
            <p:cNvSpPr/>
            <p:nvPr/>
          </p:nvSpPr>
          <p:spPr>
            <a:xfrm>
              <a:off x="177239" y="5028751"/>
              <a:ext cx="728856" cy="279785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b="1" dirty="0">
                  <a:solidFill>
                    <a:srgbClr val="FF0000"/>
                  </a:solidFill>
                </a:rPr>
                <a:t>Servers</a:t>
              </a:r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775F3410-BE83-4BC1-841D-ACA2406934B4}"/>
                </a:ext>
              </a:extLst>
            </p:cNvPr>
            <p:cNvSpPr/>
            <p:nvPr/>
          </p:nvSpPr>
          <p:spPr>
            <a:xfrm>
              <a:off x="276609" y="5117569"/>
              <a:ext cx="728856" cy="279785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b="1" dirty="0">
                  <a:solidFill>
                    <a:srgbClr val="FF0000"/>
                  </a:solidFill>
                </a:rPr>
                <a:t>Servers</a:t>
              </a:r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ED286667-A962-4C4E-A2AC-6F30E5935B49}"/>
                </a:ext>
              </a:extLst>
            </p:cNvPr>
            <p:cNvSpPr/>
            <p:nvPr/>
          </p:nvSpPr>
          <p:spPr>
            <a:xfrm>
              <a:off x="372657" y="5221996"/>
              <a:ext cx="728856" cy="279785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b="1" dirty="0">
                  <a:solidFill>
                    <a:srgbClr val="FF0000"/>
                  </a:solidFill>
                </a:rPr>
                <a:t>Servers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3592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935037" y="668973"/>
            <a:ext cx="5846763" cy="1066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App.</a:t>
            </a: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935038" y="1981200"/>
            <a:ext cx="5846762" cy="5334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 dirty="0">
                <a:solidFill>
                  <a:schemeClr val="bg1"/>
                </a:solidFill>
              </a:rPr>
              <a:t>Presentation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935038" y="2514600"/>
            <a:ext cx="5846762" cy="5334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000" dirty="0">
                <a:solidFill>
                  <a:schemeClr val="bg1"/>
                </a:solidFill>
              </a:rPr>
              <a:t>Session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948583" y="3048000"/>
            <a:ext cx="5833217" cy="96487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000" dirty="0"/>
              <a:t>Transport</a:t>
            </a:r>
            <a:endParaRPr lang="en-US" dirty="0"/>
          </a:p>
        </p:txBody>
      </p:sp>
      <p:sp>
        <p:nvSpPr>
          <p:cNvPr id="20" name="Rectangle 29"/>
          <p:cNvSpPr>
            <a:spLocks noChangeArrowheads="1"/>
          </p:cNvSpPr>
          <p:nvPr/>
        </p:nvSpPr>
        <p:spPr bwMode="auto">
          <a:xfrm>
            <a:off x="898858" y="4038226"/>
            <a:ext cx="7667469" cy="9906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000" dirty="0"/>
              <a:t>Network</a:t>
            </a:r>
          </a:p>
        </p:txBody>
      </p:sp>
      <p:sp>
        <p:nvSpPr>
          <p:cNvPr id="21" name="Rectangle 30"/>
          <p:cNvSpPr>
            <a:spLocks noChangeArrowheads="1"/>
          </p:cNvSpPr>
          <p:nvPr/>
        </p:nvSpPr>
        <p:spPr bwMode="auto">
          <a:xfrm>
            <a:off x="898858" y="5286827"/>
            <a:ext cx="7586852" cy="6096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1800" dirty="0"/>
              <a:t>LLC</a:t>
            </a:r>
            <a:endParaRPr lang="en-US" sz="2000" dirty="0"/>
          </a:p>
          <a:p>
            <a:pPr>
              <a:defRPr/>
            </a:pPr>
            <a:r>
              <a:rPr lang="en-US" sz="1800" dirty="0"/>
              <a:t>MAC –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2" name="Rectangle 31"/>
          <p:cNvSpPr>
            <a:spLocks noChangeArrowheads="1"/>
          </p:cNvSpPr>
          <p:nvPr/>
        </p:nvSpPr>
        <p:spPr bwMode="auto">
          <a:xfrm>
            <a:off x="935038" y="6019800"/>
            <a:ext cx="7586852" cy="381000"/>
          </a:xfrm>
          <a:prstGeom prst="rect">
            <a:avLst/>
          </a:prstGeom>
          <a:solidFill>
            <a:schemeClr val="accent4">
              <a:lumMod val="65000"/>
              <a:lumOff val="35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2000" dirty="0"/>
              <a:t>Physical</a:t>
            </a:r>
            <a:r>
              <a:rPr lang="en-US" dirty="0"/>
              <a:t>			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Rectangle 19"/>
          <p:cNvSpPr>
            <a:spLocks noChangeArrowheads="1"/>
          </p:cNvSpPr>
          <p:nvPr/>
        </p:nvSpPr>
        <p:spPr bwMode="auto">
          <a:xfrm>
            <a:off x="4396003" y="3073356"/>
            <a:ext cx="1042407" cy="1422444"/>
          </a:xfrm>
          <a:prstGeom prst="rect">
            <a:avLst/>
          </a:prstGeom>
          <a:solidFill>
            <a:srgbClr val="FFC000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Port /</a:t>
            </a:r>
            <a:r>
              <a:rPr lang="en-US" sz="1400" b="1" dirty="0" err="1">
                <a:solidFill>
                  <a:schemeClr val="bg1"/>
                </a:solidFill>
              </a:rPr>
              <a:t>Prot</a:t>
            </a:r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FW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2465202" y="685906"/>
            <a:ext cx="794616" cy="4895308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GW</a:t>
            </a:r>
          </a:p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(VPN)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7497547" y="5514300"/>
            <a:ext cx="892968" cy="289566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Switches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auto">
          <a:xfrm>
            <a:off x="3849658" y="6175713"/>
            <a:ext cx="1866900" cy="180637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</a:rPr>
              <a:t>Repeators</a:t>
            </a:r>
            <a:r>
              <a:rPr lang="en-US" sz="1400" b="1" dirty="0">
                <a:solidFill>
                  <a:schemeClr val="bg1"/>
                </a:solidFill>
              </a:rPr>
              <a:t> / Hubs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" name="Rectangle 19"/>
          <p:cNvSpPr>
            <a:spLocks noChangeArrowheads="1"/>
          </p:cNvSpPr>
          <p:nvPr/>
        </p:nvSpPr>
        <p:spPr bwMode="auto">
          <a:xfrm>
            <a:off x="1872565" y="5648502"/>
            <a:ext cx="1866900" cy="180637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Bridges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9" name="Rectangle 19"/>
          <p:cNvSpPr>
            <a:spLocks noChangeArrowheads="1"/>
          </p:cNvSpPr>
          <p:nvPr/>
        </p:nvSpPr>
        <p:spPr bwMode="auto">
          <a:xfrm>
            <a:off x="3636614" y="247054"/>
            <a:ext cx="467762" cy="3742087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Proxy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Rectangle 19"/>
          <p:cNvSpPr>
            <a:spLocks noChangeArrowheads="1"/>
          </p:cNvSpPr>
          <p:nvPr/>
        </p:nvSpPr>
        <p:spPr bwMode="auto">
          <a:xfrm>
            <a:off x="3362402" y="3950968"/>
            <a:ext cx="892968" cy="330008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NAT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7522947" y="4097128"/>
            <a:ext cx="892968" cy="579132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2" name="Rectangle 19"/>
          <p:cNvSpPr>
            <a:spLocks noChangeArrowheads="1"/>
          </p:cNvSpPr>
          <p:nvPr/>
        </p:nvSpPr>
        <p:spPr bwMode="auto">
          <a:xfrm>
            <a:off x="7522913" y="2541980"/>
            <a:ext cx="892968" cy="579132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7522913" y="1630035"/>
            <a:ext cx="892968" cy="579132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Arrow: Down 13"/>
          <p:cNvSpPr/>
          <p:nvPr/>
        </p:nvSpPr>
        <p:spPr>
          <a:xfrm flipV="1">
            <a:off x="7750972" y="4644737"/>
            <a:ext cx="386118" cy="841278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/>
          <p:cNvSpPr/>
          <p:nvPr/>
        </p:nvSpPr>
        <p:spPr>
          <a:xfrm>
            <a:off x="7086600" y="3868861"/>
            <a:ext cx="1798261" cy="2024477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6867759" y="95359"/>
            <a:ext cx="2203275" cy="38345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sz="1800" b="1" dirty="0"/>
              <a:t>destination</a:t>
            </a:r>
            <a:endParaRPr lang="en-US" sz="1000" b="1" dirty="0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5812430" y="5508333"/>
            <a:ext cx="892968" cy="289566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Switches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Rectangle 19"/>
          <p:cNvSpPr>
            <a:spLocks noChangeArrowheads="1"/>
          </p:cNvSpPr>
          <p:nvPr/>
        </p:nvSpPr>
        <p:spPr bwMode="auto">
          <a:xfrm>
            <a:off x="5719722" y="4320092"/>
            <a:ext cx="892968" cy="579132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cxnSp>
        <p:nvCxnSpPr>
          <p:cNvPr id="27" name="Straight Connector 26"/>
          <p:cNvCxnSpPr>
            <a:stCxn id="12" idx="2"/>
            <a:endCxn id="11" idx="0"/>
          </p:cNvCxnSpPr>
          <p:nvPr/>
        </p:nvCxnSpPr>
        <p:spPr>
          <a:xfrm>
            <a:off x="7969397" y="3121112"/>
            <a:ext cx="34" cy="976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cxnSpLocks/>
            <a:stCxn id="13" idx="2"/>
          </p:cNvCxnSpPr>
          <p:nvPr/>
        </p:nvCxnSpPr>
        <p:spPr>
          <a:xfrm>
            <a:off x="7969397" y="2209167"/>
            <a:ext cx="9857" cy="30477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cxnSpLocks/>
            <a:stCxn id="23" idx="2"/>
            <a:endCxn id="13" idx="0"/>
          </p:cNvCxnSpPr>
          <p:nvPr/>
        </p:nvCxnSpPr>
        <p:spPr>
          <a:xfrm>
            <a:off x="7969397" y="478809"/>
            <a:ext cx="0" cy="115122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ight Brace 33"/>
          <p:cNvSpPr/>
          <p:nvPr/>
        </p:nvSpPr>
        <p:spPr>
          <a:xfrm>
            <a:off x="8566327" y="1630035"/>
            <a:ext cx="421118" cy="2467093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Hops</a:t>
            </a:r>
          </a:p>
        </p:txBody>
      </p:sp>
      <p:sp>
        <p:nvSpPr>
          <p:cNvPr id="35" name="Right Brace 34"/>
          <p:cNvSpPr/>
          <p:nvPr/>
        </p:nvSpPr>
        <p:spPr>
          <a:xfrm flipH="1">
            <a:off x="425675" y="5286827"/>
            <a:ext cx="473182" cy="606511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DLL</a:t>
            </a:r>
          </a:p>
        </p:txBody>
      </p:sp>
      <p:sp>
        <p:nvSpPr>
          <p:cNvPr id="31" name="Rectangle 19">
            <a:extLst>
              <a:ext uri="{FF2B5EF4-FFF2-40B4-BE49-F238E27FC236}">
                <a16:creationId xmlns:a16="http://schemas.microsoft.com/office/drawing/2014/main" id="{581B2DB7-E311-4669-A12A-B0A71D256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65" y="-76200"/>
            <a:ext cx="481562" cy="6297803"/>
          </a:xfrm>
          <a:prstGeom prst="rect">
            <a:avLst/>
          </a:prstGeom>
          <a:solidFill>
            <a:srgbClr val="92D05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</a:rPr>
              <a:t>QoS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6" name="Rectangle 19">
            <a:extLst>
              <a:ext uri="{FF2B5EF4-FFF2-40B4-BE49-F238E27FC236}">
                <a16:creationId xmlns:a16="http://schemas.microsoft.com/office/drawing/2014/main" id="{94674F2C-E804-4C41-8E22-A7EB94A2F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660" y="4140916"/>
            <a:ext cx="892968" cy="168100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1409C42-A5F6-4113-94D9-379B5878658E}"/>
              </a:ext>
            </a:extLst>
          </p:cNvPr>
          <p:cNvSpPr/>
          <p:nvPr/>
        </p:nvSpPr>
        <p:spPr>
          <a:xfrm>
            <a:off x="6842393" y="5286827"/>
            <a:ext cx="758167" cy="4897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BA1B92-3DBC-4E3B-B3B7-2DB26125E7D0}"/>
              </a:ext>
            </a:extLst>
          </p:cNvPr>
          <p:cNvSpPr/>
          <p:nvPr/>
        </p:nvSpPr>
        <p:spPr>
          <a:xfrm>
            <a:off x="6949605" y="4278051"/>
            <a:ext cx="573308" cy="398209"/>
          </a:xfrm>
          <a:prstGeom prst="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sw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0AC9221-F3BD-4FB3-8206-93322215CEC5}"/>
              </a:ext>
            </a:extLst>
          </p:cNvPr>
          <p:cNvSpPr/>
          <p:nvPr/>
        </p:nvSpPr>
        <p:spPr>
          <a:xfrm>
            <a:off x="6943079" y="4717875"/>
            <a:ext cx="573308" cy="398209"/>
          </a:xfrm>
          <a:prstGeom prst="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Rtr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Rectangle 19">
            <a:extLst>
              <a:ext uri="{FF2B5EF4-FFF2-40B4-BE49-F238E27FC236}">
                <a16:creationId xmlns:a16="http://schemas.microsoft.com/office/drawing/2014/main" id="{CCD1DA6C-385A-42E6-B6B8-C34D88851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1627" y="2745818"/>
            <a:ext cx="892968" cy="815474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NLB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9" name="Rectangle 19">
            <a:extLst>
              <a:ext uri="{FF2B5EF4-FFF2-40B4-BE49-F238E27FC236}">
                <a16:creationId xmlns:a16="http://schemas.microsoft.com/office/drawing/2014/main" id="{73E17A55-45FD-494A-A7DE-B7645202B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0740" y="135574"/>
            <a:ext cx="892968" cy="5757763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IDS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/IPS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0" name="Rectangle 19">
            <a:extLst>
              <a:ext uri="{FF2B5EF4-FFF2-40B4-BE49-F238E27FC236}">
                <a16:creationId xmlns:a16="http://schemas.microsoft.com/office/drawing/2014/main" id="{2818DFFC-E10C-4351-B6B3-AB79A9B29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978" y="685906"/>
            <a:ext cx="1042407" cy="2360495"/>
          </a:xfrm>
          <a:prstGeom prst="rect">
            <a:avLst/>
          </a:prstGeom>
          <a:solidFill>
            <a:srgbClr val="FF0000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SF FW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1" name="Rectangle 19">
            <a:extLst>
              <a:ext uri="{FF2B5EF4-FFF2-40B4-BE49-F238E27FC236}">
                <a16:creationId xmlns:a16="http://schemas.microsoft.com/office/drawing/2014/main" id="{E804B9F1-B2D8-44E0-907F-EDCF026D7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6335" y="135574"/>
            <a:ext cx="1042407" cy="508044"/>
          </a:xfrm>
          <a:prstGeom prst="rect">
            <a:avLst/>
          </a:prstGeom>
          <a:solidFill>
            <a:srgbClr val="00B050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Next Gen</a:t>
            </a:r>
          </a:p>
          <a:p>
            <a:pPr algn="ctr"/>
            <a:r>
              <a:rPr lang="en-US" sz="1000" b="1" dirty="0">
                <a:solidFill>
                  <a:schemeClr val="bg1"/>
                </a:solidFill>
              </a:rPr>
              <a:t>ML/AI</a:t>
            </a:r>
          </a:p>
        </p:txBody>
      </p:sp>
      <p:sp>
        <p:nvSpPr>
          <p:cNvPr id="42" name="Rectangle 19">
            <a:extLst>
              <a:ext uri="{FF2B5EF4-FFF2-40B4-BE49-F238E27FC236}">
                <a16:creationId xmlns:a16="http://schemas.microsoft.com/office/drawing/2014/main" id="{8FA96E9D-946E-491B-941F-32AB60BB7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517" y="4511381"/>
            <a:ext cx="1034884" cy="579132"/>
          </a:xfrm>
          <a:prstGeom prst="rect">
            <a:avLst/>
          </a:prstGeom>
          <a:solidFill>
            <a:srgbClr val="CC3399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Picky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3" name="Rectangle 19">
            <a:extLst>
              <a:ext uri="{FF2B5EF4-FFF2-40B4-BE49-F238E27FC236}">
                <a16:creationId xmlns:a16="http://schemas.microsoft.com/office/drawing/2014/main" id="{3A3422F3-D588-4B5C-9F3D-AE10FB62C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4198" y="135574"/>
            <a:ext cx="480834" cy="1587625"/>
          </a:xfrm>
          <a:prstGeom prst="rect">
            <a:avLst/>
          </a:prstGeom>
          <a:solidFill>
            <a:srgbClr val="FF0000"/>
          </a:solidFill>
          <a:ln w="57150">
            <a:solidFill>
              <a:srgbClr val="7030A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endParaRPr 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374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51DCEF-72F5-4CDD-AF16-A5E66C465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D3BF20-B9C1-4038-9751-040568B2C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F476602-AC60-450F-B2D5-8DCE9D7B0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469" y="668973"/>
            <a:ext cx="4957332" cy="1066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5A254FB-ADB0-49DF-B11B-F0338F335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58" y="1981200"/>
            <a:ext cx="4968842" cy="533400"/>
          </a:xfrm>
          <a:prstGeom prst="rect">
            <a:avLst/>
          </a:prstGeom>
          <a:solidFill>
            <a:srgbClr val="FFC000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0003E74E-D740-46D7-9507-17F49FF81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58" y="2514600"/>
            <a:ext cx="4968842" cy="5334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E73DD0A-61D2-4BF7-A597-66A3982EC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469" y="3048000"/>
            <a:ext cx="4957331" cy="96487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BA1129DE-D047-4CCD-9F26-A666D43D8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58" y="4038226"/>
            <a:ext cx="6753369" cy="99060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000" dirty="0"/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4D744E4A-AC3A-4003-AF44-E935DEED2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3346" y="5286827"/>
            <a:ext cx="6682363" cy="6096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1800" dirty="0"/>
              <a:t>–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Rectangle 31">
            <a:extLst>
              <a:ext uri="{FF2B5EF4-FFF2-40B4-BE49-F238E27FC236}">
                <a16:creationId xmlns:a16="http://schemas.microsoft.com/office/drawing/2014/main" id="{B970969C-4DB2-462A-8E65-E2FE62FA5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526" y="6019800"/>
            <a:ext cx="6682363" cy="381000"/>
          </a:xfrm>
          <a:prstGeom prst="rect">
            <a:avLst/>
          </a:prstGeom>
          <a:solidFill>
            <a:schemeClr val="accent4">
              <a:lumMod val="65000"/>
              <a:lumOff val="35000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dirty="0"/>
              <a:t>			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5C6D4032-060F-45E9-A03A-098068354A94}"/>
              </a:ext>
            </a:extLst>
          </p:cNvPr>
          <p:cNvSpPr txBox="1">
            <a:spLocks/>
          </p:cNvSpPr>
          <p:nvPr/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 cap="all" spc="6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A4D55408-A196-47D6-A379-D204CCC20140}"/>
              </a:ext>
            </a:extLst>
          </p:cNvPr>
          <p:cNvSpPr txBox="1">
            <a:spLocks/>
          </p:cNvSpPr>
          <p:nvPr/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8B6B60-A648-42BD-A0CA-33BAB934CCD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3" name="Rectangle 19">
            <a:extLst>
              <a:ext uri="{FF2B5EF4-FFF2-40B4-BE49-F238E27FC236}">
                <a16:creationId xmlns:a16="http://schemas.microsoft.com/office/drawing/2014/main" id="{DD91BEAF-7D85-4A92-A5BB-02DCFB346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6003" y="223671"/>
            <a:ext cx="1042407" cy="5605468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</a:rPr>
              <a:t>FireWall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77E853ED-A052-4D1D-B073-321D0A67C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407" y="228600"/>
            <a:ext cx="794616" cy="4571444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 err="1">
                <a:solidFill>
                  <a:schemeClr val="bg1"/>
                </a:solidFill>
              </a:rPr>
              <a:t>GateWay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23E97C30-1AA3-4CCA-ABEC-02BAA9A0B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547" y="5514300"/>
            <a:ext cx="892968" cy="289566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Switches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A24DC8B6-1056-4D68-88E3-75B3ADA9B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0835" y="223671"/>
            <a:ext cx="467762" cy="2819401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Proxy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96EF31-5C55-4A11-8F8F-9EDB07522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2947" y="4097128"/>
            <a:ext cx="892968" cy="579132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204297D1-D769-4A9A-923A-29958494A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2913" y="2541980"/>
            <a:ext cx="892968" cy="579132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EA4FF1FB-1766-4205-BF30-FFB9000E0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2913" y="1630035"/>
            <a:ext cx="892968" cy="579132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2A9FBB01-8036-439B-8055-993D8C698189}"/>
              </a:ext>
            </a:extLst>
          </p:cNvPr>
          <p:cNvSpPr/>
          <p:nvPr/>
        </p:nvSpPr>
        <p:spPr>
          <a:xfrm flipV="1">
            <a:off x="7750972" y="4644737"/>
            <a:ext cx="386118" cy="841278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DF14D11-026D-48AA-B423-0A11A2B22B82}"/>
              </a:ext>
            </a:extLst>
          </p:cNvPr>
          <p:cNvSpPr/>
          <p:nvPr/>
        </p:nvSpPr>
        <p:spPr>
          <a:xfrm>
            <a:off x="7086600" y="3868861"/>
            <a:ext cx="1798261" cy="2024477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9">
            <a:extLst>
              <a:ext uri="{FF2B5EF4-FFF2-40B4-BE49-F238E27FC236}">
                <a16:creationId xmlns:a16="http://schemas.microsoft.com/office/drawing/2014/main" id="{5BCB0191-2DC6-4A62-BD51-C52568505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393" y="685906"/>
            <a:ext cx="2203275" cy="383450"/>
          </a:xfrm>
          <a:prstGeom prst="rect">
            <a:avLst/>
          </a:prstGeom>
          <a:solidFill>
            <a:srgbClr val="00B0F0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sz="1800" b="1" dirty="0"/>
              <a:t>destination</a:t>
            </a:r>
            <a:endParaRPr lang="en-US" sz="1000" b="1" dirty="0"/>
          </a:p>
        </p:txBody>
      </p:sp>
      <p:sp>
        <p:nvSpPr>
          <p:cNvPr id="26" name="Rectangle 19">
            <a:extLst>
              <a:ext uri="{FF2B5EF4-FFF2-40B4-BE49-F238E27FC236}">
                <a16:creationId xmlns:a16="http://schemas.microsoft.com/office/drawing/2014/main" id="{6B4D547B-D725-4453-A6E8-AD1F3CA1F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3210" y="5457632"/>
            <a:ext cx="892968" cy="289566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Switches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7" name="Rectangle 19">
            <a:extLst>
              <a:ext uri="{FF2B5EF4-FFF2-40B4-BE49-F238E27FC236}">
                <a16:creationId xmlns:a16="http://schemas.microsoft.com/office/drawing/2014/main" id="{4EB16CC9-952E-47AA-8F62-58C6DB12D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877" y="4307376"/>
            <a:ext cx="892968" cy="579132"/>
          </a:xfrm>
          <a:prstGeom prst="rect">
            <a:avLst/>
          </a:prstGeom>
          <a:solidFill>
            <a:srgbClr val="FF0000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Routers</a:t>
            </a:r>
            <a:endParaRPr lang="en-US" sz="1000" b="1" dirty="0">
              <a:solidFill>
                <a:schemeClr val="bg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2CE1B25-41B2-4A1F-83C7-EAB4488D2B39}"/>
              </a:ext>
            </a:extLst>
          </p:cNvPr>
          <p:cNvCxnSpPr>
            <a:stCxn id="21" idx="2"/>
            <a:endCxn id="20" idx="0"/>
          </p:cNvCxnSpPr>
          <p:nvPr/>
        </p:nvCxnSpPr>
        <p:spPr>
          <a:xfrm>
            <a:off x="7969397" y="3121112"/>
            <a:ext cx="34" cy="9760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5AC56D2-3B6E-4FD7-9744-DA3987D70180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7969397" y="2209167"/>
            <a:ext cx="9857" cy="30477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DA1174D-F093-49A3-B94D-BF80897AC9A0}"/>
              </a:ext>
            </a:extLst>
          </p:cNvPr>
          <p:cNvCxnSpPr>
            <a:cxnSpLocks/>
            <a:stCxn id="25" idx="2"/>
            <a:endCxn id="22" idx="0"/>
          </p:cNvCxnSpPr>
          <p:nvPr/>
        </p:nvCxnSpPr>
        <p:spPr>
          <a:xfrm>
            <a:off x="7944031" y="1069356"/>
            <a:ext cx="25366" cy="56067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ight Brace 30">
            <a:extLst>
              <a:ext uri="{FF2B5EF4-FFF2-40B4-BE49-F238E27FC236}">
                <a16:creationId xmlns:a16="http://schemas.microsoft.com/office/drawing/2014/main" id="{01A8E9E1-F46B-43C6-979A-581034FFF932}"/>
              </a:ext>
            </a:extLst>
          </p:cNvPr>
          <p:cNvSpPr/>
          <p:nvPr/>
        </p:nvSpPr>
        <p:spPr>
          <a:xfrm>
            <a:off x="8566327" y="1630035"/>
            <a:ext cx="421118" cy="2467093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Hops</a:t>
            </a:r>
          </a:p>
        </p:txBody>
      </p:sp>
      <p:sp>
        <p:nvSpPr>
          <p:cNvPr id="33" name="Rectangle 19">
            <a:extLst>
              <a:ext uri="{FF2B5EF4-FFF2-40B4-BE49-F238E27FC236}">
                <a16:creationId xmlns:a16="http://schemas.microsoft.com/office/drawing/2014/main" id="{C50C0D92-6DB7-4ADA-BB93-40CEB6632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240" y="1823541"/>
            <a:ext cx="295206" cy="4284831"/>
          </a:xfrm>
          <a:prstGeom prst="rect">
            <a:avLst/>
          </a:prstGeom>
          <a:solidFill>
            <a:srgbClr val="92D050"/>
          </a:solidFill>
          <a:ln w="57150">
            <a:solidFill>
              <a:srgbClr val="F5B1C4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MGT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35" name="Rectangle 19">
            <a:extLst>
              <a:ext uri="{FF2B5EF4-FFF2-40B4-BE49-F238E27FC236}">
                <a16:creationId xmlns:a16="http://schemas.microsoft.com/office/drawing/2014/main" id="{39043CEB-430A-46CF-817B-135167DC5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272" y="544187"/>
            <a:ext cx="7190328" cy="3324674"/>
          </a:xfrm>
          <a:prstGeom prst="rect">
            <a:avLst/>
          </a:prstGeom>
          <a:solidFill>
            <a:schemeClr val="bg1">
              <a:lumMod val="85000"/>
              <a:lumOff val="15000"/>
              <a:alpha val="86000"/>
            </a:schemeClr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/>
              <a:t>Control</a:t>
            </a:r>
          </a:p>
          <a:p>
            <a:pPr algn="ctr"/>
            <a:r>
              <a:rPr lang="en-US" sz="1400" b="1" dirty="0"/>
              <a:t>Plane</a:t>
            </a:r>
            <a:endParaRPr lang="en-US" sz="1000" b="1" dirty="0"/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5749D91F-1824-44F6-BF11-2A0FDE341A47}"/>
              </a:ext>
            </a:extLst>
          </p:cNvPr>
          <p:cNvSpPr/>
          <p:nvPr/>
        </p:nvSpPr>
        <p:spPr>
          <a:xfrm flipH="1" flipV="1">
            <a:off x="755912" y="4076020"/>
            <a:ext cx="685800" cy="221479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9">
            <a:extLst>
              <a:ext uri="{FF2B5EF4-FFF2-40B4-BE49-F238E27FC236}">
                <a16:creationId xmlns:a16="http://schemas.microsoft.com/office/drawing/2014/main" id="{5D58EA26-0076-4850-96B4-27EEB2827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941" y="4124923"/>
            <a:ext cx="723645" cy="168100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FE1CDBD-17C1-473B-BF6E-4A745D81847F}"/>
              </a:ext>
            </a:extLst>
          </p:cNvPr>
          <p:cNvSpPr/>
          <p:nvPr/>
        </p:nvSpPr>
        <p:spPr>
          <a:xfrm>
            <a:off x="6848157" y="5270834"/>
            <a:ext cx="590362" cy="4897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NOS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E70A28-1B46-476C-950B-0EF89F738579}"/>
              </a:ext>
            </a:extLst>
          </p:cNvPr>
          <p:cNvSpPr/>
          <p:nvPr/>
        </p:nvSpPr>
        <p:spPr>
          <a:xfrm>
            <a:off x="6865211" y="4171596"/>
            <a:ext cx="573308" cy="398209"/>
          </a:xfrm>
          <a:prstGeom prst="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sw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E3DF17-F1E3-433A-A602-BD4B22EC0743}"/>
              </a:ext>
            </a:extLst>
          </p:cNvPr>
          <p:cNvSpPr/>
          <p:nvPr/>
        </p:nvSpPr>
        <p:spPr>
          <a:xfrm>
            <a:off x="6865211" y="4610290"/>
            <a:ext cx="573308" cy="398209"/>
          </a:xfrm>
          <a:prstGeom prst="rect">
            <a:avLst/>
          </a:prstGeom>
          <a:solidFill>
            <a:srgbClr val="FFFF00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Rtr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4" name="Rectangle 19">
            <a:extLst>
              <a:ext uri="{FF2B5EF4-FFF2-40B4-BE49-F238E27FC236}">
                <a16:creationId xmlns:a16="http://schemas.microsoft.com/office/drawing/2014/main" id="{BEB3B5E9-EB85-4FC8-980F-31D32BA6B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9" y="4010486"/>
            <a:ext cx="7176839" cy="2455083"/>
          </a:xfrm>
          <a:prstGeom prst="rect">
            <a:avLst/>
          </a:prstGeom>
          <a:solidFill>
            <a:schemeClr val="accent2">
              <a:lumMod val="75000"/>
              <a:alpha val="32000"/>
            </a:schemeClr>
          </a:solidFill>
          <a:ln w="57150">
            <a:solidFill>
              <a:srgbClr val="00B050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wrap="none" anchor="ctr"/>
          <a:lstStyle/>
          <a:p>
            <a:pPr algn="ctr"/>
            <a:r>
              <a:rPr lang="en-US" sz="1400" b="1" dirty="0"/>
              <a:t>Forwarding / Data</a:t>
            </a:r>
          </a:p>
          <a:p>
            <a:pPr algn="ctr"/>
            <a:r>
              <a:rPr lang="en-US" sz="1400" b="1" dirty="0"/>
              <a:t>Plane</a:t>
            </a:r>
            <a:endParaRPr lang="en-US" sz="1000" b="1" dirty="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C7B1142D-B774-480D-9598-59EE356B67F3}"/>
              </a:ext>
            </a:extLst>
          </p:cNvPr>
          <p:cNvSpPr/>
          <p:nvPr/>
        </p:nvSpPr>
        <p:spPr>
          <a:xfrm flipV="1">
            <a:off x="1678174" y="2811671"/>
            <a:ext cx="906545" cy="2475156"/>
          </a:xfrm>
          <a:prstGeom prst="downArrow">
            <a:avLst/>
          </a:prstGeom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60EF4F5A-437E-4C38-8A83-3FAF6D34F874}"/>
              </a:ext>
            </a:extLst>
          </p:cNvPr>
          <p:cNvSpPr/>
          <p:nvPr/>
        </p:nvSpPr>
        <p:spPr>
          <a:xfrm>
            <a:off x="3373429" y="2059927"/>
            <a:ext cx="986485" cy="4372533"/>
          </a:xfrm>
          <a:prstGeom prst="downArrow">
            <a:avLst/>
          </a:prstGeom>
          <a:solidFill>
            <a:srgbClr val="FFC00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OF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6C38CC-A9DA-4E8E-BCE0-13E70E21470F}"/>
              </a:ext>
            </a:extLst>
          </p:cNvPr>
          <p:cNvSpPr txBox="1"/>
          <p:nvPr/>
        </p:nvSpPr>
        <p:spPr>
          <a:xfrm>
            <a:off x="1484272" y="2539956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Northbound</a:t>
            </a:r>
          </a:p>
        </p:txBody>
      </p:sp>
      <p:sp>
        <p:nvSpPr>
          <p:cNvPr id="47" name="Arrow: Up-Down 46">
            <a:extLst>
              <a:ext uri="{FF2B5EF4-FFF2-40B4-BE49-F238E27FC236}">
                <a16:creationId xmlns:a16="http://schemas.microsoft.com/office/drawing/2014/main" id="{62EA02F7-42A4-4C17-AD3F-B2A2D435878F}"/>
              </a:ext>
            </a:extLst>
          </p:cNvPr>
          <p:cNvSpPr/>
          <p:nvPr/>
        </p:nvSpPr>
        <p:spPr>
          <a:xfrm rot="16200000">
            <a:off x="310123" y="2924875"/>
            <a:ext cx="1113230" cy="141813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06366D-D4A2-449E-95F1-34C15EEBCA48}"/>
              </a:ext>
            </a:extLst>
          </p:cNvPr>
          <p:cNvSpPr txBox="1"/>
          <p:nvPr/>
        </p:nvSpPr>
        <p:spPr>
          <a:xfrm>
            <a:off x="204880" y="3429000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E_W Interface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2A1613D-921B-49F6-BBE2-05D7B749F66F}"/>
              </a:ext>
            </a:extLst>
          </p:cNvPr>
          <p:cNvSpPr/>
          <p:nvPr/>
        </p:nvSpPr>
        <p:spPr>
          <a:xfrm>
            <a:off x="36196" y="22104"/>
            <a:ext cx="851794" cy="654684"/>
          </a:xfrm>
          <a:prstGeom prst="ellipse">
            <a:avLst/>
          </a:prstGeom>
          <a:solidFill>
            <a:srgbClr val="EC6A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CDCAE7-1E8B-4347-89D8-32DA1E15C110}"/>
              </a:ext>
            </a:extLst>
          </p:cNvPr>
          <p:cNvSpPr txBox="1"/>
          <p:nvPr/>
        </p:nvSpPr>
        <p:spPr>
          <a:xfrm>
            <a:off x="3216904" y="4796751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southbound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53EFE1-4697-4F53-BD12-B195468B641F}"/>
              </a:ext>
            </a:extLst>
          </p:cNvPr>
          <p:cNvSpPr txBox="1"/>
          <p:nvPr/>
        </p:nvSpPr>
        <p:spPr>
          <a:xfrm>
            <a:off x="6239091" y="76146"/>
            <a:ext cx="1739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SDN Model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628C40D-1E33-4517-AEB9-BA828F47A4A8}"/>
              </a:ext>
            </a:extLst>
          </p:cNvPr>
          <p:cNvSpPr/>
          <p:nvPr/>
        </p:nvSpPr>
        <p:spPr>
          <a:xfrm>
            <a:off x="188596" y="174504"/>
            <a:ext cx="851794" cy="654684"/>
          </a:xfrm>
          <a:prstGeom prst="ellipse">
            <a:avLst/>
          </a:prstGeom>
          <a:solidFill>
            <a:srgbClr val="EC6A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6AF369C-5816-40F7-B304-7E485AD11CF1}"/>
              </a:ext>
            </a:extLst>
          </p:cNvPr>
          <p:cNvSpPr/>
          <p:nvPr/>
        </p:nvSpPr>
        <p:spPr>
          <a:xfrm>
            <a:off x="340996" y="326904"/>
            <a:ext cx="851794" cy="654684"/>
          </a:xfrm>
          <a:prstGeom prst="ellipse">
            <a:avLst/>
          </a:prstGeom>
          <a:solidFill>
            <a:srgbClr val="EC6A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CAC817E7-AA86-4567-A349-7262375F4F39}"/>
              </a:ext>
            </a:extLst>
          </p:cNvPr>
          <p:cNvSpPr/>
          <p:nvPr/>
        </p:nvSpPr>
        <p:spPr>
          <a:xfrm>
            <a:off x="228600" y="1069356"/>
            <a:ext cx="319662" cy="666417"/>
          </a:xfrm>
          <a:prstGeom prst="downArrow">
            <a:avLst/>
          </a:prstGeom>
          <a:solidFill>
            <a:srgbClr val="EC6A9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09113B-78FC-49CC-A32B-AC6B0F2F165B}"/>
              </a:ext>
            </a:extLst>
          </p:cNvPr>
          <p:cNvSpPr txBox="1"/>
          <p:nvPr/>
        </p:nvSpPr>
        <p:spPr>
          <a:xfrm>
            <a:off x="434147" y="5218579"/>
            <a:ext cx="114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</a:t>
            </a:r>
            <a:r>
              <a:rPr lang="en-US" b="1" u="sng" dirty="0"/>
              <a:t>Switching</a:t>
            </a:r>
          </a:p>
          <a:p>
            <a:r>
              <a:rPr lang="en-US" b="1" u="sng" dirty="0"/>
              <a:t>Fabric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4449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270E48-308C-45BB-8401-12DE4EB0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L2TP Framing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83E892-7E1E-4D5A-BD2D-645C6374E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4F98EC-0E75-4310-B958-870457F4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8" name="Picture 7" descr="A picture containing bird, clock&#10;&#10;Description automatically generated">
            <a:extLst>
              <a:ext uri="{FF2B5EF4-FFF2-40B4-BE49-F238E27FC236}">
                <a16:creationId xmlns:a16="http://schemas.microsoft.com/office/drawing/2014/main" id="{BAAB8B1E-514F-41A3-A9B8-8D23B2050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38" y="1524000"/>
            <a:ext cx="8751662" cy="252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418F36-71A8-4F08-A309-553100FF2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C73F24-6708-4341-A1EE-1C447870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2E8CA1-1ECA-441B-B081-FE2FEA8FFBB6}"/>
              </a:ext>
            </a:extLst>
          </p:cNvPr>
          <p:cNvSpPr/>
          <p:nvPr/>
        </p:nvSpPr>
        <p:spPr>
          <a:xfrm>
            <a:off x="685800" y="4724400"/>
            <a:ext cx="7848600" cy="6095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Hyper-V (NEW)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7EC712-B454-4ACA-AD1E-A9800B6C59D4}"/>
              </a:ext>
            </a:extLst>
          </p:cNvPr>
          <p:cNvCxnSpPr/>
          <p:nvPr/>
        </p:nvCxnSpPr>
        <p:spPr>
          <a:xfrm>
            <a:off x="685800" y="4343400"/>
            <a:ext cx="80772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7DA168-DF48-4625-BCB1-D4302333CE37}"/>
              </a:ext>
            </a:extLst>
          </p:cNvPr>
          <p:cNvSpPr/>
          <p:nvPr/>
        </p:nvSpPr>
        <p:spPr>
          <a:xfrm>
            <a:off x="762000" y="1905000"/>
            <a:ext cx="1905000" cy="22097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O/S</a:t>
            </a:r>
          </a:p>
          <a:p>
            <a:pPr algn="ctr"/>
            <a:r>
              <a:rPr lang="en-US" dirty="0"/>
              <a:t>(Core, No GUI mgt. Tools)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3F444B-3F00-4E46-B63D-1400B4028936}"/>
              </a:ext>
            </a:extLst>
          </p:cNvPr>
          <p:cNvSpPr/>
          <p:nvPr/>
        </p:nvSpPr>
        <p:spPr>
          <a:xfrm>
            <a:off x="2971800" y="1555452"/>
            <a:ext cx="1905000" cy="2209797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O/S</a:t>
            </a:r>
          </a:p>
          <a:p>
            <a:pPr algn="ctr"/>
            <a:r>
              <a:rPr lang="en-US" dirty="0"/>
              <a:t>(Core, No GUI mgt. Tools)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B9024B-A948-4066-8AE9-4FFF1A173F22}"/>
              </a:ext>
            </a:extLst>
          </p:cNvPr>
          <p:cNvSpPr txBox="1"/>
          <p:nvPr/>
        </p:nvSpPr>
        <p:spPr>
          <a:xfrm>
            <a:off x="3042947" y="312053"/>
            <a:ext cx="17043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 partition</a:t>
            </a:r>
          </a:p>
          <a:p>
            <a:r>
              <a:rPr lang="en-US" dirty="0"/>
              <a:t>VM</a:t>
            </a:r>
          </a:p>
          <a:p>
            <a:r>
              <a:rPr lang="en-US" dirty="0"/>
              <a:t>With a Guest and </a:t>
            </a:r>
          </a:p>
          <a:p>
            <a:r>
              <a:rPr lang="en-US" dirty="0"/>
              <a:t>Services / Apps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C7F013-0468-4FB0-B288-3AFFC8F060B1}"/>
              </a:ext>
            </a:extLst>
          </p:cNvPr>
          <p:cNvSpPr txBox="1"/>
          <p:nvPr/>
        </p:nvSpPr>
        <p:spPr>
          <a:xfrm>
            <a:off x="1066800" y="1524000"/>
            <a:ext cx="17427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Parent</a:t>
            </a:r>
          </a:p>
          <a:p>
            <a:r>
              <a:rPr lang="en-US" dirty="0"/>
              <a:t>O/S for comm with</a:t>
            </a:r>
          </a:p>
          <a:p>
            <a:r>
              <a:rPr lang="en-US" dirty="0"/>
              <a:t>Hyper V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FF9410-A709-4F8C-8934-C3C10F31B481}"/>
              </a:ext>
            </a:extLst>
          </p:cNvPr>
          <p:cNvSpPr/>
          <p:nvPr/>
        </p:nvSpPr>
        <p:spPr>
          <a:xfrm>
            <a:off x="685800" y="5629877"/>
            <a:ext cx="7848600" cy="60959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Hardware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7F1A39-2518-42F7-9B2B-4CAF7FD84BE4}"/>
              </a:ext>
            </a:extLst>
          </p:cNvPr>
          <p:cNvSpPr/>
          <p:nvPr/>
        </p:nvSpPr>
        <p:spPr>
          <a:xfrm>
            <a:off x="5943600" y="5540375"/>
            <a:ext cx="228600" cy="815975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53F949-57D5-492A-88D6-1EFABAF1C45E}"/>
              </a:ext>
            </a:extLst>
          </p:cNvPr>
          <p:cNvSpPr/>
          <p:nvPr/>
        </p:nvSpPr>
        <p:spPr>
          <a:xfrm>
            <a:off x="6362700" y="5540375"/>
            <a:ext cx="228600" cy="815975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C84045-CA98-4F95-8CF4-BB36AF1CCAE8}"/>
              </a:ext>
            </a:extLst>
          </p:cNvPr>
          <p:cNvSpPr/>
          <p:nvPr/>
        </p:nvSpPr>
        <p:spPr>
          <a:xfrm>
            <a:off x="7086600" y="5526686"/>
            <a:ext cx="228600" cy="815975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27DF70-C23C-4851-9891-CBB83F7FE64D}"/>
              </a:ext>
            </a:extLst>
          </p:cNvPr>
          <p:cNvSpPr/>
          <p:nvPr/>
        </p:nvSpPr>
        <p:spPr>
          <a:xfrm>
            <a:off x="6724650" y="5550237"/>
            <a:ext cx="228600" cy="815975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185E63-BB5B-4372-A9E2-D4AF4797EF19}"/>
              </a:ext>
            </a:extLst>
          </p:cNvPr>
          <p:cNvSpPr/>
          <p:nvPr/>
        </p:nvSpPr>
        <p:spPr>
          <a:xfrm>
            <a:off x="3124200" y="1707852"/>
            <a:ext cx="1905000" cy="2209797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O/S</a:t>
            </a:r>
          </a:p>
          <a:p>
            <a:pPr algn="ctr"/>
            <a:r>
              <a:rPr lang="en-US" dirty="0"/>
              <a:t>(Core, No GUI mgt. Tools)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3BEE1B5-2613-4F70-A6B9-FB1BA7485A37}"/>
              </a:ext>
            </a:extLst>
          </p:cNvPr>
          <p:cNvSpPr/>
          <p:nvPr/>
        </p:nvSpPr>
        <p:spPr>
          <a:xfrm>
            <a:off x="3276600" y="1860252"/>
            <a:ext cx="1905000" cy="2209797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O/S</a:t>
            </a:r>
          </a:p>
          <a:p>
            <a:pPr algn="ctr"/>
            <a:r>
              <a:rPr lang="en-US" dirty="0"/>
              <a:t>(Core, No GUI mgt. Tools)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4D4A584-675A-4B76-B877-995C558456FE}"/>
              </a:ext>
            </a:extLst>
          </p:cNvPr>
          <p:cNvSpPr/>
          <p:nvPr/>
        </p:nvSpPr>
        <p:spPr>
          <a:xfrm>
            <a:off x="3429000" y="2012652"/>
            <a:ext cx="1905000" cy="2209797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O/S</a:t>
            </a:r>
          </a:p>
          <a:p>
            <a:pPr algn="ctr"/>
            <a:r>
              <a:rPr lang="en-US" dirty="0"/>
              <a:t>(Core, No GUI mgt. Tools)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F68464D-03C2-4510-86B8-FDDE757EC487}"/>
              </a:ext>
            </a:extLst>
          </p:cNvPr>
          <p:cNvSpPr/>
          <p:nvPr/>
        </p:nvSpPr>
        <p:spPr>
          <a:xfrm>
            <a:off x="3581399" y="2165052"/>
            <a:ext cx="2953601" cy="2209797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O/S</a:t>
            </a:r>
          </a:p>
          <a:p>
            <a:pPr algn="ctr"/>
            <a:r>
              <a:rPr lang="en-US" dirty="0"/>
              <a:t>(Core, No GUI mgt. Tools)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916C58-93F1-40E6-9AC0-8299CE75490E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6677025" y="5158126"/>
            <a:ext cx="356235" cy="313015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95391C2-BD3F-47A9-BD78-BDA0C2E52967}"/>
              </a:ext>
            </a:extLst>
          </p:cNvPr>
          <p:cNvSpPr txBox="1"/>
          <p:nvPr/>
        </p:nvSpPr>
        <p:spPr>
          <a:xfrm>
            <a:off x="6591301" y="1707852"/>
            <a:ext cx="2705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mapping between:</a:t>
            </a:r>
          </a:p>
          <a:p>
            <a:pPr marL="342900" indent="-342900">
              <a:buAutoNum type="arabicParenR"/>
            </a:pPr>
            <a:r>
              <a:rPr lang="en-US" dirty="0"/>
              <a:t>The VM</a:t>
            </a:r>
          </a:p>
          <a:p>
            <a:pPr marL="800100" lvl="1" indent="-342900">
              <a:buAutoNum type="arabicParenR"/>
            </a:pPr>
            <a:r>
              <a:rPr lang="en-US" dirty="0"/>
              <a:t>Has a virtual NIC</a:t>
            </a:r>
          </a:p>
          <a:p>
            <a:pPr marL="342900" indent="-342900">
              <a:buAutoNum type="arabicParenR"/>
            </a:pPr>
            <a:r>
              <a:rPr lang="en-US" dirty="0"/>
              <a:t>Uses which physical NIC on a host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21CD4BD-D69C-4490-83D7-153F1B90A741}"/>
              </a:ext>
            </a:extLst>
          </p:cNvPr>
          <p:cNvSpPr/>
          <p:nvPr/>
        </p:nvSpPr>
        <p:spPr>
          <a:xfrm>
            <a:off x="6248400" y="4800600"/>
            <a:ext cx="1905000" cy="380998"/>
          </a:xfrm>
          <a:prstGeom prst="ellipse">
            <a:avLst/>
          </a:prstGeom>
          <a:solidFill>
            <a:srgbClr val="F5B1C4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Virtual</a:t>
            </a:r>
          </a:p>
          <a:p>
            <a:pPr algn="ctr"/>
            <a:r>
              <a:rPr lang="en-US" dirty="0"/>
              <a:t>Switch</a:t>
            </a:r>
          </a:p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69482BB-ADD1-49D4-9DD2-ABF5FD4E7B19}"/>
              </a:ext>
            </a:extLst>
          </p:cNvPr>
          <p:cNvSpPr/>
          <p:nvPr/>
        </p:nvSpPr>
        <p:spPr>
          <a:xfrm>
            <a:off x="685800" y="4495796"/>
            <a:ext cx="1905000" cy="772778"/>
          </a:xfrm>
          <a:prstGeom prst="ellipse">
            <a:avLst/>
          </a:prstGeom>
          <a:solidFill>
            <a:srgbClr val="F5B1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Virtual</a:t>
            </a:r>
          </a:p>
          <a:p>
            <a:pPr algn="ctr"/>
            <a:r>
              <a:rPr lang="en-US" dirty="0"/>
              <a:t>Storage </a:t>
            </a:r>
          </a:p>
          <a:p>
            <a:pPr algn="ctr"/>
            <a:r>
              <a:rPr lang="en-US" dirty="0"/>
              <a:t>Controller</a:t>
            </a:r>
          </a:p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742C8E-A4BB-4B80-8829-1ED3E8E360E2}"/>
              </a:ext>
            </a:extLst>
          </p:cNvPr>
          <p:cNvSpPr/>
          <p:nvPr/>
        </p:nvSpPr>
        <p:spPr>
          <a:xfrm>
            <a:off x="1600200" y="5534997"/>
            <a:ext cx="228600" cy="815975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DB21436-C05B-4CDE-A141-241142F18B91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5029200" y="4070049"/>
            <a:ext cx="1498181" cy="786347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7EED187-FF55-485E-A6B0-CE846B82EA7F}"/>
              </a:ext>
            </a:extLst>
          </p:cNvPr>
          <p:cNvSpPr/>
          <p:nvPr/>
        </p:nvSpPr>
        <p:spPr>
          <a:xfrm>
            <a:off x="4183380" y="3825724"/>
            <a:ext cx="838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Virtual</a:t>
            </a:r>
          </a:p>
          <a:p>
            <a:pPr algn="ctr"/>
            <a:r>
              <a:rPr lang="en-US" dirty="0"/>
              <a:t>NIC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D5BAC1C-38E6-4E63-8367-C05F10150BAA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4320167" y="2023755"/>
            <a:ext cx="2880733" cy="2776845"/>
          </a:xfrm>
          <a:prstGeom prst="line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loud 33">
            <a:extLst>
              <a:ext uri="{FF2B5EF4-FFF2-40B4-BE49-F238E27FC236}">
                <a16:creationId xmlns:a16="http://schemas.microsoft.com/office/drawing/2014/main" id="{16E0F169-86F1-44D3-AC96-C8FD26C219CD}"/>
              </a:ext>
            </a:extLst>
          </p:cNvPr>
          <p:cNvSpPr/>
          <p:nvPr/>
        </p:nvSpPr>
        <p:spPr>
          <a:xfrm>
            <a:off x="3781425" y="6350972"/>
            <a:ext cx="2581275" cy="55171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Intra-net</a:t>
            </a:r>
          </a:p>
        </p:txBody>
      </p:sp>
      <p:sp>
        <p:nvSpPr>
          <p:cNvPr id="35" name="Cylinder 34">
            <a:extLst>
              <a:ext uri="{FF2B5EF4-FFF2-40B4-BE49-F238E27FC236}">
                <a16:creationId xmlns:a16="http://schemas.microsoft.com/office/drawing/2014/main" id="{7DEBD2A1-6040-4E58-99DA-2666AC39A2A0}"/>
              </a:ext>
            </a:extLst>
          </p:cNvPr>
          <p:cNvSpPr/>
          <p:nvPr/>
        </p:nvSpPr>
        <p:spPr>
          <a:xfrm>
            <a:off x="8153400" y="4432903"/>
            <a:ext cx="666750" cy="1057877"/>
          </a:xfrm>
          <a:prstGeom prst="can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Q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FIFO 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7530E0C-CDD6-4E5D-BF30-7E9661063F97}"/>
              </a:ext>
            </a:extLst>
          </p:cNvPr>
          <p:cNvSpPr/>
          <p:nvPr/>
        </p:nvSpPr>
        <p:spPr>
          <a:xfrm>
            <a:off x="6699885" y="5471141"/>
            <a:ext cx="666750" cy="105787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18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FDCAF1-E64D-4E4E-BE5C-5D1E85329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IQ Consulting Services 2008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7BCCFA-A3F1-45B0-82A4-917693DE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B6B60-A648-42BD-A0CA-33BAB934CCDE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B43C14-E374-423C-B15C-264459C45758}"/>
              </a:ext>
            </a:extLst>
          </p:cNvPr>
          <p:cNvSpPr/>
          <p:nvPr/>
        </p:nvSpPr>
        <p:spPr>
          <a:xfrm>
            <a:off x="2514600" y="4342547"/>
            <a:ext cx="2036885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4EF116-28E4-45B8-88F8-650E0A116CA3}"/>
              </a:ext>
            </a:extLst>
          </p:cNvPr>
          <p:cNvSpPr/>
          <p:nvPr/>
        </p:nvSpPr>
        <p:spPr>
          <a:xfrm>
            <a:off x="1371600" y="15240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6CF346-E356-4B71-919F-DC47D0ACDD12}"/>
              </a:ext>
            </a:extLst>
          </p:cNvPr>
          <p:cNvSpPr/>
          <p:nvPr/>
        </p:nvSpPr>
        <p:spPr>
          <a:xfrm>
            <a:off x="1524000" y="16764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C65237-04B2-4D1F-BEE8-3B3818FE51D6}"/>
              </a:ext>
            </a:extLst>
          </p:cNvPr>
          <p:cNvSpPr/>
          <p:nvPr/>
        </p:nvSpPr>
        <p:spPr>
          <a:xfrm>
            <a:off x="1676400" y="18288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DB609E-4D6A-4AF0-A773-FD77303F4365}"/>
              </a:ext>
            </a:extLst>
          </p:cNvPr>
          <p:cNvSpPr/>
          <p:nvPr/>
        </p:nvSpPr>
        <p:spPr>
          <a:xfrm>
            <a:off x="1828800" y="19812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F99D5A-6A40-4F2B-9E27-C92E975BF6A7}"/>
              </a:ext>
            </a:extLst>
          </p:cNvPr>
          <p:cNvSpPr/>
          <p:nvPr/>
        </p:nvSpPr>
        <p:spPr>
          <a:xfrm>
            <a:off x="3429000" y="1493471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48ADED-867F-4BE2-BF48-5954093D31AB}"/>
              </a:ext>
            </a:extLst>
          </p:cNvPr>
          <p:cNvSpPr/>
          <p:nvPr/>
        </p:nvSpPr>
        <p:spPr>
          <a:xfrm>
            <a:off x="3581400" y="1645871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D01C78-ED2E-455B-B410-24D38A02882B}"/>
              </a:ext>
            </a:extLst>
          </p:cNvPr>
          <p:cNvSpPr/>
          <p:nvPr/>
        </p:nvSpPr>
        <p:spPr>
          <a:xfrm>
            <a:off x="3733800" y="1798271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AB22C0-B761-4C5B-A74E-4A118E75CA10}"/>
              </a:ext>
            </a:extLst>
          </p:cNvPr>
          <p:cNvSpPr/>
          <p:nvPr/>
        </p:nvSpPr>
        <p:spPr>
          <a:xfrm>
            <a:off x="3886200" y="1950671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CA4513-A9D0-4299-B6DE-CA6C6F258C87}"/>
              </a:ext>
            </a:extLst>
          </p:cNvPr>
          <p:cNvSpPr/>
          <p:nvPr/>
        </p:nvSpPr>
        <p:spPr>
          <a:xfrm>
            <a:off x="5506915" y="15240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7BBE25-007E-4BDD-8D72-F3D275D57404}"/>
              </a:ext>
            </a:extLst>
          </p:cNvPr>
          <p:cNvSpPr/>
          <p:nvPr/>
        </p:nvSpPr>
        <p:spPr>
          <a:xfrm>
            <a:off x="5659315" y="16764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C56BA5-9785-4101-8D8D-9C36919D08D2}"/>
              </a:ext>
            </a:extLst>
          </p:cNvPr>
          <p:cNvSpPr/>
          <p:nvPr/>
        </p:nvSpPr>
        <p:spPr>
          <a:xfrm>
            <a:off x="5811715" y="18288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D46CE2-A6E5-440F-B634-A3496C1BEE81}"/>
              </a:ext>
            </a:extLst>
          </p:cNvPr>
          <p:cNvSpPr/>
          <p:nvPr/>
        </p:nvSpPr>
        <p:spPr>
          <a:xfrm>
            <a:off x="5964115" y="1981200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48DB9B5-8424-40DD-88BC-2B87AA5C8835}"/>
              </a:ext>
            </a:extLst>
          </p:cNvPr>
          <p:cNvSpPr/>
          <p:nvPr/>
        </p:nvSpPr>
        <p:spPr>
          <a:xfrm>
            <a:off x="8496300" y="4684470"/>
            <a:ext cx="1143000" cy="6486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SC/VMM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F7B10C-E3C0-4E4E-89DD-B4405E54AF15}"/>
              </a:ext>
            </a:extLst>
          </p:cNvPr>
          <p:cNvSpPr/>
          <p:nvPr/>
        </p:nvSpPr>
        <p:spPr>
          <a:xfrm>
            <a:off x="1295400" y="3415078"/>
            <a:ext cx="6553200" cy="1551354"/>
          </a:xfrm>
          <a:prstGeom prst="roundRect">
            <a:avLst/>
          </a:prstGeom>
          <a:solidFill>
            <a:srgbClr val="F5B1C4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FABRIC</a:t>
            </a:r>
          </a:p>
          <a:p>
            <a:pPr algn="ctr"/>
            <a:r>
              <a:rPr lang="en-US" dirty="0"/>
              <a:t>{100% IP on your part}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EB70F09-43E8-48D0-A559-844F66E5B573}"/>
              </a:ext>
            </a:extLst>
          </p:cNvPr>
          <p:cNvSpPr/>
          <p:nvPr/>
        </p:nvSpPr>
        <p:spPr>
          <a:xfrm>
            <a:off x="1066800" y="1156921"/>
            <a:ext cx="5638800" cy="914400"/>
          </a:xfrm>
          <a:prstGeom prst="ellipse">
            <a:avLst/>
          </a:prstGeom>
          <a:solidFill>
            <a:srgbClr val="FFFF00">
              <a:alpha val="4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04B9E88-01C1-4FA0-B03D-CABA15662F60}"/>
              </a:ext>
            </a:extLst>
          </p:cNvPr>
          <p:cNvSpPr/>
          <p:nvPr/>
        </p:nvSpPr>
        <p:spPr>
          <a:xfrm>
            <a:off x="1524000" y="1896208"/>
            <a:ext cx="5638800" cy="914400"/>
          </a:xfrm>
          <a:prstGeom prst="ellipse">
            <a:avLst/>
          </a:prstGeom>
          <a:solidFill>
            <a:srgbClr val="FFFF00">
              <a:alpha val="4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96B43C8-925A-4636-BFCD-6AA7DE734E6D}"/>
              </a:ext>
            </a:extLst>
          </p:cNvPr>
          <p:cNvSpPr/>
          <p:nvPr/>
        </p:nvSpPr>
        <p:spPr>
          <a:xfrm>
            <a:off x="2911720" y="5140570"/>
            <a:ext cx="1143000" cy="27427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2AD94C9-A83B-4886-91C0-FF7A2895C440}"/>
              </a:ext>
            </a:extLst>
          </p:cNvPr>
          <p:cNvSpPr/>
          <p:nvPr/>
        </p:nvSpPr>
        <p:spPr>
          <a:xfrm>
            <a:off x="2639158" y="2624137"/>
            <a:ext cx="408842" cy="1813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FD73DE9-94E4-47CB-8A44-04BD3FB55703}"/>
              </a:ext>
            </a:extLst>
          </p:cNvPr>
          <p:cNvSpPr/>
          <p:nvPr/>
        </p:nvSpPr>
        <p:spPr>
          <a:xfrm>
            <a:off x="2307248" y="3283683"/>
            <a:ext cx="408842" cy="1813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6BB1FAE-F97C-4208-9D56-869140DC0CBC}"/>
              </a:ext>
            </a:extLst>
          </p:cNvPr>
          <p:cNvSpPr/>
          <p:nvPr/>
        </p:nvSpPr>
        <p:spPr>
          <a:xfrm>
            <a:off x="1915258" y="1520459"/>
            <a:ext cx="665285" cy="46428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001018B-DB27-4D5B-8080-F59E5CCA9D7A}"/>
              </a:ext>
            </a:extLst>
          </p:cNvPr>
          <p:cNvSpPr/>
          <p:nvPr/>
        </p:nvSpPr>
        <p:spPr>
          <a:xfrm>
            <a:off x="2085243" y="1825258"/>
            <a:ext cx="190500" cy="1467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5B4F747-D37E-44D1-A23F-BB16139D1A4E}"/>
              </a:ext>
            </a:extLst>
          </p:cNvPr>
          <p:cNvSpPr/>
          <p:nvPr/>
        </p:nvSpPr>
        <p:spPr>
          <a:xfrm>
            <a:off x="1447800" y="4572000"/>
            <a:ext cx="1371600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P-Net</a:t>
            </a:r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29676C74-B517-4A8C-8C81-A2F1F1549DEB}"/>
              </a:ext>
            </a:extLst>
          </p:cNvPr>
          <p:cNvSpPr/>
          <p:nvPr/>
        </p:nvSpPr>
        <p:spPr>
          <a:xfrm>
            <a:off x="1600200" y="165834"/>
            <a:ext cx="5638800" cy="838688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XYZ Cloud</a:t>
            </a:r>
          </a:p>
        </p:txBody>
      </p:sp>
      <p:sp>
        <p:nvSpPr>
          <p:cNvPr id="30" name="Cube 29">
            <a:extLst>
              <a:ext uri="{FF2B5EF4-FFF2-40B4-BE49-F238E27FC236}">
                <a16:creationId xmlns:a16="http://schemas.microsoft.com/office/drawing/2014/main" id="{EB55F669-132A-434E-9C7C-B7596774CB88}"/>
              </a:ext>
            </a:extLst>
          </p:cNvPr>
          <p:cNvSpPr/>
          <p:nvPr/>
        </p:nvSpPr>
        <p:spPr>
          <a:xfrm>
            <a:off x="1447800" y="5562600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>
            <a:extLst>
              <a:ext uri="{FF2B5EF4-FFF2-40B4-BE49-F238E27FC236}">
                <a16:creationId xmlns:a16="http://schemas.microsoft.com/office/drawing/2014/main" id="{7A901BEF-920F-4D80-A6E5-57CB744382F9}"/>
              </a:ext>
            </a:extLst>
          </p:cNvPr>
          <p:cNvSpPr/>
          <p:nvPr/>
        </p:nvSpPr>
        <p:spPr>
          <a:xfrm>
            <a:off x="1800958" y="5580918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ube 31">
            <a:extLst>
              <a:ext uri="{FF2B5EF4-FFF2-40B4-BE49-F238E27FC236}">
                <a16:creationId xmlns:a16="http://schemas.microsoft.com/office/drawing/2014/main" id="{6CEA7D05-74C4-4EE3-9047-DA3B13182814}"/>
              </a:ext>
            </a:extLst>
          </p:cNvPr>
          <p:cNvSpPr/>
          <p:nvPr/>
        </p:nvSpPr>
        <p:spPr>
          <a:xfrm>
            <a:off x="2161443" y="5598625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ube 32">
            <a:extLst>
              <a:ext uri="{FF2B5EF4-FFF2-40B4-BE49-F238E27FC236}">
                <a16:creationId xmlns:a16="http://schemas.microsoft.com/office/drawing/2014/main" id="{2B9433C3-C311-439A-95AA-1024E968466A}"/>
              </a:ext>
            </a:extLst>
          </p:cNvPr>
          <p:cNvSpPr/>
          <p:nvPr/>
        </p:nvSpPr>
        <p:spPr>
          <a:xfrm>
            <a:off x="4513384" y="5634035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CE200F-69FD-4DEC-81EF-44228FEABE13}"/>
              </a:ext>
            </a:extLst>
          </p:cNvPr>
          <p:cNvSpPr/>
          <p:nvPr/>
        </p:nvSpPr>
        <p:spPr>
          <a:xfrm>
            <a:off x="4144108" y="4540983"/>
            <a:ext cx="2036885" cy="990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P-Store</a:t>
            </a:r>
          </a:p>
        </p:txBody>
      </p:sp>
      <p:sp>
        <p:nvSpPr>
          <p:cNvPr id="34" name="Cube 33">
            <a:extLst>
              <a:ext uri="{FF2B5EF4-FFF2-40B4-BE49-F238E27FC236}">
                <a16:creationId xmlns:a16="http://schemas.microsoft.com/office/drawing/2014/main" id="{F4BF4590-2BB6-4129-BEFE-244B8688937E}"/>
              </a:ext>
            </a:extLst>
          </p:cNvPr>
          <p:cNvSpPr/>
          <p:nvPr/>
        </p:nvSpPr>
        <p:spPr>
          <a:xfrm>
            <a:off x="4589584" y="5701079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ube 34">
            <a:extLst>
              <a:ext uri="{FF2B5EF4-FFF2-40B4-BE49-F238E27FC236}">
                <a16:creationId xmlns:a16="http://schemas.microsoft.com/office/drawing/2014/main" id="{8E071EEE-442D-40B3-B935-C4177FC5C6C0}"/>
              </a:ext>
            </a:extLst>
          </p:cNvPr>
          <p:cNvSpPr/>
          <p:nvPr/>
        </p:nvSpPr>
        <p:spPr>
          <a:xfrm>
            <a:off x="4686300" y="5782408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ube 35">
            <a:extLst>
              <a:ext uri="{FF2B5EF4-FFF2-40B4-BE49-F238E27FC236}">
                <a16:creationId xmlns:a16="http://schemas.microsoft.com/office/drawing/2014/main" id="{516EFB7B-290C-4EDD-A934-8088D73E0660}"/>
              </a:ext>
            </a:extLst>
          </p:cNvPr>
          <p:cNvSpPr/>
          <p:nvPr/>
        </p:nvSpPr>
        <p:spPr>
          <a:xfrm>
            <a:off x="5073161" y="5653818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ube 36">
            <a:extLst>
              <a:ext uri="{FF2B5EF4-FFF2-40B4-BE49-F238E27FC236}">
                <a16:creationId xmlns:a16="http://schemas.microsoft.com/office/drawing/2014/main" id="{F0FFFE54-0520-46CC-A14C-D613F53BE237}"/>
              </a:ext>
            </a:extLst>
          </p:cNvPr>
          <p:cNvSpPr/>
          <p:nvPr/>
        </p:nvSpPr>
        <p:spPr>
          <a:xfrm>
            <a:off x="5149361" y="5720862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D4C30B53-E704-46B9-AAC5-762482EA6475}"/>
              </a:ext>
            </a:extLst>
          </p:cNvPr>
          <p:cNvSpPr/>
          <p:nvPr/>
        </p:nvSpPr>
        <p:spPr>
          <a:xfrm>
            <a:off x="5246077" y="5802191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240ED9E5-A161-442A-A5D5-A0D0D76240A2}"/>
              </a:ext>
            </a:extLst>
          </p:cNvPr>
          <p:cNvSpPr/>
          <p:nvPr/>
        </p:nvSpPr>
        <p:spPr>
          <a:xfrm>
            <a:off x="5700345" y="5648690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5B471459-ECD4-448F-9306-A7099E6705F6}"/>
              </a:ext>
            </a:extLst>
          </p:cNvPr>
          <p:cNvSpPr/>
          <p:nvPr/>
        </p:nvSpPr>
        <p:spPr>
          <a:xfrm>
            <a:off x="5776545" y="5715734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9340D7DF-5BCA-4612-9C01-3857D40A9F50}"/>
              </a:ext>
            </a:extLst>
          </p:cNvPr>
          <p:cNvSpPr/>
          <p:nvPr/>
        </p:nvSpPr>
        <p:spPr>
          <a:xfrm>
            <a:off x="5873261" y="5797063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ABA95D6B-52AB-40A7-9FF2-564779E7A777}"/>
              </a:ext>
            </a:extLst>
          </p:cNvPr>
          <p:cNvSpPr/>
          <p:nvPr/>
        </p:nvSpPr>
        <p:spPr>
          <a:xfrm>
            <a:off x="2501411" y="5602771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27F456B4-73FC-427A-BBD1-EE3E859EBA4A}"/>
              </a:ext>
            </a:extLst>
          </p:cNvPr>
          <p:cNvSpPr/>
          <p:nvPr/>
        </p:nvSpPr>
        <p:spPr>
          <a:xfrm>
            <a:off x="2577611" y="5669815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ube 43">
            <a:extLst>
              <a:ext uri="{FF2B5EF4-FFF2-40B4-BE49-F238E27FC236}">
                <a16:creationId xmlns:a16="http://schemas.microsoft.com/office/drawing/2014/main" id="{4C1E7122-9BDA-444F-B6BA-80C859D03A7D}"/>
              </a:ext>
            </a:extLst>
          </p:cNvPr>
          <p:cNvSpPr/>
          <p:nvPr/>
        </p:nvSpPr>
        <p:spPr>
          <a:xfrm>
            <a:off x="2674327" y="5751144"/>
            <a:ext cx="228600" cy="44254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ylinder 44">
            <a:extLst>
              <a:ext uri="{FF2B5EF4-FFF2-40B4-BE49-F238E27FC236}">
                <a16:creationId xmlns:a16="http://schemas.microsoft.com/office/drawing/2014/main" id="{21C9B1A1-43B2-42C1-BAC0-67ACC6159E21}"/>
              </a:ext>
            </a:extLst>
          </p:cNvPr>
          <p:cNvSpPr/>
          <p:nvPr/>
        </p:nvSpPr>
        <p:spPr>
          <a:xfrm>
            <a:off x="8343900" y="2743200"/>
            <a:ext cx="762000" cy="1143000"/>
          </a:xfrm>
          <a:prstGeom prst="ca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2F0D5DB-F2B6-4BEB-80BE-B7C3F2B7737F}"/>
              </a:ext>
            </a:extLst>
          </p:cNvPr>
          <p:cNvCxnSpPr>
            <a:cxnSpLocks/>
            <a:stCxn id="19" idx="1"/>
            <a:endCxn id="20" idx="3"/>
          </p:cNvCxnSpPr>
          <p:nvPr/>
        </p:nvCxnSpPr>
        <p:spPr>
          <a:xfrm flipH="1" flipV="1">
            <a:off x="7848600" y="4190755"/>
            <a:ext cx="647700" cy="818054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1610C79-4C85-4523-9787-C090C71F936B}"/>
              </a:ext>
            </a:extLst>
          </p:cNvPr>
          <p:cNvCxnSpPr>
            <a:cxnSpLocks/>
            <a:stCxn id="45" idx="2"/>
            <a:endCxn id="20" idx="3"/>
          </p:cNvCxnSpPr>
          <p:nvPr/>
        </p:nvCxnSpPr>
        <p:spPr>
          <a:xfrm flipH="1">
            <a:off x="7848600" y="3314700"/>
            <a:ext cx="495300" cy="876055"/>
          </a:xfrm>
          <a:prstGeom prst="straightConnector1">
            <a:avLst/>
          </a:prstGeom>
          <a:ln w="5715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F3445D44-E482-4078-BEBC-17DC68C5928A}"/>
              </a:ext>
            </a:extLst>
          </p:cNvPr>
          <p:cNvSpPr/>
          <p:nvPr/>
        </p:nvSpPr>
        <p:spPr>
          <a:xfrm>
            <a:off x="1036027" y="1669745"/>
            <a:ext cx="1600200" cy="914400"/>
          </a:xfrm>
          <a:prstGeom prst="ellipse">
            <a:avLst/>
          </a:prstGeom>
          <a:solidFill>
            <a:srgbClr val="FFFF00">
              <a:alpha val="4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81BA982-ED57-42E8-B7B6-C62D0329F785}"/>
              </a:ext>
            </a:extLst>
          </p:cNvPr>
          <p:cNvSpPr/>
          <p:nvPr/>
        </p:nvSpPr>
        <p:spPr>
          <a:xfrm>
            <a:off x="8042030" y="2494511"/>
            <a:ext cx="1273420" cy="1620289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04DEA1-9AC5-4004-A93C-DC0F6781BA5F}"/>
              </a:ext>
            </a:extLst>
          </p:cNvPr>
          <p:cNvSpPr txBox="1"/>
          <p:nvPr/>
        </p:nvSpPr>
        <p:spPr>
          <a:xfrm>
            <a:off x="8402515" y="1924841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Library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130AFC7-6749-4B93-B682-1B3EA2F1A2FE}"/>
              </a:ext>
            </a:extLst>
          </p:cNvPr>
          <p:cNvSpPr/>
          <p:nvPr/>
        </p:nvSpPr>
        <p:spPr>
          <a:xfrm>
            <a:off x="7259515" y="1193886"/>
            <a:ext cx="1371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HOSTS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415823E-E4FD-4A75-AFFC-C7893277B543}"/>
              </a:ext>
            </a:extLst>
          </p:cNvPr>
          <p:cNvSpPr/>
          <p:nvPr/>
        </p:nvSpPr>
        <p:spPr>
          <a:xfrm>
            <a:off x="7612672" y="704605"/>
            <a:ext cx="665285" cy="46428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4BFD72C-E12E-4051-BE1F-EDB67D5DBEF7}"/>
              </a:ext>
            </a:extLst>
          </p:cNvPr>
          <p:cNvSpPr/>
          <p:nvPr/>
        </p:nvSpPr>
        <p:spPr>
          <a:xfrm>
            <a:off x="7765072" y="857005"/>
            <a:ext cx="665285" cy="46428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5B36192-A7B1-4929-9CD9-51B318B58851}"/>
              </a:ext>
            </a:extLst>
          </p:cNvPr>
          <p:cNvSpPr/>
          <p:nvPr/>
        </p:nvSpPr>
        <p:spPr>
          <a:xfrm>
            <a:off x="7917472" y="1009405"/>
            <a:ext cx="665285" cy="46428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1FF4D98-5738-41C8-896F-23689BD0534C}"/>
              </a:ext>
            </a:extLst>
          </p:cNvPr>
          <p:cNvSpPr/>
          <p:nvPr/>
        </p:nvSpPr>
        <p:spPr>
          <a:xfrm>
            <a:off x="8069872" y="1161805"/>
            <a:ext cx="665285" cy="46428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2DBCDBB-28D6-4662-B59F-37FC82C5DAC6}"/>
              </a:ext>
            </a:extLst>
          </p:cNvPr>
          <p:cNvSpPr/>
          <p:nvPr/>
        </p:nvSpPr>
        <p:spPr>
          <a:xfrm>
            <a:off x="8247183" y="1417577"/>
            <a:ext cx="356821" cy="193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1B89E443-19EA-416A-A672-63CE3C9A9EC7}"/>
              </a:ext>
            </a:extLst>
          </p:cNvPr>
          <p:cNvSpPr/>
          <p:nvPr/>
        </p:nvSpPr>
        <p:spPr>
          <a:xfrm>
            <a:off x="1354749" y="2970380"/>
            <a:ext cx="6393472" cy="574218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Abstraction of :</a:t>
            </a:r>
          </a:p>
          <a:p>
            <a:pPr marL="285750" indent="-285750" algn="ctr">
              <a:buFontTx/>
              <a:buChar char="-"/>
            </a:pPr>
            <a:r>
              <a:rPr lang="en-US" dirty="0"/>
              <a:t>Templates</a:t>
            </a:r>
          </a:p>
          <a:p>
            <a:pPr marL="285750" indent="-285750" algn="ctr">
              <a:buFontTx/>
              <a:buChar char="-"/>
            </a:pPr>
            <a:r>
              <a:rPr lang="en-US" dirty="0"/>
              <a:t>Profiles</a:t>
            </a:r>
          </a:p>
        </p:txBody>
      </p:sp>
    </p:spTree>
    <p:extLst>
      <p:ext uri="{BB962C8B-B14F-4D97-AF65-F5344CB8AC3E}">
        <p14:creationId xmlns:p14="http://schemas.microsoft.com/office/powerpoint/2010/main" val="1991983861"/>
      </p:ext>
    </p:extLst>
  </p:cSld>
  <p:clrMapOvr>
    <a:masterClrMapping/>
  </p:clrMapOvr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Soul versus Spirit</Template>
  <TotalTime>32030</TotalTime>
  <Words>1948</Words>
  <Application>Microsoft Office PowerPoint</Application>
  <PresentationFormat>On-screen Show (4:3)</PresentationFormat>
  <Paragraphs>617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Arial Narrow</vt:lpstr>
      <vt:lpstr>Brush Script MT</vt:lpstr>
      <vt:lpstr>Calibri</vt:lpstr>
      <vt:lpstr>Times New Roman</vt:lpstr>
      <vt:lpstr>Horizon</vt:lpstr>
      <vt:lpstr>networking</vt:lpstr>
      <vt:lpstr>OSI Reference Model - History</vt:lpstr>
      <vt:lpstr>Layer Function Summary</vt:lpstr>
      <vt:lpstr>Layer Function Summary …</vt:lpstr>
      <vt:lpstr>Layer Function Summary …</vt:lpstr>
      <vt:lpstr>Layer Function Summary …</vt:lpstr>
      <vt:lpstr>Layer Function Summary …</vt:lpstr>
      <vt:lpstr>Layer Function Summary …</vt:lpstr>
      <vt:lpstr>Layer Function Summary …</vt:lpstr>
      <vt:lpstr>Layer Function Summary …</vt:lpstr>
      <vt:lpstr>Layer Function Summary …</vt:lpstr>
      <vt:lpstr>Layer Function Summary …</vt:lpstr>
      <vt:lpstr>OSI mapping to TCP/IP (“ATIN” / DOD) Model</vt:lpstr>
      <vt:lpstr>TCP/IP History</vt:lpstr>
      <vt:lpstr>TCP/IP History …</vt:lpstr>
      <vt:lpstr>Application Layer Protocol History …</vt:lpstr>
      <vt:lpstr>Application Layer Protocol History …</vt:lpstr>
      <vt:lpstr>Application Layer Protocol History …</vt:lpstr>
      <vt:lpstr>Application Layer Protocol History …</vt:lpstr>
      <vt:lpstr>PowerPoint Presentation</vt:lpstr>
      <vt:lpstr>PowerPoint Presentation</vt:lpstr>
      <vt:lpstr>PowerPoint Presentation</vt:lpstr>
      <vt:lpstr>PowerPoint Presentation</vt:lpstr>
      <vt:lpstr>L2TP Framing</vt:lpstr>
      <vt:lpstr>PowerPoint Presentation</vt:lpstr>
      <vt:lpstr>PowerPoint Presentation</vt:lpstr>
    </vt:vector>
  </TitlesOfParts>
  <Company>InfusEx Consulting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Rick Gibson</dc:creator>
  <cp:lastModifiedBy>Ricky Gibson</cp:lastModifiedBy>
  <cp:revision>607</cp:revision>
  <dcterms:created xsi:type="dcterms:W3CDTF">2008-10-27T01:10:57Z</dcterms:created>
  <dcterms:modified xsi:type="dcterms:W3CDTF">2020-04-08T17:19:53Z</dcterms:modified>
</cp:coreProperties>
</file>