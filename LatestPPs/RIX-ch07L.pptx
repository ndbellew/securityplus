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59" r:id="rId3"/>
    <p:sldId id="273" r:id="rId4"/>
    <p:sldId id="260" r:id="rId5"/>
    <p:sldId id="265" r:id="rId6"/>
    <p:sldId id="261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00FF00"/>
    <a:srgbClr val="FF6600"/>
    <a:srgbClr val="FFCC99"/>
    <a:srgbClr val="333300"/>
    <a:srgbClr val="FF3399"/>
    <a:srgbClr val="FFFF00"/>
    <a:srgbClr val="996600"/>
    <a:srgbClr val="9900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998D1-4076-413D-B0F3-D68EB1FCE056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680132-0936-421C-884E-F889727D0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76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F8E13593-0081-47CD-80B8-966D7C58FB24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3521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E2F26914-9F58-46E0-8BC3-DE3E0A70FC2B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801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7F395A8A-A419-43F0-8A01-E97B36A9AEE4}" type="slidenum">
              <a:rPr lang="en-US" altLang="en-US" sz="1200" smtClean="0"/>
              <a:pPr/>
              <a:t>4</a:t>
            </a:fld>
            <a:endParaRPr lang="en-US" altLang="en-US" sz="12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8873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514562AC-327E-4B94-9A37-967085EF584D}" type="slidenum">
              <a:rPr lang="en-US" altLang="en-US" sz="1200" smtClean="0"/>
              <a:pPr/>
              <a:t>6</a:t>
            </a:fld>
            <a:endParaRPr lang="en-US" altLang="en-US" sz="12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9327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-9525" y="0"/>
            <a:ext cx="9144000" cy="685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5088"/>
            <a:ext cx="1676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0"/>
            <a:ext cx="1820863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73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400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3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9" y="4406900"/>
            <a:ext cx="62087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5999" y="2906713"/>
            <a:ext cx="62087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68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2200" y="1586816"/>
            <a:ext cx="2895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1600200"/>
            <a:ext cx="3200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92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1535113"/>
            <a:ext cx="2895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0" y="2209800"/>
            <a:ext cx="2897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0200" y="1535113"/>
            <a:ext cx="3276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0200" y="2174874"/>
            <a:ext cx="32766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67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38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66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3050"/>
            <a:ext cx="220980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273050"/>
            <a:ext cx="41910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9800" y="1430860"/>
            <a:ext cx="220980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7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67000" y="609600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000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5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0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CompTIA Security+ Study Guide (SY0-501)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886200"/>
            <a:ext cx="7239000" cy="1752600"/>
          </a:xfrm>
          <a:noFill/>
        </p:spPr>
        <p:txBody>
          <a:bodyPr/>
          <a:lstStyle/>
          <a:p>
            <a:r>
              <a:rPr lang="en-US" altLang="en-US" dirty="0"/>
              <a:t>Chapter 7:</a:t>
            </a:r>
          </a:p>
          <a:p>
            <a:r>
              <a:rPr lang="en-US" altLang="en-US" dirty="0"/>
              <a:t>Host, Data, and Application Security</a:t>
            </a:r>
          </a:p>
        </p:txBody>
      </p:sp>
    </p:spTree>
    <p:extLst>
      <p:ext uri="{BB962C8B-B14F-4D97-AF65-F5344CB8AC3E}">
        <p14:creationId xmlns:p14="http://schemas.microsoft.com/office/powerpoint/2010/main" val="3113181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en-US" sz="4000"/>
            </a:br>
            <a:br>
              <a:rPr lang="en-US" altLang="en-US" sz="4000"/>
            </a:br>
            <a:r>
              <a:rPr lang="en-US" altLang="en-US" sz="4000"/>
              <a:t>Chapter 7: Host, Data, and</a:t>
            </a:r>
            <a:br>
              <a:rPr lang="en-US" altLang="en-US" sz="4000"/>
            </a:br>
            <a:r>
              <a:rPr lang="en-US" altLang="en-US" sz="4000"/>
              <a:t>Application Security</a:t>
            </a:r>
            <a:br>
              <a:rPr lang="en-US" altLang="en-US" sz="4000"/>
            </a:br>
            <a:endParaRPr lang="en-US" altLang="en-US" sz="400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58008" y="1676400"/>
            <a:ext cx="6934200" cy="4525962"/>
          </a:xfrm>
          <a:noFill/>
        </p:spPr>
        <p:txBody>
          <a:bodyPr/>
          <a:lstStyle/>
          <a:p>
            <a:r>
              <a:rPr lang="en-US" altLang="en-US" sz="2400" dirty="0"/>
              <a:t>Explain </a:t>
            </a:r>
            <a:r>
              <a:rPr lang="en-US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Threat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2400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Actor</a:t>
            </a:r>
            <a:r>
              <a:rPr lang="en-US" altLang="en-US" sz="2400" b="1" i="1" u="sng" dirty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Types </a:t>
            </a:r>
            <a:r>
              <a:rPr lang="en-US" altLang="en-US" sz="2400" dirty="0"/>
              <a:t>and </a:t>
            </a:r>
            <a:r>
              <a:rPr lang="en-US" altLang="en-US" sz="2400" b="1" i="1" u="sng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Attributes</a:t>
            </a:r>
          </a:p>
          <a:p>
            <a:r>
              <a:rPr lang="en-US" altLang="en-US" sz="2400" dirty="0"/>
              <a:t>Explain the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</a:t>
            </a:r>
            <a:r>
              <a:rPr lang="en-US" altLang="en-US" sz="2400" dirty="0"/>
              <a:t> associated with </a:t>
            </a:r>
            <a:r>
              <a:rPr lang="en-US" altLang="en-US" sz="2400" b="1" i="1" u="sng" dirty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</a:t>
            </a:r>
            <a:r>
              <a:rPr lang="en-US" altLang="en-US" sz="2400" dirty="0"/>
              <a:t> of vulnerabilities</a:t>
            </a:r>
          </a:p>
          <a:p>
            <a:r>
              <a:rPr lang="en-US" altLang="en-US" sz="2400" dirty="0"/>
              <a:t>Explain the security implications of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Embedded Systems</a:t>
            </a:r>
          </a:p>
          <a:p>
            <a:r>
              <a:rPr lang="en-US" altLang="en-US" sz="2400" dirty="0"/>
              <a:t>Summarize secure application development and deployment concepts</a:t>
            </a:r>
          </a:p>
        </p:txBody>
      </p:sp>
    </p:spTree>
    <p:extLst>
      <p:ext uri="{BB962C8B-B14F-4D97-AF65-F5344CB8AC3E}">
        <p14:creationId xmlns:p14="http://schemas.microsoft.com/office/powerpoint/2010/main" val="321527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5CB1A-1E22-4EB2-ADDC-41389AB9F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715962"/>
          </a:xfrm>
        </p:spPr>
        <p:txBody>
          <a:bodyPr>
            <a:normAutofit fontScale="90000"/>
          </a:bodyPr>
          <a:lstStyle/>
          <a:p>
            <a:r>
              <a:rPr lang="en-US" b="1" i="1" u="sng" dirty="0">
                <a:solidFill>
                  <a:srgbClr val="FF0000"/>
                </a:solidFill>
              </a:rPr>
              <a:t>Hacking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1501C-9109-4B2F-AF09-E97499235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990600"/>
            <a:ext cx="6629400" cy="5486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Performing activities on a computer system in an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Unauthorized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Manner</a:t>
            </a:r>
          </a:p>
          <a:p>
            <a:pPr lvl="1"/>
            <a:r>
              <a:rPr 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333300"/>
                </a:highlight>
              </a:rPr>
              <a:t>Today</a:t>
            </a:r>
            <a:r>
              <a:rPr lang="en-US" dirty="0"/>
              <a:t>, considered an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Infringement</a:t>
            </a:r>
            <a:r>
              <a:rPr lang="en-US" dirty="0"/>
              <a:t> of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Protected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r>
              <a:rPr lang="en-US" dirty="0"/>
              <a:t> and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Property</a:t>
            </a:r>
            <a:r>
              <a:rPr lang="en-US" dirty="0"/>
              <a:t> and thus constitutes a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Malicious Act</a:t>
            </a:r>
          </a:p>
          <a:p>
            <a:pPr lvl="2"/>
            <a:r>
              <a:rPr lang="en-US" dirty="0"/>
              <a:t>Originally (prior to the time of </a:t>
            </a:r>
            <a:r>
              <a:rPr lang="en-US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Kevin </a:t>
            </a:r>
            <a:r>
              <a:rPr lang="en-US" b="1" i="1" u="sng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Mitnik</a:t>
            </a:r>
            <a:r>
              <a:rPr lang="en-US" dirty="0"/>
              <a:t>), was “to learn” or “demonstrate a point”</a:t>
            </a:r>
          </a:p>
          <a:p>
            <a:pPr lvl="3"/>
            <a:r>
              <a:rPr lang="en-US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Kevin </a:t>
            </a:r>
            <a:r>
              <a:rPr lang="en-US" b="1" i="1" u="sng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Mitnik</a:t>
            </a:r>
            <a:r>
              <a:rPr lang="en-US" dirty="0"/>
              <a:t>:</a:t>
            </a:r>
          </a:p>
          <a:p>
            <a:pPr lvl="4"/>
            <a:r>
              <a:rPr lang="en-US" dirty="0"/>
              <a:t>American computer security consultant, </a:t>
            </a:r>
          </a:p>
          <a:p>
            <a:pPr lvl="4"/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</a:t>
            </a:r>
          </a:p>
          <a:p>
            <a:pPr lvl="4"/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Convicted</a:t>
            </a:r>
            <a:r>
              <a:rPr lang="en-US" dirty="0"/>
              <a:t>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Hacker</a:t>
            </a:r>
          </a:p>
          <a:p>
            <a:pPr lvl="4"/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Best</a:t>
            </a:r>
            <a:r>
              <a:rPr lang="en-US" dirty="0"/>
              <a:t> known for his high-profile 1995 arrest and </a:t>
            </a:r>
            <a:r>
              <a:rPr 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333300"/>
                </a:highlight>
              </a:rPr>
              <a:t>Five Years </a:t>
            </a:r>
            <a:r>
              <a:rPr lang="en-US" dirty="0"/>
              <a:t>in </a:t>
            </a:r>
            <a:r>
              <a:rPr lang="en-US" b="1" i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Prison</a:t>
            </a:r>
            <a:r>
              <a:rPr lang="en-US" dirty="0"/>
              <a:t> for various computer and communications-related crimes</a:t>
            </a:r>
          </a:p>
        </p:txBody>
      </p:sp>
    </p:spTree>
    <p:extLst>
      <p:ext uri="{BB962C8B-B14F-4D97-AF65-F5344CB8AC3E}">
        <p14:creationId xmlns:p14="http://schemas.microsoft.com/office/powerpoint/2010/main" val="2359248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152400"/>
            <a:ext cx="6400800" cy="639762"/>
          </a:xfrm>
        </p:spPr>
        <p:txBody>
          <a:bodyPr>
            <a:normAutofit fontScale="90000"/>
          </a:bodyPr>
          <a:lstStyle/>
          <a:p>
            <a:r>
              <a:rPr lang="en-US" altLang="en-US" sz="4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Threat</a:t>
            </a:r>
            <a:r>
              <a:rPr lang="en-US" altLang="en-US" sz="4000" dirty="0"/>
              <a:t> </a:t>
            </a:r>
            <a:r>
              <a:rPr lang="en-US" altLang="en-US" sz="4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Actors</a:t>
            </a:r>
            <a:r>
              <a:rPr lang="en-US" altLang="en-US" sz="4000" dirty="0"/>
              <a:t> </a:t>
            </a:r>
            <a:r>
              <a:rPr lang="en-US" altLang="en-US" sz="4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  <a:r>
              <a:rPr lang="en-US" altLang="en-US" sz="4000" dirty="0"/>
              <a:t> </a:t>
            </a:r>
            <a:r>
              <a:rPr lang="en-US" altLang="en-US" sz="4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Attributes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990600"/>
            <a:ext cx="6629400" cy="5638800"/>
          </a:xfrm>
          <a:noFill/>
        </p:spPr>
        <p:txBody>
          <a:bodyPr>
            <a:normAutofit fontScale="70000" lnSpcReduction="20000"/>
          </a:bodyPr>
          <a:lstStyle/>
          <a:p>
            <a:r>
              <a:rPr lang="en-US" altLang="en-US" sz="28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Script Kiddies:</a:t>
            </a:r>
          </a:p>
          <a:p>
            <a:pPr lvl="1"/>
            <a:r>
              <a:rPr lang="en-US" altLang="en-US" sz="2400" b="1" i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Unskilled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Individual </a:t>
            </a:r>
          </a:p>
          <a:p>
            <a:pPr lvl="1"/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Uses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Scripts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Programs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2400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developed by others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</a:p>
          <a:p>
            <a:pPr lvl="2"/>
            <a:r>
              <a:rPr lang="en-US" alt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Attack</a:t>
            </a:r>
            <a:r>
              <a:rPr lang="en-US" alt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2000" b="1" i="1" u="sng" dirty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Systems </a:t>
            </a:r>
          </a:p>
          <a:p>
            <a:pPr lvl="2"/>
            <a:r>
              <a:rPr lang="en-US" altLang="en-US" sz="2000" b="1" i="1" u="sng" dirty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Networks</a:t>
            </a:r>
            <a:r>
              <a:rPr lang="en-US" alt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lvl="2"/>
            <a:r>
              <a:rPr lang="en-US" alt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Deface</a:t>
            </a:r>
            <a:r>
              <a:rPr lang="en-US" alt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2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Websites</a:t>
            </a:r>
            <a:endParaRPr lang="en-US" altLang="en-US" sz="20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28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Hacktivist</a:t>
            </a:r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</a:t>
            </a:r>
            <a:r>
              <a:rPr lang="en-US" altLang="en-US" sz="2800" dirty="0"/>
              <a:t>always a </a:t>
            </a:r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altLang="en-US" sz="2800" b="1" i="1" u="sng" dirty="0">
                <a:solidFill>
                  <a:srgbClr val="99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Political</a:t>
            </a:r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Motivation”</a:t>
            </a:r>
            <a:endParaRPr lang="en-US" altLang="en-US" sz="28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2800" b="1" i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Organized Crime</a:t>
            </a:r>
            <a:r>
              <a:rPr lang="en-US" altLang="en-US" sz="2800" dirty="0">
                <a:highlight>
                  <a:srgbClr val="000000"/>
                </a:highlight>
              </a:rPr>
              <a:t> </a:t>
            </a:r>
            <a:r>
              <a:rPr lang="en-US" altLang="en-US" sz="2800" dirty="0"/>
              <a:t>- Criminal groups that engage in cyber organized crime</a:t>
            </a:r>
            <a:endParaRPr lang="en-US" altLang="en-US" sz="2800" b="1" i="1" u="sng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2800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Nation-States</a:t>
            </a:r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 </a:t>
            </a:r>
            <a:r>
              <a:rPr lang="en-US" altLang="en-US" sz="2800" dirty="0"/>
              <a:t>– State-Sponsored Cyber Attacks</a:t>
            </a:r>
            <a:endParaRPr lang="en-US" altLang="en-US" sz="2800" dirty="0">
              <a:solidFill>
                <a:srgbClr val="00B0F0"/>
              </a:solidFill>
            </a:endParaRPr>
          </a:p>
          <a:p>
            <a:pPr lvl="1"/>
            <a:r>
              <a:rPr lang="en-US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APT</a:t>
            </a:r>
            <a:r>
              <a:rPr lang="en-US" altLang="en-US" sz="2400" dirty="0"/>
              <a:t> (Advanced Persistent Threat)</a:t>
            </a:r>
          </a:p>
          <a:p>
            <a:r>
              <a:rPr lang="en-US" altLang="en-US" sz="2800" dirty="0"/>
              <a:t>Greatest Sources of Threat:</a:t>
            </a:r>
          </a:p>
          <a:p>
            <a:pPr lvl="1"/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Insiders:</a:t>
            </a:r>
          </a:p>
          <a:p>
            <a:pPr lvl="2"/>
            <a:r>
              <a:rPr lang="en-US" altLang="en-US" sz="2000" dirty="0"/>
              <a:t>Most Breaches (70% + ) Unreported </a:t>
            </a:r>
            <a:r>
              <a:rPr lang="en-US" altLang="en-US" sz="2000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{Skews Results Higher}</a:t>
            </a:r>
          </a:p>
          <a:p>
            <a:pPr lvl="2"/>
            <a:r>
              <a:rPr lang="en-US" altLang="en-US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2018</a:t>
            </a:r>
            <a:r>
              <a:rPr lang="en-US" altLang="en-US" sz="2000" dirty="0"/>
              <a:t> – 30% of all attacks are Insiders (but that represents only the 30% of Reports that ARE Reported)</a:t>
            </a:r>
          </a:p>
          <a:p>
            <a:pPr lvl="2"/>
            <a:r>
              <a:rPr lang="en-US" altLang="en-US" sz="2000" dirty="0"/>
              <a:t>Therefore, the actual number of inside attacks may be well over 75 – 80%</a:t>
            </a:r>
          </a:p>
          <a:p>
            <a:pPr lvl="3"/>
            <a:r>
              <a:rPr lang="en-US" altLang="en-US" sz="1600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{{This is why we can only ESTIMATE the value}}</a:t>
            </a:r>
          </a:p>
          <a:p>
            <a:pPr lvl="1"/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Competitors</a:t>
            </a:r>
          </a:p>
          <a:p>
            <a:pPr lvl="1"/>
            <a:r>
              <a:rPr lang="en-US" altLang="en-US" sz="2400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{{ Some or any combination of those objects above }}</a:t>
            </a:r>
          </a:p>
        </p:txBody>
      </p:sp>
    </p:spTree>
    <p:extLst>
      <p:ext uri="{BB962C8B-B14F-4D97-AF65-F5344CB8AC3E}">
        <p14:creationId xmlns:p14="http://schemas.microsoft.com/office/powerpoint/2010/main" val="3963271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of Open Source </a:t>
            </a:r>
            <a:r>
              <a:rPr 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629400" cy="4983162"/>
          </a:xfrm>
        </p:spPr>
        <p:txBody>
          <a:bodyPr>
            <a:normAutofit fontScale="70000" lnSpcReduction="20000"/>
          </a:bodyPr>
          <a:lstStyle/>
          <a:p>
            <a:r>
              <a:rPr lang="en-US" b="1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Helpful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 References:</a:t>
            </a:r>
          </a:p>
          <a:p>
            <a:pPr lvl="1"/>
            <a:r>
              <a:rPr lang="en-US" b="1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ThreatCrowd</a:t>
            </a:r>
            <a:endPara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en-US" dirty="0"/>
              <a:t>Search Engine for Threats – </a:t>
            </a:r>
            <a:r>
              <a:rPr 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{{ Show }}</a:t>
            </a:r>
          </a:p>
          <a:p>
            <a:pPr lvl="1"/>
            <a:r>
              <a:rPr lang="en-US" b="1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OpenPhish</a:t>
            </a:r>
            <a:endPara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en-US" dirty="0"/>
              <a:t>Threat Intelligence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OSINT Framework</a:t>
            </a:r>
          </a:p>
          <a:p>
            <a:pPr lvl="2"/>
            <a:r>
              <a:rPr lang="en-US" dirty="0"/>
              <a:t>Focused on gathering information from free tools or resources</a:t>
            </a:r>
          </a:p>
          <a:p>
            <a:pPr lvl="3"/>
            <a:r>
              <a:rPr lang="en-US" dirty="0"/>
              <a:t>Framework = series of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Documented</a:t>
            </a:r>
            <a:r>
              <a:rPr lang="en-US" dirty="0"/>
              <a:t>,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Agreed</a:t>
            </a:r>
            <a:r>
              <a:rPr lang="en-US" dirty="0"/>
              <a:t> and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Understood</a:t>
            </a:r>
            <a:r>
              <a:rPr lang="en-US" dirty="0"/>
              <a:t>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Policies</a:t>
            </a:r>
            <a:r>
              <a:rPr lang="en-US" dirty="0"/>
              <a:t>,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Procedures</a:t>
            </a:r>
            <a:r>
              <a:rPr lang="en-US" dirty="0"/>
              <a:t>, and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Processes</a:t>
            </a:r>
            <a:r>
              <a:rPr lang="en-US" dirty="0"/>
              <a:t> that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Define</a:t>
            </a:r>
            <a:r>
              <a:rPr lang="en-US" dirty="0"/>
              <a:t>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Information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is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Managed</a:t>
            </a:r>
            <a:r>
              <a:rPr lang="en-US" dirty="0"/>
              <a:t> in a business, to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Lower Risk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and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Vulnerability</a:t>
            </a:r>
            <a:r>
              <a:rPr lang="en-US" dirty="0"/>
              <a:t>, and increase confidence in an ever-connected world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Shodan</a:t>
            </a:r>
          </a:p>
          <a:p>
            <a:pPr lvl="2"/>
            <a:r>
              <a:rPr lang="en-US" dirty="0"/>
              <a:t>a search engine of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Service Banners</a:t>
            </a:r>
          </a:p>
          <a:p>
            <a:pPr lvl="2"/>
            <a:r>
              <a:rPr lang="en-US" dirty="0"/>
              <a:t>Shows </a:t>
            </a:r>
            <a:r>
              <a:rPr lang="en-US" b="1" i="1" u="sng" dirty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</a:t>
            </a:r>
            <a:r>
              <a:rPr lang="en-US" dirty="0"/>
              <a:t> of </a:t>
            </a:r>
            <a:r>
              <a:rPr lang="en-US" b="1" i="1" u="sng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Computers</a:t>
            </a:r>
            <a:r>
              <a:rPr lang="en-US" dirty="0"/>
              <a:t>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Connected</a:t>
            </a:r>
            <a:r>
              <a:rPr lang="en-US" dirty="0"/>
              <a:t> to the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 (IoT)</a:t>
            </a:r>
          </a:p>
          <a:p>
            <a:pPr lvl="1"/>
            <a:r>
              <a:rPr lang="en-US" b="1" i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Hacker news</a:t>
            </a:r>
          </a:p>
          <a:p>
            <a:pPr lvl="1"/>
            <a:r>
              <a:rPr lang="en-US" b="1" i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Threat Post</a:t>
            </a:r>
          </a:p>
          <a:p>
            <a:pPr lvl="1"/>
            <a:r>
              <a:rPr lang="en-US" b="1" i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Hacking News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266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Vulnerabilities</a:t>
            </a:r>
          </a:p>
        </p:txBody>
      </p:sp>
      <p:sp>
        <p:nvSpPr>
          <p:cNvPr id="5123" name="Content Placeholder 3"/>
          <p:cNvSpPr>
            <a:spLocks noGrp="1"/>
          </p:cNvSpPr>
          <p:nvPr>
            <p:ph idx="1"/>
          </p:nvPr>
        </p:nvSpPr>
        <p:spPr>
          <a:xfrm>
            <a:off x="2286000" y="1447800"/>
            <a:ext cx="6400800" cy="5135562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/>
              <a:t>Configuration issues</a:t>
            </a:r>
          </a:p>
          <a:p>
            <a:pPr lvl="1"/>
            <a:r>
              <a:rPr lang="en-US" altLang="en-US" dirty="0"/>
              <a:t>Most common</a:t>
            </a:r>
          </a:p>
          <a:p>
            <a:pPr lvl="1"/>
            <a:r>
              <a:rPr lang="en-US" altLang="en-US" b="1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Countermeasures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Hardening</a:t>
            </a:r>
          </a:p>
          <a:p>
            <a:pPr lvl="2"/>
            <a:r>
              <a:rPr lang="en-US" altLang="en-US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Monitoring</a:t>
            </a:r>
          </a:p>
          <a:p>
            <a:pPr lvl="2"/>
            <a:r>
              <a:rPr lang="en-US" altLang="en-US" dirty="0"/>
              <a:t>Periodic </a:t>
            </a:r>
            <a:r>
              <a:rPr lang="en-US" alt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Re-Evaluation of </a:t>
            </a:r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Hardening</a:t>
            </a:r>
            <a:r>
              <a:rPr lang="en-US" altLang="en-US" dirty="0"/>
              <a:t> Efforts</a:t>
            </a:r>
          </a:p>
          <a:p>
            <a:r>
              <a:rPr lang="en-US" altLang="en-US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</a:t>
            </a:r>
            <a:r>
              <a:rPr lang="en-US" altLang="en-US" dirty="0"/>
              <a:t> issues</a:t>
            </a:r>
          </a:p>
          <a:p>
            <a:pPr lvl="1"/>
            <a:r>
              <a:rPr lang="en-US" altLang="en-US" dirty="0"/>
              <a:t>Countermeasure:</a:t>
            </a:r>
          </a:p>
          <a:p>
            <a:pPr lvl="2"/>
            <a:r>
              <a:rPr lang="en-US" alt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Educate</a:t>
            </a:r>
            <a:r>
              <a:rPr lang="en-US" altLang="en-US" dirty="0"/>
              <a:t>, </a:t>
            </a:r>
            <a:r>
              <a:rPr lang="en-US" alt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Educate</a:t>
            </a:r>
            <a:r>
              <a:rPr lang="en-US" altLang="en-US" dirty="0"/>
              <a:t> then </a:t>
            </a:r>
            <a:r>
              <a:rPr lang="en-US" alt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Educate</a:t>
            </a:r>
            <a:r>
              <a:rPr lang="en-US" altLang="en-US" dirty="0"/>
              <a:t> yet again</a:t>
            </a:r>
          </a:p>
          <a:p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Zero-day Exploits</a:t>
            </a:r>
          </a:p>
          <a:p>
            <a:r>
              <a:rPr lang="en-US" altLang="en-US" dirty="0"/>
              <a:t>Other issues</a:t>
            </a:r>
          </a:p>
          <a:p>
            <a:pPr lvl="1"/>
            <a:r>
              <a:rPr lang="en-US" altLang="en-US" dirty="0"/>
              <a:t>Physical Security (Access Issues)</a:t>
            </a:r>
          </a:p>
          <a:p>
            <a:pPr lvl="1"/>
            <a:r>
              <a:rPr lang="en-US" altLang="en-US" dirty="0"/>
              <a:t>HR Procedures for Onboarding &amp; Exit </a:t>
            </a:r>
          </a:p>
        </p:txBody>
      </p:sp>
    </p:spTree>
    <p:extLst>
      <p:ext uri="{BB962C8B-B14F-4D97-AF65-F5344CB8AC3E}">
        <p14:creationId xmlns:p14="http://schemas.microsoft.com/office/powerpoint/2010/main" val="195387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Embedded Systems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4008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Embedded System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1"/>
            <a:r>
              <a:rPr 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Focused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Programmable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</a:t>
            </a:r>
            <a:r>
              <a:rPr lang="en-US" dirty="0"/>
              <a:t> with a </a:t>
            </a:r>
            <a:r>
              <a:rPr 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Minimal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and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  <a:r>
              <a:rPr lang="en-US" dirty="0"/>
              <a:t>.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IoT</a:t>
            </a:r>
            <a:r>
              <a:rPr lang="en-US" dirty="0"/>
              <a:t>: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 of Things</a:t>
            </a:r>
          </a:p>
          <a:p>
            <a:pPr lvl="1"/>
            <a:r>
              <a:rPr lang="en-US" dirty="0"/>
              <a:t>Refrigerators</a:t>
            </a:r>
          </a:p>
          <a:p>
            <a:pPr lvl="1"/>
            <a:r>
              <a:rPr lang="en-US" dirty="0"/>
              <a:t>TV</a:t>
            </a:r>
          </a:p>
          <a:p>
            <a:pPr lvl="1"/>
            <a:r>
              <a:rPr lang="en-US" dirty="0"/>
              <a:t>Thermostats</a:t>
            </a:r>
          </a:p>
          <a:p>
            <a:pPr lvl="1"/>
            <a:r>
              <a:rPr lang="en-US" dirty="0"/>
              <a:t>Lighting Units</a:t>
            </a:r>
          </a:p>
          <a:p>
            <a:pPr lvl="1"/>
            <a:r>
              <a:rPr lang="en-US" dirty="0"/>
              <a:t>Alarm Systems </a:t>
            </a:r>
          </a:p>
          <a:p>
            <a:pPr lvl="2"/>
            <a:r>
              <a:rPr lang="en-US" dirty="0"/>
              <a:t>Video Surveillance</a:t>
            </a:r>
          </a:p>
          <a:p>
            <a:pPr lvl="2"/>
            <a:r>
              <a:rPr lang="en-US" dirty="0"/>
              <a:t>Door Locks</a:t>
            </a:r>
          </a:p>
          <a:p>
            <a:pPr lvl="3"/>
            <a:r>
              <a:rPr 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{{ Combo = “</a:t>
            </a:r>
            <a:r>
              <a:rPr 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Ring</a:t>
            </a:r>
            <a:r>
              <a:rPr 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 , default configuration is problematic}}</a:t>
            </a:r>
          </a:p>
        </p:txBody>
      </p:sp>
    </p:spTree>
    <p:extLst>
      <p:ext uri="{BB962C8B-B14F-4D97-AF65-F5344CB8AC3E}">
        <p14:creationId xmlns:p14="http://schemas.microsoft.com/office/powerpoint/2010/main" val="2206543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219200"/>
            <a:ext cx="6400800" cy="4906963"/>
          </a:xfrm>
        </p:spPr>
        <p:txBody>
          <a:bodyPr/>
          <a:lstStyle/>
          <a:p>
            <a:r>
              <a:rPr lang="en-US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Vulnerabilities</a:t>
            </a:r>
          </a:p>
          <a:p>
            <a:pPr lvl="1"/>
            <a:r>
              <a:rPr lang="en-US" dirty="0"/>
              <a:t>A major contributor to Security Breaches</a:t>
            </a:r>
          </a:p>
          <a:p>
            <a:pPr lvl="1"/>
            <a:r>
              <a:rPr lang="en-US" dirty="0"/>
              <a:t>Insufficient Input Validation Checks and Unhandled / Improperly-Handled Exceptions</a:t>
            </a:r>
          </a:p>
          <a:p>
            <a:r>
              <a:rPr lang="en-US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 Memory Vulnerabilities</a:t>
            </a:r>
          </a:p>
          <a:p>
            <a:pPr lvl="1"/>
            <a:r>
              <a:rPr lang="en-US" dirty="0"/>
              <a:t>Improper use of Virtual Memory by Developers</a:t>
            </a:r>
          </a:p>
        </p:txBody>
      </p:sp>
    </p:spTree>
    <p:extLst>
      <p:ext uri="{BB962C8B-B14F-4D97-AF65-F5344CB8AC3E}">
        <p14:creationId xmlns:p14="http://schemas.microsoft.com/office/powerpoint/2010/main" val="1549837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219200"/>
            <a:ext cx="6705600" cy="5486400"/>
          </a:xfrm>
        </p:spPr>
        <p:txBody>
          <a:bodyPr>
            <a:normAutofit/>
          </a:bodyPr>
          <a:lstStyle/>
          <a:p>
            <a:r>
              <a:rPr lang="en-US" sz="2400" b="1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Best Security </a:t>
            </a:r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</a:t>
            </a:r>
            <a:r>
              <a:rPr lang="en-US" sz="2400" b="1" i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Designed-In</a:t>
            </a:r>
            <a:r>
              <a:rPr lang="en-US" sz="24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4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333300"/>
                </a:highlight>
              </a:rPr>
              <a:t>Early-On</a:t>
            </a:r>
          </a:p>
          <a:p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Prototyping:</a:t>
            </a:r>
          </a:p>
          <a:p>
            <a:pPr lvl="1"/>
            <a:r>
              <a:rPr lang="en-US" sz="2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Incomplete Versions of the software program being developed</a:t>
            </a:r>
          </a:p>
          <a:p>
            <a:pPr lvl="1"/>
            <a:r>
              <a:rPr lang="en-US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Learning Exercise</a:t>
            </a:r>
            <a:r>
              <a:rPr lang="en-US" sz="2000" dirty="0"/>
              <a:t>”,</a:t>
            </a:r>
            <a:r>
              <a:rPr lang="en-US" sz="2000" u="sng" dirty="0"/>
              <a:t> therefore potentially </a:t>
            </a:r>
            <a:r>
              <a:rPr lang="en-US" sz="2000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Throw-away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584271"/>
            <a:ext cx="3962400" cy="31415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F613B2-BCF8-45E1-8E69-9FB329F1BCFA}"/>
              </a:ext>
            </a:extLst>
          </p:cNvPr>
          <p:cNvSpPr txBox="1"/>
          <p:nvPr/>
        </p:nvSpPr>
        <p:spPr>
          <a:xfrm>
            <a:off x="2377328" y="2967335"/>
            <a:ext cx="43893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Old Military SDLC Steps = “PDIM”</a:t>
            </a:r>
          </a:p>
          <a:p>
            <a:r>
              <a:rPr lang="en-US" dirty="0"/>
              <a:t>TODAY – Do all within shorter Intervals- Agile</a:t>
            </a:r>
          </a:p>
        </p:txBody>
      </p:sp>
    </p:spTree>
    <p:extLst>
      <p:ext uri="{BB962C8B-B14F-4D97-AF65-F5344CB8AC3E}">
        <p14:creationId xmlns:p14="http://schemas.microsoft.com/office/powerpoint/2010/main" val="1642188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Specific Types of Software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629400" cy="4983162"/>
          </a:xfrm>
        </p:spPr>
        <p:txBody>
          <a:bodyPr>
            <a:normAutofit fontScale="85000" lnSpcReduction="20000"/>
          </a:bodyPr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 Testing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and Output Testing</a:t>
            </a:r>
          </a:p>
          <a:p>
            <a:pPr lvl="2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Fuzz Testing</a:t>
            </a:r>
          </a:p>
          <a:p>
            <a:pPr lvl="3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Format (Type), Range, Patterns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Unhandled Exception Testing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Integration Testing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Testing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Acceptance Testing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AKA, “UI/UX Testing”</a:t>
            </a:r>
          </a:p>
          <a:p>
            <a:pPr lvl="2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Repeated during different Testing Contexts:</a:t>
            </a:r>
          </a:p>
          <a:p>
            <a:pPr lvl="3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Unit, Fuzz, Integration, System, UI/UX</a:t>
            </a:r>
          </a:p>
          <a:p>
            <a:pPr lvl="3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Alpha</a:t>
            </a:r>
          </a:p>
          <a:p>
            <a:pPr lvl="3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Beta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Regression Testing</a:t>
            </a:r>
          </a:p>
        </p:txBody>
      </p:sp>
    </p:spTree>
    <p:extLst>
      <p:ext uri="{BB962C8B-B14F-4D97-AF65-F5344CB8AC3E}">
        <p14:creationId xmlns:p14="http://schemas.microsoft.com/office/powerpoint/2010/main" val="1924875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Patch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219200"/>
            <a:ext cx="6705600" cy="4906963"/>
          </a:xfrm>
        </p:spPr>
        <p:txBody>
          <a:bodyPr>
            <a:normAutofit fontScale="92500" lnSpcReduction="20000"/>
          </a:bodyPr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Hotfix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small piece of code developed to correct a major software bug or fault and released as quickly as possible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Patch</a:t>
            </a:r>
            <a:r>
              <a:rPr lang="en-US" dirty="0">
                <a:solidFill>
                  <a:srgbClr val="0070C0"/>
                </a:solidFill>
              </a:rPr>
              <a:t> </a:t>
            </a:r>
            <a:endParaRPr lang="en-US" dirty="0"/>
          </a:p>
          <a:p>
            <a:pPr lvl="1"/>
            <a:r>
              <a:rPr lang="en-US" dirty="0"/>
              <a:t>set of changes to a computer program or its supporting data designed to update, fix, or improve it.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Service pack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collection of updates, fixes, or enhancements to a software program delivered in the form of a single installable package</a:t>
            </a:r>
          </a:p>
        </p:txBody>
      </p:sp>
    </p:spTree>
    <p:extLst>
      <p:ext uri="{BB962C8B-B14F-4D97-AF65-F5344CB8AC3E}">
        <p14:creationId xmlns:p14="http://schemas.microsoft.com/office/powerpoint/2010/main" val="4171726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 Tier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629400" cy="4525963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One-tier Model – “Monolith”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Two-tier Model – “Client-Server”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Three-tier Model :</a:t>
            </a:r>
          </a:p>
          <a:p>
            <a:pPr lvl="1"/>
            <a:r>
              <a:rPr lang="en-US" sz="4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MVC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{{ Discuss “Level 2 Server Diag.pptx”}}</a:t>
            </a:r>
            <a:endPara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95408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NoSQL</a:t>
            </a:r>
            <a:r>
              <a:rPr lang="en-US" dirty="0"/>
              <a:t> vs.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884" y="1752600"/>
            <a:ext cx="6400800" cy="416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145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692</Words>
  <Application>Microsoft Office PowerPoint</Application>
  <PresentationFormat>On-screen Show (4:3)</PresentationFormat>
  <Paragraphs>124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CompTIA Security+ Study Guide (SY0-501)</vt:lpstr>
      <vt:lpstr>  Chapter 7: Host, Data, and Application Security </vt:lpstr>
      <vt:lpstr>Hacking</vt:lpstr>
      <vt:lpstr>Threat Actors and Attributes</vt:lpstr>
      <vt:lpstr>Use of Open Source Intelligence</vt:lpstr>
      <vt:lpstr>Types of Vulnerabilities</vt:lpstr>
      <vt:lpstr>Embedded Systems Security</vt:lpstr>
      <vt:lpstr>Application Vulnerabilities</vt:lpstr>
      <vt:lpstr>Secure Programming</vt:lpstr>
      <vt:lpstr>Specific Types of Software Testing</vt:lpstr>
      <vt:lpstr>Patch Management</vt:lpstr>
      <vt:lpstr>Database Tier Models</vt:lpstr>
      <vt:lpstr>NoSQL vs. SQL</vt:lpstr>
    </vt:vector>
  </TitlesOfParts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O'Brien, Connor - San Francisco</dc:creator>
  <cp:lastModifiedBy>Ricky Gibson</cp:lastModifiedBy>
  <cp:revision>37</cp:revision>
  <dcterms:created xsi:type="dcterms:W3CDTF">2013-06-05T20:52:46Z</dcterms:created>
  <dcterms:modified xsi:type="dcterms:W3CDTF">2020-04-15T17:29:08Z</dcterms:modified>
</cp:coreProperties>
</file>