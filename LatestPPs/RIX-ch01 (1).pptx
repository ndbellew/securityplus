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8" r:id="rId2"/>
    <p:sldId id="259" r:id="rId3"/>
    <p:sldId id="260" r:id="rId4"/>
    <p:sldId id="261" r:id="rId5"/>
    <p:sldId id="262" r:id="rId6"/>
    <p:sldId id="276" r:id="rId7"/>
    <p:sldId id="263" r:id="rId8"/>
    <p:sldId id="264" r:id="rId9"/>
    <p:sldId id="265" r:id="rId10"/>
    <p:sldId id="266" r:id="rId11"/>
    <p:sldId id="267" r:id="rId12"/>
    <p:sldId id="280" r:id="rId13"/>
    <p:sldId id="268" r:id="rId14"/>
    <p:sldId id="269" r:id="rId15"/>
    <p:sldId id="270" r:id="rId16"/>
    <p:sldId id="271" r:id="rId17"/>
    <p:sldId id="272" r:id="rId18"/>
    <p:sldId id="277" r:id="rId19"/>
    <p:sldId id="273" r:id="rId20"/>
    <p:sldId id="27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99CC"/>
    <a:srgbClr val="99CCFF"/>
    <a:srgbClr val="00FF00"/>
    <a:srgbClr val="FF9933"/>
    <a:srgbClr val="FF3300"/>
    <a:srgbClr val="FF7C80"/>
    <a:srgbClr val="FFCC66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35" autoAdjust="0"/>
    <p:restoredTop sz="94660"/>
  </p:normalViewPr>
  <p:slideViewPr>
    <p:cSldViewPr>
      <p:cViewPr varScale="1">
        <p:scale>
          <a:sx n="82" d="100"/>
          <a:sy n="82" d="100"/>
        </p:scale>
        <p:origin x="162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8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EAF1B-7AFA-4FED-BE15-B45A2E3AC6F5}" type="datetimeFigureOut">
              <a:rPr lang="en-US" smtClean="0"/>
              <a:t>4/8/2020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540E0-A613-4087-86B8-AF1BB0E116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918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010E2AE0-5C15-49BD-99C9-4FD89764F1A2}" type="slidenum">
              <a:rPr lang="en-US" altLang="en-US" sz="1200" smtClean="0"/>
              <a:pPr/>
              <a:t>1</a:t>
            </a:fld>
            <a:endParaRPr lang="en-US" altLang="en-US" sz="1200" dirty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7563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33C3C238-9A65-4388-B9FF-37F08954E1EF}" type="slidenum">
              <a:rPr lang="en-US" altLang="en-US" sz="1200" smtClean="0"/>
              <a:pPr/>
              <a:t>2</a:t>
            </a:fld>
            <a:endParaRPr lang="en-US" altLang="en-US" sz="1200" dirty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86881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D4ED5ADA-5231-4FBE-86AD-8A44EB707B4F}" type="slidenum">
              <a:rPr lang="en-US" altLang="en-US" sz="1200" smtClean="0"/>
              <a:pPr/>
              <a:t>3</a:t>
            </a:fld>
            <a:endParaRPr lang="en-US" altLang="en-US" sz="1200" dirty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25338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152A0629-4B54-419B-9192-08DAE2176232}" type="slidenum">
              <a:rPr lang="en-US" altLang="en-US" sz="1200" smtClean="0"/>
              <a:pPr/>
              <a:t>4</a:t>
            </a:fld>
            <a:endParaRPr lang="en-US" altLang="en-US" sz="1200" dirty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74331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398E1BBF-3CD4-40AB-BBFA-ECBDD9F79E0C}" type="slidenum">
              <a:rPr lang="en-US" altLang="en-US" sz="1200" smtClean="0"/>
              <a:pPr/>
              <a:t>5</a:t>
            </a:fld>
            <a:endParaRPr lang="en-US" altLang="en-US" sz="1200" dirty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41443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E6F36EF6-357E-4454-A4B3-5656F2AE9E82}" type="slidenum">
              <a:rPr lang="en-US" altLang="en-US" sz="1200" smtClean="0"/>
              <a:pPr/>
              <a:t>7</a:t>
            </a:fld>
            <a:endParaRPr lang="en-US" altLang="en-US" sz="1200" dirty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7681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5632DE9C-2BA2-4348-896F-43064219483C}" type="slidenum">
              <a:rPr lang="en-US" altLang="en-US" sz="1200" smtClean="0"/>
              <a:pPr/>
              <a:t>8</a:t>
            </a:fld>
            <a:endParaRPr lang="en-US" altLang="en-US" sz="1200" dirty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67869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97B8DF83-F771-4784-812B-4C36B4D9AD6D}" type="slidenum">
              <a:rPr lang="en-US" altLang="en-US" sz="1200" smtClean="0"/>
              <a:pPr/>
              <a:t>9</a:t>
            </a:fld>
            <a:endParaRPr lang="en-US" altLang="en-US" sz="1200" dirty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67392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0BD47BF4-F936-4812-B79B-D52FEC6F93B3}" type="slidenum">
              <a:rPr lang="en-US" altLang="en-US" sz="1200" smtClean="0"/>
              <a:pPr/>
              <a:t>10</a:t>
            </a:fld>
            <a:endParaRPr lang="en-US" altLang="en-US" sz="1200" dirty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00384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C6F7AF8E-87AE-435F-8F2E-B1CCB16161FE}" type="slidenum">
              <a:rPr lang="en-US" altLang="en-US" sz="1200" smtClean="0"/>
              <a:pPr/>
              <a:t>11</a:t>
            </a:fld>
            <a:endParaRPr lang="en-US" altLang="en-US" sz="1200" dirty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51343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69725A52-747B-4060-85A4-D165D34FAEE5}" type="slidenum">
              <a:rPr lang="en-US" altLang="en-US" sz="1200" smtClean="0"/>
              <a:pPr/>
              <a:t>13</a:t>
            </a:fld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826426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F4D0AAF1-5923-47F0-8350-EE1EA43E8B9A}" type="slidenum">
              <a:rPr lang="en-US" altLang="en-US" sz="1200" smtClean="0"/>
              <a:pPr/>
              <a:t>14</a:t>
            </a:fld>
            <a:endParaRPr lang="en-US" altLang="en-US" sz="1200" dirty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179676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4D3E404D-2B39-4A1E-A695-C49760B22F62}" type="slidenum">
              <a:rPr lang="en-US" altLang="en-US" sz="1200" smtClean="0"/>
              <a:pPr/>
              <a:t>15</a:t>
            </a:fld>
            <a:endParaRPr lang="en-US" altLang="en-US" sz="1200" dirty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962761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6F86BFCD-2B05-405C-89CF-C8EB085C41D0}" type="slidenum">
              <a:rPr lang="en-US" altLang="en-US" sz="1200" smtClean="0"/>
              <a:pPr/>
              <a:t>16</a:t>
            </a:fld>
            <a:endParaRPr lang="en-US" altLang="en-US" sz="1200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499486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0C33B580-F3A0-49EC-A2FA-69909FEA5982}" type="slidenum">
              <a:rPr lang="en-US" altLang="en-US" sz="1200" smtClean="0"/>
              <a:pPr/>
              <a:t>17</a:t>
            </a:fld>
            <a:endParaRPr lang="en-US" altLang="en-US" sz="1200" dirty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02406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0C33B580-F3A0-49EC-A2FA-69909FEA5982}" type="slidenum">
              <a:rPr lang="en-US" altLang="en-US" sz="1200" smtClean="0">
                <a:solidFill>
                  <a:prstClr val="black"/>
                </a:solidFill>
              </a:rPr>
              <a:pPr/>
              <a:t>18</a:t>
            </a:fld>
            <a:endParaRPr lang="en-US" altLang="en-US" sz="1200" dirty="0">
              <a:solidFill>
                <a:prstClr val="black"/>
              </a:solidFill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610287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5D76280F-97B0-414B-8284-9675D14D6C85}" type="slidenum">
              <a:rPr lang="en-US" altLang="en-US" sz="1200" smtClean="0"/>
              <a:pPr/>
              <a:t>19</a:t>
            </a:fld>
            <a:endParaRPr lang="en-US" altLang="en-US" sz="1200" dirty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4194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-9525" y="0"/>
            <a:ext cx="9144000" cy="685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65088"/>
            <a:ext cx="1676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0"/>
            <a:ext cx="1820863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873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400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3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9" y="4406900"/>
            <a:ext cx="62087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5999" y="2906713"/>
            <a:ext cx="62087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68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2200" y="1586816"/>
            <a:ext cx="2895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1600200"/>
            <a:ext cx="3200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92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1535113"/>
            <a:ext cx="2895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0" y="2209800"/>
            <a:ext cx="2897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0200" y="1535113"/>
            <a:ext cx="3276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0200" y="2174874"/>
            <a:ext cx="32766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67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38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66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3050"/>
            <a:ext cx="220980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0" y="273050"/>
            <a:ext cx="41910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9800" y="1430860"/>
            <a:ext cx="220980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7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67000" y="609600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000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5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50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86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D81E-C9EA-4359-B926-F4C2977B0011}" type="datetimeFigureOut">
              <a:rPr lang="en-US" smtClean="0"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5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CompTIA Security+ Study Guide (SY0-501)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Chapter 1:</a:t>
            </a:r>
          </a:p>
          <a:p>
            <a:r>
              <a:rPr lang="en-US" altLang="en-US" dirty="0"/>
              <a:t>Managing Risk</a:t>
            </a:r>
          </a:p>
        </p:txBody>
      </p:sp>
    </p:spTree>
    <p:extLst>
      <p:ext uri="{BB962C8B-B14F-4D97-AF65-F5344CB8AC3E}">
        <p14:creationId xmlns:p14="http://schemas.microsoft.com/office/powerpoint/2010/main" val="2566639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Chapter 1: Managing </a:t>
            </a:r>
            <a:r>
              <a:rPr lang="en-US" altLang="en-US" sz="4000" b="1" i="1" u="sng" dirty="0">
                <a:solidFill>
                  <a:srgbClr val="FF0000"/>
                </a:solidFill>
              </a:rPr>
              <a:t>Risk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1600200"/>
            <a:ext cx="6858000" cy="4525963"/>
          </a:xfrm>
          <a:noFill/>
        </p:spPr>
        <p:txBody>
          <a:bodyPr/>
          <a:lstStyle/>
          <a:p>
            <a:r>
              <a:rPr lang="en-US" altLang="en-US" sz="2800" b="1" dirty="0"/>
              <a:t>Explain how resiliency and automation strategies reduce risk</a:t>
            </a:r>
          </a:p>
          <a:p>
            <a:r>
              <a:rPr lang="en-US" altLang="en-US" sz="2800" b="0" dirty="0"/>
              <a:t>Explain the importance of policies, plans, and procedures related to organizational security</a:t>
            </a:r>
          </a:p>
        </p:txBody>
      </p:sp>
    </p:spTree>
    <p:extLst>
      <p:ext uri="{BB962C8B-B14F-4D97-AF65-F5344CB8AC3E}">
        <p14:creationId xmlns:p14="http://schemas.microsoft.com/office/powerpoint/2010/main" val="3926615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274638"/>
            <a:ext cx="6400800" cy="639762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Threat Assessment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914400"/>
            <a:ext cx="6400800" cy="5791200"/>
          </a:xfrm>
          <a:noFill/>
        </p:spPr>
        <p:txBody>
          <a:bodyPr>
            <a:normAutofit fontScale="62500" lnSpcReduction="20000"/>
          </a:bodyPr>
          <a:lstStyle/>
          <a:p>
            <a:r>
              <a:rPr lang="en-US" altLang="en-US" sz="3800" b="1" i="1" u="sng" dirty="0">
                <a:solidFill>
                  <a:srgbClr val="FF0000"/>
                </a:solidFill>
              </a:rPr>
              <a:t>Threats</a:t>
            </a:r>
            <a:r>
              <a:rPr lang="en-US" altLang="en-US" sz="3800" b="0" dirty="0"/>
              <a:t> can be categorized as: </a:t>
            </a:r>
          </a:p>
          <a:p>
            <a:pPr lvl="1"/>
            <a:r>
              <a:rPr lang="en-US" altLang="en-US" sz="3200" b="1" i="1" u="sng" dirty="0">
                <a:solidFill>
                  <a:srgbClr val="FFC000"/>
                </a:solidFill>
                <a:highlight>
                  <a:srgbClr val="000000"/>
                </a:highlight>
              </a:rPr>
              <a:t>Anything</a:t>
            </a:r>
            <a:r>
              <a:rPr lang="en-US" altLang="en-US" sz="3200" dirty="0"/>
              <a:t> that has the </a:t>
            </a:r>
            <a:r>
              <a:rPr lang="en-US" altLang="en-US" sz="3200" b="1" i="1" u="sng" dirty="0">
                <a:solidFill>
                  <a:srgbClr val="FFC000"/>
                </a:solidFill>
                <a:highlight>
                  <a:srgbClr val="000000"/>
                </a:highlight>
              </a:rPr>
              <a:t>Potential</a:t>
            </a:r>
            <a:r>
              <a:rPr lang="en-US" altLang="en-US" sz="3200" dirty="0"/>
              <a:t> to cause </a:t>
            </a:r>
            <a:r>
              <a:rPr lang="en-US" altLang="en-US" sz="3200" b="1" i="1" u="sng" dirty="0">
                <a:solidFill>
                  <a:srgbClr val="FF0000"/>
                </a:solidFill>
              </a:rPr>
              <a:t>Serious Harm </a:t>
            </a:r>
            <a:r>
              <a:rPr lang="en-US" altLang="en-US" sz="3200" dirty="0"/>
              <a:t>to a Computer System or its Resources</a:t>
            </a:r>
          </a:p>
          <a:p>
            <a:pPr lvl="2"/>
            <a:r>
              <a:rPr lang="en-US" altLang="en-US" sz="2600" dirty="0"/>
              <a:t>May or may not happen</a:t>
            </a:r>
          </a:p>
          <a:p>
            <a:pPr lvl="2"/>
            <a:r>
              <a:rPr lang="en-US" altLang="en-US" sz="2600" dirty="0"/>
              <a:t>Has the </a:t>
            </a:r>
            <a:r>
              <a:rPr lang="en-US" altLang="en-US" sz="2600" b="1" i="1" u="sng" dirty="0">
                <a:solidFill>
                  <a:srgbClr val="FFC000"/>
                </a:solidFill>
                <a:highlight>
                  <a:srgbClr val="000000"/>
                </a:highlight>
              </a:rPr>
              <a:t>Potential</a:t>
            </a:r>
            <a:r>
              <a:rPr lang="en-US" altLang="en-US" sz="2600" dirty="0"/>
              <a:t> to cause serious damage</a:t>
            </a:r>
          </a:p>
          <a:p>
            <a:pPr lvl="2"/>
            <a:r>
              <a:rPr lang="en-US" altLang="en-US" sz="2600" dirty="0"/>
              <a:t>Can lead to attacks on computer systems, networks and more</a:t>
            </a:r>
          </a:p>
          <a:p>
            <a:pPr lvl="1"/>
            <a:r>
              <a:rPr lang="en-US" altLang="en-US" sz="3200" dirty="0"/>
              <a:t>Environmental</a:t>
            </a:r>
          </a:p>
          <a:p>
            <a:pPr lvl="1"/>
            <a:r>
              <a:rPr lang="en-US" altLang="en-US" sz="3200" dirty="0"/>
              <a:t>Manmade</a:t>
            </a:r>
          </a:p>
          <a:p>
            <a:pPr lvl="1"/>
            <a:r>
              <a:rPr lang="en-US" altLang="en-US" sz="3200" dirty="0"/>
              <a:t>Internal vs. External</a:t>
            </a:r>
            <a:endParaRPr lang="en-US" altLang="en-US" sz="3200" b="0" dirty="0"/>
          </a:p>
          <a:p>
            <a:r>
              <a:rPr lang="en-US" altLang="en-US" sz="3800" b="1" i="1" u="sng" dirty="0">
                <a:solidFill>
                  <a:srgbClr val="FF0000"/>
                </a:solidFill>
              </a:rPr>
              <a:t>Risk</a:t>
            </a:r>
          </a:p>
          <a:p>
            <a:pPr lvl="1"/>
            <a:r>
              <a:rPr lang="en-US" sz="3200" dirty="0"/>
              <a:t>An </a:t>
            </a:r>
            <a:r>
              <a:rPr lang="en-US" sz="3200" b="1" i="1" u="sng" dirty="0">
                <a:solidFill>
                  <a:srgbClr val="0070C0"/>
                </a:solidFill>
              </a:rPr>
              <a:t>Object</a:t>
            </a:r>
            <a:r>
              <a:rPr lang="en-US" sz="3200" dirty="0"/>
              <a:t> (</a:t>
            </a:r>
            <a:r>
              <a:rPr lang="en-US" sz="3200" b="1" i="1" u="sng" dirty="0">
                <a:solidFill>
                  <a:srgbClr val="00B0F0"/>
                </a:solidFill>
              </a:rPr>
              <a:t>Person</a:t>
            </a:r>
            <a:r>
              <a:rPr lang="en-US" sz="3200" dirty="0"/>
              <a:t> , </a:t>
            </a:r>
            <a:r>
              <a:rPr lang="en-US" sz="3200" b="1" i="1" u="sng" dirty="0"/>
              <a:t>Situation, SW)</a:t>
            </a:r>
            <a:r>
              <a:rPr lang="en-US" sz="3200" dirty="0"/>
              <a:t> which poses a </a:t>
            </a:r>
            <a:r>
              <a:rPr lang="en-US" sz="3200" b="1" i="1" u="sng" dirty="0">
                <a:solidFill>
                  <a:srgbClr val="FFC000"/>
                </a:solidFill>
              </a:rPr>
              <a:t>Possible</a:t>
            </a:r>
            <a:r>
              <a:rPr lang="en-US" sz="3200" dirty="0"/>
              <a:t> </a:t>
            </a:r>
            <a:r>
              <a:rPr lang="en-US" sz="3200" b="1" i="1" u="sng" dirty="0">
                <a:solidFill>
                  <a:srgbClr val="FF0000"/>
                </a:solidFill>
              </a:rPr>
              <a:t>Threat</a:t>
            </a:r>
            <a:r>
              <a:rPr lang="en-US" sz="3200" dirty="0"/>
              <a:t> to the security of </a:t>
            </a:r>
            <a:r>
              <a:rPr lang="en-US" sz="3200" b="1" i="1" dirty="0">
                <a:solidFill>
                  <a:srgbClr val="0070C0"/>
                </a:solidFill>
              </a:rPr>
              <a:t>Resources</a:t>
            </a:r>
            <a:endParaRPr lang="en-US" altLang="en-US" sz="3200" b="1" i="1" dirty="0">
              <a:solidFill>
                <a:srgbClr val="0070C0"/>
              </a:solidFill>
            </a:endParaRPr>
          </a:p>
          <a:p>
            <a:r>
              <a:rPr lang="en-US" altLang="en-US" sz="3800" b="1" i="1" u="sng" dirty="0">
                <a:solidFill>
                  <a:srgbClr val="FF3300"/>
                </a:solidFill>
              </a:rPr>
              <a:t>Risk Assessment </a:t>
            </a:r>
            <a:r>
              <a:rPr lang="en-US" altLang="en-US" sz="3800" b="0" dirty="0"/>
              <a:t>(</a:t>
            </a:r>
            <a:r>
              <a:rPr lang="en-US" altLang="en-US" sz="3800" b="1" i="1" u="sng" dirty="0">
                <a:solidFill>
                  <a:srgbClr val="FF3300"/>
                </a:solidFill>
              </a:rPr>
              <a:t>Risk Analysis</a:t>
            </a:r>
            <a:r>
              <a:rPr lang="en-US" altLang="en-US" sz="3800" b="0" dirty="0"/>
              <a:t>)</a:t>
            </a:r>
          </a:p>
          <a:p>
            <a:pPr lvl="1"/>
            <a:r>
              <a:rPr lang="en-US" altLang="en-US" sz="3200" b="1" i="1" u="sng" dirty="0">
                <a:solidFill>
                  <a:srgbClr val="FF3300"/>
                </a:solidFill>
              </a:rPr>
              <a:t>Risk Assessment</a:t>
            </a:r>
          </a:p>
          <a:p>
            <a:pPr lvl="2"/>
            <a:r>
              <a:rPr lang="en-US" altLang="en-US" sz="3200" b="1" i="1" u="sng" dirty="0">
                <a:solidFill>
                  <a:srgbClr val="FF9933"/>
                </a:solidFill>
              </a:rPr>
              <a:t>PROCESS</a:t>
            </a:r>
            <a:r>
              <a:rPr lang="en-US" altLang="en-US" sz="2200" dirty="0"/>
              <a:t> that Deals with the </a:t>
            </a:r>
            <a:r>
              <a:rPr lang="en-US" altLang="en-US" sz="2200" b="1" i="1" u="sng" dirty="0">
                <a:solidFill>
                  <a:srgbClr val="FF0000"/>
                </a:solidFill>
              </a:rPr>
              <a:t>Threats</a:t>
            </a:r>
            <a:r>
              <a:rPr lang="en-US" altLang="en-US" sz="2200" dirty="0"/>
              <a:t>, </a:t>
            </a:r>
            <a:r>
              <a:rPr lang="en-US" altLang="en-US" sz="2200" b="1" i="1" u="sng" dirty="0">
                <a:solidFill>
                  <a:srgbClr val="FF0000"/>
                </a:solidFill>
              </a:rPr>
              <a:t>Vulnerabilities</a:t>
            </a:r>
            <a:r>
              <a:rPr lang="en-US" altLang="en-US" sz="2200" dirty="0"/>
              <a:t>, and </a:t>
            </a:r>
            <a:r>
              <a:rPr lang="en-US" altLang="en-US" sz="2200" b="1" i="1" u="sng" dirty="0">
                <a:highlight>
                  <a:srgbClr val="FFFF00"/>
                </a:highlight>
              </a:rPr>
              <a:t>Impacts</a:t>
            </a:r>
            <a:r>
              <a:rPr lang="en-US" altLang="en-US" sz="2200" dirty="0"/>
              <a:t> of a </a:t>
            </a:r>
            <a:r>
              <a:rPr lang="en-US" altLang="en-US" sz="2200" b="1" i="1" u="sng" dirty="0">
                <a:solidFill>
                  <a:srgbClr val="FF0000"/>
                </a:solidFill>
              </a:rPr>
              <a:t>Loss</a:t>
            </a:r>
            <a:r>
              <a:rPr lang="en-US" altLang="en-US" sz="2200" dirty="0"/>
              <a:t> of information-processing capabilities or information itself</a:t>
            </a:r>
            <a:endParaRPr lang="en-US" altLang="en-US" sz="2200" b="1" dirty="0"/>
          </a:p>
          <a:p>
            <a:pPr lvl="1"/>
            <a:r>
              <a:rPr lang="en-US" altLang="en-US" sz="3200" b="1" dirty="0"/>
              <a:t>Key </a:t>
            </a:r>
            <a:r>
              <a:rPr lang="en-US" altLang="en-US" sz="3200" b="1" i="1" u="sng" dirty="0">
                <a:solidFill>
                  <a:srgbClr val="FF6600"/>
                </a:solidFill>
              </a:rPr>
              <a:t>Components</a:t>
            </a:r>
            <a:r>
              <a:rPr lang="en-US" altLang="en-US" sz="3200" b="1" dirty="0"/>
              <a:t> of </a:t>
            </a:r>
            <a:r>
              <a:rPr lang="en-US" altLang="en-US" sz="3200" b="1" i="1" u="sng" dirty="0">
                <a:solidFill>
                  <a:srgbClr val="FF3300"/>
                </a:solidFill>
              </a:rPr>
              <a:t>Risk Assessment</a:t>
            </a:r>
          </a:p>
          <a:p>
            <a:pPr lvl="2"/>
            <a:r>
              <a:rPr lang="en-US" altLang="en-US" sz="2200" dirty="0"/>
              <a:t>Risks to which the organization is exposed </a:t>
            </a:r>
          </a:p>
          <a:p>
            <a:pPr lvl="2"/>
            <a:r>
              <a:rPr lang="en-US" altLang="en-US" sz="2200" dirty="0"/>
              <a:t>Risks that need addressing </a:t>
            </a:r>
          </a:p>
          <a:p>
            <a:pPr lvl="2"/>
            <a:r>
              <a:rPr lang="en-US" altLang="en-US" sz="2200" dirty="0"/>
              <a:t>Coordination with </a:t>
            </a:r>
            <a:r>
              <a:rPr lang="en-US" altLang="en-US" sz="2200" b="1" i="1" u="sng" dirty="0">
                <a:solidFill>
                  <a:srgbClr val="FF3300"/>
                </a:solidFill>
              </a:rPr>
              <a:t>BIA</a:t>
            </a:r>
            <a:r>
              <a:rPr lang="en-US" altLang="en-US" sz="2200" dirty="0"/>
              <a:t> </a:t>
            </a:r>
            <a:endParaRPr lang="en-US" altLang="en-US" sz="2100" dirty="0"/>
          </a:p>
        </p:txBody>
      </p:sp>
    </p:spTree>
    <p:extLst>
      <p:ext uri="{BB962C8B-B14F-4D97-AF65-F5344CB8AC3E}">
        <p14:creationId xmlns:p14="http://schemas.microsoft.com/office/powerpoint/2010/main" val="3167063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274638"/>
            <a:ext cx="6400800" cy="411162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Computing Risk Assessment</a:t>
            </a:r>
            <a:endParaRPr lang="en-US" altLang="en-US" sz="4000" b="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838200"/>
            <a:ext cx="6400800" cy="5745162"/>
          </a:xfrm>
        </p:spPr>
        <p:txBody>
          <a:bodyPr>
            <a:normAutofit fontScale="92500"/>
          </a:bodyPr>
          <a:lstStyle/>
          <a:p>
            <a:r>
              <a:rPr lang="en-US" altLang="en-US" b="0" dirty="0"/>
              <a:t>Methods of </a:t>
            </a:r>
            <a:r>
              <a:rPr lang="en-US" altLang="en-US" b="1" i="1" u="sng" dirty="0">
                <a:highlight>
                  <a:srgbClr val="FFFF00"/>
                </a:highlight>
              </a:rPr>
              <a:t>Measurement</a:t>
            </a:r>
            <a:r>
              <a:rPr lang="en-US" altLang="en-US" b="0" dirty="0"/>
              <a:t> 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</a:rPr>
              <a:t>Annualized Rate of Occurrence  </a:t>
            </a:r>
            <a:r>
              <a:rPr lang="en-US" altLang="en-US" b="1" dirty="0"/>
              <a:t>(</a:t>
            </a:r>
            <a:r>
              <a:rPr lang="en-US" altLang="en-US" b="1" i="1" u="sng" dirty="0">
                <a:solidFill>
                  <a:srgbClr val="0070C0"/>
                </a:solidFill>
              </a:rPr>
              <a:t>ARO</a:t>
            </a:r>
            <a:r>
              <a:rPr lang="en-US" altLang="en-US" b="1" dirty="0"/>
              <a:t>)</a:t>
            </a:r>
          </a:p>
          <a:p>
            <a:pPr lvl="2"/>
            <a:r>
              <a:rPr lang="en-US" altLang="en-US" sz="1800" dirty="0"/>
              <a:t>Likelihood of an event occurring within a year</a:t>
            </a:r>
          </a:p>
          <a:p>
            <a:pPr lvl="2"/>
            <a:r>
              <a:rPr lang="en-US" altLang="en-US" sz="1800" dirty="0"/>
              <a:t>Often from </a:t>
            </a:r>
            <a:r>
              <a:rPr lang="en-US" altLang="en-US" sz="1800" b="1" i="1" u="sng" dirty="0">
                <a:highlight>
                  <a:srgbClr val="FFFF00"/>
                </a:highlight>
              </a:rPr>
              <a:t>Historical Data</a:t>
            </a:r>
            <a:endParaRPr lang="en-US" altLang="en-US" sz="1800" b="1" dirty="0"/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</a:rPr>
              <a:t>ARO</a:t>
            </a:r>
            <a:r>
              <a:rPr lang="en-US" altLang="en-US" b="1" dirty="0"/>
              <a:t> can be used in conjunction with:</a:t>
            </a:r>
          </a:p>
          <a:p>
            <a:pPr lvl="2"/>
            <a:r>
              <a:rPr lang="en-US" altLang="en-US" b="1" i="1" u="sng" dirty="0">
                <a:solidFill>
                  <a:srgbClr val="0070C0"/>
                </a:solidFill>
              </a:rPr>
              <a:t>Single Loss Expectancy </a:t>
            </a:r>
            <a:r>
              <a:rPr lang="en-US" altLang="en-US" dirty="0"/>
              <a:t>(</a:t>
            </a:r>
            <a:r>
              <a:rPr lang="en-US" altLang="en-US" b="1" i="1" u="sng" dirty="0">
                <a:solidFill>
                  <a:srgbClr val="0070C0"/>
                </a:solidFill>
              </a:rPr>
              <a:t>SLE</a:t>
            </a:r>
            <a:r>
              <a:rPr lang="en-US" altLang="en-US" dirty="0"/>
              <a:t>)</a:t>
            </a:r>
          </a:p>
          <a:p>
            <a:pPr lvl="3"/>
            <a:r>
              <a:rPr lang="en-US" altLang="en-US" sz="1800" b="1" i="1" u="sng" dirty="0">
                <a:solidFill>
                  <a:srgbClr val="0070C0"/>
                </a:solidFill>
              </a:rPr>
              <a:t>EF</a:t>
            </a:r>
            <a:r>
              <a:rPr lang="en-US" altLang="en-US" sz="1800" dirty="0"/>
              <a:t> x </a:t>
            </a:r>
            <a:r>
              <a:rPr lang="en-US" altLang="en-US" sz="1800" b="1" i="1" u="sng" dirty="0">
                <a:solidFill>
                  <a:srgbClr val="0070C0"/>
                </a:solidFill>
              </a:rPr>
              <a:t>Asset Value</a:t>
            </a:r>
          </a:p>
          <a:p>
            <a:pPr lvl="3"/>
            <a:r>
              <a:rPr lang="en-US" altLang="en-US" sz="1800" b="1" i="1" u="sng" dirty="0">
                <a:solidFill>
                  <a:srgbClr val="0070C0"/>
                </a:solidFill>
              </a:rPr>
              <a:t>Exposure Factor </a:t>
            </a:r>
            <a:r>
              <a:rPr lang="en-US" altLang="en-US" sz="1800" dirty="0"/>
              <a:t>(EF)</a:t>
            </a:r>
          </a:p>
          <a:p>
            <a:pPr lvl="4"/>
            <a:r>
              <a:rPr lang="en-US" altLang="en-US" sz="1800" dirty="0"/>
              <a:t> </a:t>
            </a:r>
            <a:r>
              <a:rPr lang="en-US" sz="1800" b="1" i="1" u="sng" dirty="0">
                <a:solidFill>
                  <a:srgbClr val="FFFF00"/>
                </a:solidFill>
                <a:highlight>
                  <a:srgbClr val="000000"/>
                </a:highlight>
              </a:rPr>
              <a:t>Percentage</a:t>
            </a:r>
            <a:r>
              <a:rPr lang="en-US" sz="1800" dirty="0"/>
              <a:t> of the </a:t>
            </a:r>
            <a:r>
              <a:rPr lang="en-US" sz="1800" b="1" i="1" u="sng" dirty="0">
                <a:solidFill>
                  <a:srgbClr val="0070C0"/>
                </a:solidFill>
              </a:rPr>
              <a:t>Asset Value </a:t>
            </a:r>
            <a:r>
              <a:rPr lang="en-US" sz="1800" dirty="0"/>
              <a:t>that will be affected by the successful execution of the </a:t>
            </a:r>
            <a:r>
              <a:rPr lang="en-US" sz="1800" b="1" i="1" u="sng" dirty="0">
                <a:solidFill>
                  <a:srgbClr val="FF0000"/>
                </a:solidFill>
              </a:rPr>
              <a:t>Threat</a:t>
            </a:r>
            <a:endParaRPr lang="en-US" altLang="en-US" sz="1800" b="1" i="1" u="sng" dirty="0">
              <a:solidFill>
                <a:srgbClr val="FF0000"/>
              </a:solidFill>
            </a:endParaRPr>
          </a:p>
          <a:p>
            <a:pPr lvl="2"/>
            <a:r>
              <a:rPr lang="en-US" altLang="en-US" b="1" i="1" u="sng" dirty="0">
                <a:solidFill>
                  <a:srgbClr val="0070C0"/>
                </a:solidFill>
              </a:rPr>
              <a:t>Annual Loss Expectancy </a:t>
            </a:r>
            <a:r>
              <a:rPr lang="en-US" altLang="en-US" dirty="0"/>
              <a:t>(</a:t>
            </a:r>
            <a:r>
              <a:rPr lang="en-US" altLang="en-US" b="1" i="1" u="sng" dirty="0">
                <a:solidFill>
                  <a:srgbClr val="0070C0"/>
                </a:solidFill>
              </a:rPr>
              <a:t>ALE</a:t>
            </a:r>
            <a:r>
              <a:rPr lang="en-US" altLang="en-US" dirty="0"/>
              <a:t>)</a:t>
            </a:r>
          </a:p>
          <a:p>
            <a:pPr lvl="2"/>
            <a:r>
              <a:rPr lang="en-US" altLang="en-US" dirty="0"/>
              <a:t>Know this Formula and its Variations:</a:t>
            </a:r>
          </a:p>
          <a:p>
            <a:pPr lvl="3">
              <a:buFontTx/>
              <a:buNone/>
            </a:pPr>
            <a:r>
              <a:rPr lang="en-US" altLang="en-US" sz="2800" b="1" i="1" u="sng" dirty="0">
                <a:solidFill>
                  <a:srgbClr val="0070C0"/>
                </a:solidFill>
                <a:highlight>
                  <a:srgbClr val="FFFF00"/>
                </a:highlight>
              </a:rPr>
              <a:t>SLE x ARO = ALE</a:t>
            </a:r>
            <a:endParaRPr lang="en-US" altLang="en-US" sz="1800" dirty="0">
              <a:highlight>
                <a:srgbClr val="FFFF00"/>
              </a:highlight>
            </a:endParaRPr>
          </a:p>
          <a:p>
            <a:pPr>
              <a:buFontTx/>
              <a:buNone/>
            </a:pPr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2885425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Computing Risk Assessment Continued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600200"/>
            <a:ext cx="6934200" cy="4525963"/>
          </a:xfrm>
          <a:noFill/>
        </p:spPr>
        <p:txBody>
          <a:bodyPr>
            <a:normAutofit/>
          </a:bodyPr>
          <a:lstStyle/>
          <a:p>
            <a:r>
              <a:rPr lang="en-US" altLang="en-US" sz="4400" b="0" dirty="0"/>
              <a:t>Risk assessment can be </a:t>
            </a:r>
            <a:r>
              <a:rPr lang="en-US" altLang="en-US" sz="4400" b="1" i="1" u="sng" dirty="0"/>
              <a:t>Qualitative</a:t>
            </a:r>
            <a:r>
              <a:rPr lang="en-US" altLang="en-US" sz="4400" b="0" dirty="0"/>
              <a:t> or </a:t>
            </a:r>
            <a:r>
              <a:rPr lang="en-US" altLang="en-US" sz="4400" b="1" i="1" u="sng" dirty="0"/>
              <a:t>Quantitative</a:t>
            </a:r>
            <a:r>
              <a:rPr lang="en-US" altLang="en-US" sz="4400" b="0" dirty="0"/>
              <a:t> </a:t>
            </a:r>
          </a:p>
          <a:p>
            <a:pPr lvl="1"/>
            <a:r>
              <a:rPr lang="en-US" altLang="en-US" sz="4000" b="1" dirty="0">
                <a:highlight>
                  <a:srgbClr val="00FFFF"/>
                </a:highlight>
              </a:rPr>
              <a:t>Qualitative</a:t>
            </a:r>
          </a:p>
          <a:p>
            <a:pPr lvl="2"/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Opinion-based</a:t>
            </a:r>
            <a:r>
              <a:rPr lang="en-US" altLang="en-US" sz="2800" dirty="0"/>
              <a:t> and </a:t>
            </a:r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Subjective</a:t>
            </a:r>
          </a:p>
          <a:p>
            <a:pPr lvl="1"/>
            <a:r>
              <a:rPr lang="en-US" altLang="en-US" sz="4000" b="1" dirty="0">
                <a:highlight>
                  <a:srgbClr val="FFFF00"/>
                </a:highlight>
              </a:rPr>
              <a:t>Quantitative</a:t>
            </a:r>
          </a:p>
          <a:p>
            <a:pPr lvl="2"/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</a:rPr>
              <a:t>Cost-based</a:t>
            </a:r>
            <a:r>
              <a:rPr lang="en-US" altLang="en-US" sz="2800" dirty="0"/>
              <a:t> and </a:t>
            </a:r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Objective</a:t>
            </a:r>
            <a:r>
              <a:rPr lang="en-US" alt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7197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Measurements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MTBF</a:t>
            </a:r>
            <a:r>
              <a:rPr lang="en-US" dirty="0"/>
              <a:t>: Mean Time Between Failures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MTTF</a:t>
            </a:r>
            <a:r>
              <a:rPr lang="en-US" dirty="0"/>
              <a:t>: Mean Time To Failure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MTTR</a:t>
            </a:r>
            <a:r>
              <a:rPr lang="en-US" dirty="0"/>
              <a:t>: Mean Time To Restore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RTO</a:t>
            </a:r>
            <a:r>
              <a:rPr lang="en-US" dirty="0"/>
              <a:t>: Recovery Time Objective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RPO</a:t>
            </a:r>
            <a:r>
              <a:rPr lang="en-US" dirty="0"/>
              <a:t>: Recovery Point Objective</a:t>
            </a:r>
          </a:p>
        </p:txBody>
      </p:sp>
    </p:spTree>
    <p:extLst>
      <p:ext uri="{BB962C8B-B14F-4D97-AF65-F5344CB8AC3E}">
        <p14:creationId xmlns:p14="http://schemas.microsoft.com/office/powerpoint/2010/main" val="2831078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Acting on Your Risk Assessment-</a:t>
            </a:r>
            <a:br>
              <a:rPr lang="en-US" altLang="en-US" sz="4000" dirty="0"/>
            </a:br>
            <a:r>
              <a:rPr lang="en-US" altLang="en-US" sz="4000" dirty="0"/>
              <a:t>What to do for Each Risk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1600200"/>
            <a:ext cx="6400800" cy="4983162"/>
          </a:xfrm>
          <a:noFill/>
        </p:spPr>
        <p:txBody>
          <a:bodyPr>
            <a:normAutofit/>
          </a:bodyPr>
          <a:lstStyle/>
          <a:p>
            <a:r>
              <a:rPr lang="en-US" altLang="en-US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Risk Avoidance  </a:t>
            </a:r>
          </a:p>
          <a:p>
            <a:pPr lvl="1"/>
            <a:r>
              <a:rPr lang="en-US" altLang="en-US" sz="2400" dirty="0"/>
              <a:t>Involves:</a:t>
            </a:r>
          </a:p>
          <a:p>
            <a:pPr lvl="2"/>
            <a:r>
              <a:rPr lang="en-US" altLang="en-US" sz="2000" b="1" i="1" u="sng" dirty="0"/>
              <a:t>Identifying</a:t>
            </a:r>
            <a:r>
              <a:rPr lang="en-US" altLang="en-US" sz="2000" dirty="0"/>
              <a:t> a </a:t>
            </a:r>
            <a:r>
              <a:rPr lang="en-US" altLang="en-US" sz="2000" b="1" i="1" u="sng" dirty="0"/>
              <a:t>Risk</a:t>
            </a:r>
            <a:r>
              <a:rPr lang="en-US" altLang="en-US" sz="2000" dirty="0"/>
              <a:t> </a:t>
            </a:r>
          </a:p>
          <a:p>
            <a:pPr lvl="2"/>
            <a:r>
              <a:rPr lang="en-US" altLang="en-US" sz="2000" dirty="0"/>
              <a:t>Deciding </a:t>
            </a:r>
            <a:r>
              <a:rPr lang="en-US" altLang="en-US" sz="2000" b="1" i="1" u="sng" dirty="0"/>
              <a:t>Not To Engage </a:t>
            </a:r>
            <a:r>
              <a:rPr lang="en-US" altLang="en-US" sz="2000" dirty="0"/>
              <a:t>in actions associated with that risk</a:t>
            </a:r>
            <a:endParaRPr lang="en-US" altLang="en-US" b="1" dirty="0"/>
          </a:p>
          <a:p>
            <a:r>
              <a:rPr lang="en-US" altLang="en-US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Risk Transference</a:t>
            </a:r>
          </a:p>
          <a:p>
            <a:pPr lvl="1"/>
            <a:r>
              <a:rPr lang="en-US" altLang="en-US" sz="2400" b="1" i="1" u="sng" dirty="0"/>
              <a:t>Sharing</a:t>
            </a:r>
            <a:r>
              <a:rPr lang="en-US" altLang="en-US" sz="2400" dirty="0"/>
              <a:t> some of the </a:t>
            </a:r>
            <a:r>
              <a:rPr lang="en-US" altLang="en-US" sz="2400" b="1" i="1" u="sng" dirty="0"/>
              <a:t>Burden</a:t>
            </a:r>
            <a:r>
              <a:rPr lang="en-US" altLang="en-US" sz="2400" dirty="0"/>
              <a:t> of the </a:t>
            </a:r>
            <a:r>
              <a:rPr lang="en-US" altLang="en-US" sz="2400" b="1" i="1" u="sng" dirty="0"/>
              <a:t>Risk</a:t>
            </a:r>
            <a:r>
              <a:rPr lang="en-US" altLang="en-US" sz="2400" dirty="0"/>
              <a:t> with someone else</a:t>
            </a:r>
            <a:endParaRPr lang="en-US" altLang="en-US" sz="2400" b="1" dirty="0"/>
          </a:p>
          <a:p>
            <a:r>
              <a:rPr lang="en-US" altLang="en-US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Risk Mitigation</a:t>
            </a:r>
          </a:p>
          <a:p>
            <a:pPr lvl="1"/>
            <a:r>
              <a:rPr lang="en-US" altLang="en-US" sz="2400" dirty="0"/>
              <a:t>Accomplished anytime steps are taken to </a:t>
            </a:r>
            <a:r>
              <a:rPr lang="en-US" altLang="en-US" sz="2400" b="1" i="1" u="sng" dirty="0"/>
              <a:t>Reduce</a:t>
            </a:r>
            <a:r>
              <a:rPr lang="en-US" altLang="en-US" sz="2400" dirty="0"/>
              <a:t> risk</a:t>
            </a:r>
          </a:p>
          <a:p>
            <a:pPr lvl="1">
              <a:buFontTx/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2646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Acting on Your Risk Assessment…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600200"/>
            <a:ext cx="7086600" cy="4525963"/>
          </a:xfrm>
          <a:noFill/>
        </p:spPr>
        <p:txBody>
          <a:bodyPr/>
          <a:lstStyle/>
          <a:p>
            <a:r>
              <a:rPr lang="en-US" altLang="en-US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Risk Acceptance </a:t>
            </a:r>
          </a:p>
          <a:p>
            <a:pPr lvl="1"/>
            <a:r>
              <a:rPr lang="en-US" altLang="en-US" sz="2400" dirty="0"/>
              <a:t>When the </a:t>
            </a:r>
            <a:r>
              <a:rPr lang="en-US" altLang="en-US" sz="2400" b="1" i="1" u="sng" dirty="0"/>
              <a:t>Cost</a:t>
            </a:r>
            <a:r>
              <a:rPr lang="en-US" altLang="en-US" sz="2400" dirty="0"/>
              <a:t> of </a:t>
            </a:r>
            <a:r>
              <a:rPr lang="en-US" altLang="en-US" sz="2400" b="1" i="1" u="sng" dirty="0"/>
              <a:t>Implementing</a:t>
            </a:r>
            <a:r>
              <a:rPr lang="en-US" altLang="en-US" sz="2400" dirty="0"/>
              <a:t> any Mitigation Action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Exceeds</a:t>
            </a:r>
            <a:r>
              <a:rPr lang="en-US" altLang="en-US" sz="2400" dirty="0"/>
              <a:t> the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Value</a:t>
            </a:r>
            <a:r>
              <a:rPr lang="en-US" altLang="en-US" sz="2400" dirty="0"/>
              <a:t> of the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Harm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5795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152400"/>
            <a:ext cx="6400800" cy="457199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Risks and Cloud Computing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609600"/>
            <a:ext cx="6629400" cy="5516564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b="1" i="1" u="sng" dirty="0"/>
              <a:t>Dual Responsibility:</a:t>
            </a:r>
          </a:p>
          <a:p>
            <a:pPr lvl="1">
              <a:defRPr/>
            </a:pPr>
            <a:r>
              <a:rPr lang="en-US" b="1" i="1" u="sng" dirty="0">
                <a:solidFill>
                  <a:srgbClr val="00B0F0"/>
                </a:solidFill>
              </a:rPr>
              <a:t>YOU!</a:t>
            </a:r>
          </a:p>
          <a:p>
            <a:pPr lvl="1">
              <a:defRPr/>
            </a:pPr>
            <a:r>
              <a:rPr lang="en-US" b="1" i="1" u="sng" dirty="0">
                <a:solidFill>
                  <a:srgbClr val="0070C0"/>
                </a:solidFill>
              </a:rPr>
              <a:t>Cloud Provider</a:t>
            </a:r>
          </a:p>
          <a:p>
            <a:pPr>
              <a:defRPr/>
            </a:pPr>
            <a:r>
              <a:rPr lang="en-US" b="1" i="1" u="sng" dirty="0">
                <a:solidFill>
                  <a:srgbClr val="0070C0"/>
                </a:solidFill>
              </a:rPr>
              <a:t>Cloud Computing</a:t>
            </a:r>
          </a:p>
          <a:p>
            <a:pPr lvl="1">
              <a:defRPr/>
            </a:pPr>
            <a:r>
              <a:rPr lang="en-US" dirty="0"/>
              <a:t>Using the </a:t>
            </a:r>
            <a:r>
              <a:rPr lang="en-US" b="1" i="1" u="sng" dirty="0">
                <a:solidFill>
                  <a:srgbClr val="0070C0"/>
                </a:solidFill>
              </a:rPr>
              <a:t>Internet</a:t>
            </a:r>
            <a:r>
              <a:rPr lang="en-US" dirty="0"/>
              <a:t> to </a:t>
            </a:r>
            <a:r>
              <a:rPr lang="en-US" b="1" i="1" u="sng" dirty="0">
                <a:solidFill>
                  <a:srgbClr val="FF7C80"/>
                </a:solidFill>
              </a:rPr>
              <a:t>Host</a:t>
            </a:r>
            <a:r>
              <a:rPr lang="en-US" b="1" i="1" u="sng" dirty="0"/>
              <a:t> </a:t>
            </a:r>
            <a:r>
              <a:rPr lang="en-US" b="1" i="1" u="sng" dirty="0">
                <a:solidFill>
                  <a:srgbClr val="0070C0"/>
                </a:solidFill>
              </a:rPr>
              <a:t>Services</a:t>
            </a:r>
            <a:r>
              <a:rPr lang="en-US" b="1" i="1" u="sng" dirty="0"/>
              <a:t> </a:t>
            </a:r>
            <a:r>
              <a:rPr lang="en-US" dirty="0"/>
              <a:t>and </a:t>
            </a:r>
            <a:r>
              <a:rPr lang="en-US" b="1" i="1" u="sng" dirty="0">
                <a:solidFill>
                  <a:srgbClr val="FFCC66"/>
                </a:solidFill>
                <a:highlight>
                  <a:srgbClr val="000000"/>
                </a:highlight>
              </a:rPr>
              <a:t>Data</a:t>
            </a:r>
            <a:r>
              <a:rPr lang="en-US" dirty="0"/>
              <a:t> instead of hosting it </a:t>
            </a:r>
            <a:r>
              <a:rPr lang="en-US" b="1" i="1" u="sng" dirty="0"/>
              <a:t>Locally</a:t>
            </a:r>
            <a:r>
              <a:rPr lang="en-US" dirty="0"/>
              <a:t> </a:t>
            </a:r>
          </a:p>
          <a:p>
            <a:pPr lvl="2">
              <a:defRPr/>
            </a:pPr>
            <a:r>
              <a:rPr lang="en-US" dirty="0"/>
              <a:t>{ </a:t>
            </a:r>
            <a:r>
              <a:rPr lang="en-US" b="1" i="1" u="sng" dirty="0"/>
              <a:t>Locally</a:t>
            </a:r>
            <a:r>
              <a:rPr lang="en-US" dirty="0"/>
              <a:t> = </a:t>
            </a:r>
            <a:r>
              <a:rPr lang="en-US" b="1" i="1" u="sng" dirty="0">
                <a:solidFill>
                  <a:srgbClr val="0070C0"/>
                </a:solidFill>
              </a:rPr>
              <a:t>On Premises</a:t>
            </a:r>
            <a:r>
              <a:rPr lang="en-US" dirty="0"/>
              <a:t>}</a:t>
            </a:r>
          </a:p>
          <a:p>
            <a:pPr>
              <a:defRPr/>
            </a:pPr>
            <a:r>
              <a:rPr lang="en-US" dirty="0"/>
              <a:t>Three ways to implement </a:t>
            </a:r>
            <a:r>
              <a:rPr lang="en-US" b="1" i="1" u="sng" dirty="0">
                <a:solidFill>
                  <a:srgbClr val="0070C0"/>
                </a:solidFill>
              </a:rPr>
              <a:t>Cloud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0070C0"/>
                </a:solidFill>
              </a:rPr>
              <a:t>Computing</a:t>
            </a:r>
          </a:p>
          <a:p>
            <a:pPr marL="914400" lvl="1" indent="-457200">
              <a:buFontTx/>
              <a:buAutoNum type="arabicPeriod"/>
              <a:defRPr/>
            </a:pPr>
            <a:r>
              <a:rPr lang="en-US" dirty="0"/>
              <a:t>Platform as a Service -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PaaS</a:t>
            </a:r>
          </a:p>
          <a:p>
            <a:pPr marL="914400" lvl="1" indent="-457200">
              <a:buFontTx/>
              <a:buAutoNum type="arabicPeriod"/>
              <a:defRPr/>
            </a:pPr>
            <a:r>
              <a:rPr lang="en-US" dirty="0"/>
              <a:t>Software as a Service -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SaaS</a:t>
            </a:r>
          </a:p>
          <a:p>
            <a:pPr marL="914400" lvl="1" indent="-457200">
              <a:buFontTx/>
              <a:buAutoNum type="arabicPeriod"/>
              <a:defRPr/>
            </a:pPr>
            <a:r>
              <a:rPr lang="en-US" dirty="0"/>
              <a:t>Infrastructure as a Service  -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IaaS</a:t>
            </a:r>
          </a:p>
        </p:txBody>
      </p:sp>
    </p:spTree>
    <p:extLst>
      <p:ext uri="{BB962C8B-B14F-4D97-AF65-F5344CB8AC3E}">
        <p14:creationId xmlns:p14="http://schemas.microsoft.com/office/powerpoint/2010/main" val="3534528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Risks and Cloud Computing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447800"/>
            <a:ext cx="6553200" cy="4724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600" dirty="0"/>
              <a:t>Risk-related issues associated with cloud computing</a:t>
            </a:r>
          </a:p>
          <a:p>
            <a:pPr lvl="1">
              <a:lnSpc>
                <a:spcPct val="90000"/>
              </a:lnSpc>
            </a:pPr>
            <a:r>
              <a:rPr lang="en-US" altLang="en-US" sz="3200" b="1" i="1" u="sng" dirty="0">
                <a:solidFill>
                  <a:srgbClr val="FF0000"/>
                </a:solidFill>
              </a:rPr>
              <a:t>Regulatory</a:t>
            </a:r>
            <a:r>
              <a:rPr lang="en-US" altLang="en-US" sz="3200" b="1" i="1" u="sng" dirty="0">
                <a:solidFill>
                  <a:srgbClr val="0070C0"/>
                </a:solidFill>
              </a:rPr>
              <a:t> Compliance </a:t>
            </a:r>
          </a:p>
          <a:p>
            <a:pPr lvl="1">
              <a:lnSpc>
                <a:spcPct val="90000"/>
              </a:lnSpc>
            </a:pPr>
            <a:r>
              <a:rPr lang="en-US" altLang="en-US" sz="3200" dirty="0"/>
              <a:t>User </a:t>
            </a:r>
            <a:r>
              <a:rPr lang="en-US" altLang="en-US" sz="3200" b="1" i="1" u="sng" dirty="0">
                <a:solidFill>
                  <a:srgbClr val="FF0000"/>
                </a:solidFill>
              </a:rPr>
              <a:t>Permissions</a:t>
            </a:r>
            <a:r>
              <a:rPr lang="en-US" altLang="en-US" sz="3200" dirty="0"/>
              <a:t> &amp; </a:t>
            </a:r>
            <a:r>
              <a:rPr lang="en-US" altLang="en-US" sz="3200" b="1" i="1" u="sng" dirty="0">
                <a:solidFill>
                  <a:srgbClr val="FF0000"/>
                </a:solidFill>
              </a:rPr>
              <a:t>Privileges</a:t>
            </a:r>
          </a:p>
          <a:p>
            <a:pPr lvl="1">
              <a:lnSpc>
                <a:spcPct val="90000"/>
              </a:lnSpc>
            </a:pPr>
            <a:r>
              <a:rPr lang="en-US" altLang="en-US" sz="3200" b="1" i="1" u="sng" dirty="0">
                <a:solidFill>
                  <a:srgbClr val="FFFFCC"/>
                </a:solidFill>
                <a:highlight>
                  <a:srgbClr val="808080"/>
                </a:highlight>
              </a:rPr>
              <a:t>Data</a:t>
            </a:r>
            <a:r>
              <a:rPr lang="en-US" altLang="en-US" sz="3200" dirty="0"/>
              <a:t> </a:t>
            </a:r>
            <a:r>
              <a:rPr lang="en-US" altLang="en-US" sz="3200" b="1" i="1" u="sng" dirty="0">
                <a:solidFill>
                  <a:srgbClr val="FF7C80"/>
                </a:solidFill>
                <a:highlight>
                  <a:srgbClr val="808080"/>
                </a:highlight>
              </a:rPr>
              <a:t>Integration</a:t>
            </a:r>
            <a:r>
              <a:rPr lang="en-US" altLang="en-US" sz="3200" dirty="0">
                <a:solidFill>
                  <a:srgbClr val="0070C0"/>
                </a:solidFill>
              </a:rPr>
              <a:t>/</a:t>
            </a:r>
            <a:r>
              <a:rPr lang="en-US" altLang="en-US" sz="3200" b="1" i="1" u="sng" dirty="0">
                <a:solidFill>
                  <a:srgbClr val="FF7C80"/>
                </a:solidFill>
                <a:highlight>
                  <a:srgbClr val="808080"/>
                </a:highlight>
              </a:rPr>
              <a:t>Segregation</a:t>
            </a:r>
            <a:r>
              <a:rPr lang="en-US" altLang="en-US" sz="3200" dirty="0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8339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Risks Associated with </a:t>
            </a:r>
            <a:r>
              <a:rPr lang="en-US" altLang="en-US" sz="4000" b="1" i="1" u="sng" dirty="0">
                <a:solidFill>
                  <a:srgbClr val="0070C0"/>
                </a:solidFill>
              </a:rPr>
              <a:t>Virtualization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600200"/>
            <a:ext cx="6934200" cy="4525963"/>
          </a:xfrm>
          <a:noFill/>
        </p:spPr>
        <p:txBody>
          <a:bodyPr>
            <a:normAutofit lnSpcReduction="10000"/>
          </a:bodyPr>
          <a:lstStyle/>
          <a:p>
            <a:r>
              <a:rPr lang="en-US" altLang="en-US" b="0" dirty="0"/>
              <a:t>FYI – Review - </a:t>
            </a:r>
            <a:r>
              <a:rPr lang="en-US" altLang="en-US" b="1" i="1" u="sng" dirty="0">
                <a:solidFill>
                  <a:srgbClr val="0070C0"/>
                </a:solidFill>
              </a:rPr>
              <a:t>Virtualization</a:t>
            </a:r>
            <a:r>
              <a:rPr lang="en-US" altLang="en-US" b="0" dirty="0"/>
              <a:t>: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b="1" i="1" u="sng" dirty="0"/>
              <a:t>Act</a:t>
            </a:r>
            <a:r>
              <a:rPr lang="en-US" altLang="en-US" dirty="0"/>
              <a:t> of </a:t>
            </a:r>
            <a:r>
              <a:rPr lang="en-US" altLang="en-US" b="1" i="1" u="sng" dirty="0"/>
              <a:t>Creating</a:t>
            </a:r>
            <a:r>
              <a:rPr lang="en-US" altLang="en-US" dirty="0"/>
              <a:t> a </a:t>
            </a:r>
            <a:r>
              <a:rPr lang="en-US" altLang="en-US" b="1" i="1" u="sng" dirty="0"/>
              <a:t>Virtual</a:t>
            </a:r>
            <a:r>
              <a:rPr lang="en-US" altLang="en-US" dirty="0"/>
              <a:t> ( </a:t>
            </a:r>
            <a:r>
              <a:rPr lang="en-US" altLang="en-US" b="1" i="1" u="sng" dirty="0" err="1"/>
              <a:t>Sw</a:t>
            </a:r>
            <a:r>
              <a:rPr lang="en-US" altLang="en-US" b="1" i="1" u="sng" dirty="0"/>
              <a:t>-controlled</a:t>
            </a:r>
            <a:r>
              <a:rPr lang="en-US" altLang="en-US" dirty="0"/>
              <a:t>) version of something</a:t>
            </a:r>
            <a:endParaRPr lang="en-US" altLang="en-US" b="0" dirty="0"/>
          </a:p>
          <a:p>
            <a:r>
              <a:rPr lang="en-US" altLang="en-US" b="0" dirty="0"/>
              <a:t>Breaking out of the </a:t>
            </a:r>
            <a:r>
              <a:rPr lang="en-US" altLang="en-US" b="1" i="1" u="sng" dirty="0">
                <a:solidFill>
                  <a:srgbClr val="0070C0"/>
                </a:solidFill>
              </a:rPr>
              <a:t>Virtual Machine</a:t>
            </a:r>
          </a:p>
          <a:p>
            <a:r>
              <a:rPr lang="en-US" altLang="en-US" b="1" i="1" u="sng" dirty="0">
                <a:solidFill>
                  <a:srgbClr val="0070C0"/>
                </a:solidFill>
              </a:rPr>
              <a:t>Network</a:t>
            </a:r>
            <a:r>
              <a:rPr lang="en-US" altLang="en-US" b="0" dirty="0"/>
              <a:t> and </a:t>
            </a:r>
            <a:r>
              <a:rPr lang="en-US" altLang="en-US" b="1" i="1" u="sng" dirty="0">
                <a:solidFill>
                  <a:srgbClr val="FF0000"/>
                </a:solidFill>
              </a:rPr>
              <a:t>Security</a:t>
            </a:r>
            <a:r>
              <a:rPr lang="en-US" altLang="en-US" b="0" dirty="0"/>
              <a:t> </a:t>
            </a:r>
            <a:r>
              <a:rPr lang="en-US" altLang="en-US" b="1" i="1" u="sng" dirty="0">
                <a:solidFill>
                  <a:srgbClr val="C00000"/>
                </a:solidFill>
              </a:rPr>
              <a:t>Controls</a:t>
            </a:r>
            <a:r>
              <a:rPr lang="en-US" altLang="en-US" b="0" dirty="0"/>
              <a:t> can intermingle 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</a:rPr>
              <a:t>Hypervisor</a:t>
            </a:r>
            <a:r>
              <a:rPr lang="en-US" altLang="en-US" dirty="0"/>
              <a:t>: the virtual machine monitoring the software that allows the virtual machines to exist</a:t>
            </a:r>
          </a:p>
        </p:txBody>
      </p:sp>
    </p:spTree>
    <p:extLst>
      <p:ext uri="{BB962C8B-B14F-4D97-AF65-F5344CB8AC3E}">
        <p14:creationId xmlns:p14="http://schemas.microsoft.com/office/powerpoint/2010/main" val="2116014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51089-BF00-4AA4-BFB4-EC02FFC34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274638"/>
            <a:ext cx="6934200" cy="639762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Hierarchy of Standard Docume</a:t>
            </a:r>
            <a:r>
              <a:rPr lang="en-US" dirty="0"/>
              <a:t>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ECA08-4F64-48EF-A9E9-9C5ECFDCF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990600"/>
            <a:ext cx="6629400" cy="5638800"/>
          </a:xfrm>
        </p:spPr>
        <p:txBody>
          <a:bodyPr>
            <a:normAutofit fontScale="92500" lnSpcReduction="10000"/>
          </a:bodyPr>
          <a:lstStyle/>
          <a:p>
            <a:r>
              <a:rPr lang="en-US" b="1" i="1" u="sng" dirty="0">
                <a:solidFill>
                  <a:srgbClr val="0070C0"/>
                </a:solidFill>
              </a:rPr>
              <a:t>Strategic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99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Policy</a:t>
            </a:r>
          </a:p>
          <a:p>
            <a:pPr lvl="1"/>
            <a:r>
              <a:rPr lang="en-US" b="1" i="1" u="sng" dirty="0">
                <a:solidFill>
                  <a:srgbClr val="99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Guidelines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Tactical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99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Procedures</a:t>
            </a:r>
          </a:p>
          <a:p>
            <a:pPr lvl="2"/>
            <a:r>
              <a:rPr lang="en-US" dirty="0"/>
              <a:t>Independent Code Module that fulfills some concrete Task </a:t>
            </a:r>
          </a:p>
          <a:p>
            <a:pPr lvl="2"/>
            <a:r>
              <a:rPr lang="en-US" dirty="0"/>
              <a:t>Is referenced within a larger body of source code</a:t>
            </a:r>
          </a:p>
          <a:p>
            <a:pPr lvl="1"/>
            <a:r>
              <a:rPr lang="en-US" b="1" i="1" u="sng" dirty="0">
                <a:solidFill>
                  <a:srgbClr val="FF99CC"/>
                </a:solidFill>
                <a:highlight>
                  <a:srgbClr val="808080"/>
                </a:highlight>
              </a:rPr>
              <a:t>Processes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Compilation of many Tasks and/or Procedures</a:t>
            </a:r>
          </a:p>
          <a:p>
            <a:pPr lvl="1"/>
            <a:r>
              <a:rPr lang="en-US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Tasks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Lowest-Level, Operational Activity</a:t>
            </a:r>
          </a:p>
        </p:txBody>
      </p:sp>
    </p:spTree>
    <p:extLst>
      <p:ext uri="{BB962C8B-B14F-4D97-AF65-F5344CB8AC3E}">
        <p14:creationId xmlns:p14="http://schemas.microsoft.com/office/powerpoint/2010/main" val="1330304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Developing Policies, Standards, and Guidelines 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Implementing </a:t>
            </a:r>
            <a:r>
              <a:rPr lang="en-US" altLang="en-US" b="1" i="1" u="sng" dirty="0">
                <a:solidFill>
                  <a:srgbClr val="0070C0"/>
                </a:solidFill>
              </a:rPr>
              <a:t>Policies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Policies</a:t>
            </a:r>
            <a:r>
              <a:rPr lang="en-US" altLang="en-US" dirty="0"/>
              <a:t> provide people in an organization with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Guidance</a:t>
            </a:r>
            <a:r>
              <a:rPr lang="en-US" altLang="en-US" dirty="0"/>
              <a:t> about their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Expected</a:t>
            </a:r>
            <a:r>
              <a:rPr lang="en-US" altLang="en-US" dirty="0"/>
              <a:t>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Behavior</a:t>
            </a:r>
          </a:p>
          <a:p>
            <a:pPr lvl="1"/>
            <a:r>
              <a:rPr lang="en-US" altLang="en-US" dirty="0"/>
              <a:t>Well-written policies are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Clear</a:t>
            </a:r>
            <a:r>
              <a:rPr lang="en-US" altLang="en-US" dirty="0"/>
              <a:t> and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Concise</a:t>
            </a:r>
            <a:r>
              <a:rPr lang="en-US" altLang="en-US" dirty="0"/>
              <a:t> and outline the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Consequences</a:t>
            </a:r>
            <a:r>
              <a:rPr lang="en-US" altLang="en-US" dirty="0"/>
              <a:t> when they are not followed </a:t>
            </a:r>
          </a:p>
          <a:p>
            <a:pPr lvl="2"/>
            <a:r>
              <a:rPr lang="en-US" altLang="en-US" dirty="0"/>
              <a:t>Note – this is a “Direction-Setting” Document” to guide peoples behavior</a:t>
            </a:r>
          </a:p>
        </p:txBody>
      </p:sp>
    </p:spTree>
    <p:extLst>
      <p:ext uri="{BB962C8B-B14F-4D97-AF65-F5344CB8AC3E}">
        <p14:creationId xmlns:p14="http://schemas.microsoft.com/office/powerpoint/2010/main" val="3128369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Key Areas of a </a:t>
            </a:r>
            <a:r>
              <a:rPr lang="en-US" altLang="en-US" sz="4000" b="1" i="1" u="sng" dirty="0">
                <a:solidFill>
                  <a:srgbClr val="00FF00"/>
                </a:solidFill>
              </a:rPr>
              <a:t>Good</a:t>
            </a:r>
            <a:r>
              <a:rPr lang="en-US" altLang="en-US" sz="4000" dirty="0"/>
              <a:t> </a:t>
            </a:r>
            <a:r>
              <a:rPr lang="en-US" altLang="en-US" sz="4000" b="1" i="1" u="sng" dirty="0">
                <a:solidFill>
                  <a:srgbClr val="0070C0"/>
                </a:solidFill>
              </a:rPr>
              <a:t>Policy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143000"/>
            <a:ext cx="7086600" cy="4983163"/>
          </a:xfrm>
          <a:noFill/>
        </p:spPr>
        <p:txBody>
          <a:bodyPr>
            <a:normAutofit fontScale="92500" lnSpcReduction="10000"/>
          </a:bodyPr>
          <a:lstStyle/>
          <a:p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 Statement</a:t>
            </a:r>
          </a:p>
          <a:p>
            <a:pPr lvl="1"/>
            <a:r>
              <a:rPr lang="en-US" altLang="en-US" sz="2000" dirty="0"/>
              <a:t>Outlines what the policy intends to accomplish and which documents, laws, and practices the policy addresses </a:t>
            </a:r>
          </a:p>
          <a:p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Policy Overview Statement </a:t>
            </a:r>
          </a:p>
          <a:p>
            <a:pPr lvl="1"/>
            <a:r>
              <a:rPr lang="en-US" altLang="en-US" sz="2000" dirty="0"/>
              <a:t>Provides goal of the policy, why it’s important, and how to comply with it</a:t>
            </a:r>
          </a:p>
          <a:p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Policy Statement</a:t>
            </a:r>
          </a:p>
          <a:p>
            <a:pPr lvl="1"/>
            <a:r>
              <a:rPr lang="en-US" altLang="en-US" sz="2000" dirty="0"/>
              <a:t>Should be as clear and unambiguous as possible</a:t>
            </a:r>
          </a:p>
          <a:p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Accountability Statement </a:t>
            </a:r>
          </a:p>
          <a:p>
            <a:pPr lvl="1"/>
            <a:r>
              <a:rPr lang="en-US" altLang="en-US" sz="2000" dirty="0"/>
              <a:t>Provides additional information to readers about who to contact if a problem is discovered</a:t>
            </a:r>
          </a:p>
          <a:p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Exception Statement</a:t>
            </a:r>
          </a:p>
          <a:p>
            <a:pPr lvl="1"/>
            <a:r>
              <a:rPr lang="en-US" altLang="en-US" sz="2000" dirty="0"/>
              <a:t>Provides specific guidance about the procedure or process that must be followed in order to deviate from the policy </a:t>
            </a:r>
          </a:p>
        </p:txBody>
      </p:sp>
    </p:spTree>
    <p:extLst>
      <p:ext uri="{BB962C8B-B14F-4D97-AF65-F5344CB8AC3E}">
        <p14:creationId xmlns:p14="http://schemas.microsoft.com/office/powerpoint/2010/main" val="2860799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457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Chapter 1: Measuring and Weighing Risk</a:t>
            </a:r>
            <a:endParaRPr lang="en-US" altLang="en-US" sz="4000" b="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Incorporating standards: </a:t>
            </a:r>
            <a:r>
              <a:rPr lang="en-US" altLang="en-US" b="1" i="1" u="sng" dirty="0"/>
              <a:t>Five</a:t>
            </a:r>
            <a:r>
              <a:rPr lang="en-US" altLang="en-US" dirty="0"/>
              <a:t> </a:t>
            </a:r>
            <a:r>
              <a:rPr lang="en-US" altLang="en-US" b="1" i="1" u="sng" dirty="0"/>
              <a:t>Points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</a:t>
            </a:r>
            <a:r>
              <a:rPr lang="en-US" altLang="en-US" dirty="0"/>
              <a:t> and 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Purpose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Roles</a:t>
            </a:r>
            <a:r>
              <a:rPr lang="en-US" altLang="en-US" dirty="0"/>
              <a:t> and 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Responsibilities</a:t>
            </a:r>
            <a:r>
              <a:rPr lang="en-US" altLang="en-US" dirty="0"/>
              <a:t> 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</a:t>
            </a:r>
            <a:r>
              <a:rPr lang="en-US" altLang="en-US" dirty="0"/>
              <a:t> documents 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Performance</a:t>
            </a:r>
            <a:r>
              <a:rPr lang="en-US" altLang="en-US" dirty="0"/>
              <a:t> 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Criteria</a:t>
            </a:r>
            <a:r>
              <a:rPr lang="en-US" altLang="en-US" dirty="0"/>
              <a:t> 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Maintenance</a:t>
            </a:r>
            <a:r>
              <a:rPr lang="en-US" altLang="en-US" dirty="0"/>
              <a:t> and 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Administrative</a:t>
            </a:r>
            <a:r>
              <a:rPr lang="en-US" altLang="en-US" dirty="0"/>
              <a:t> 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Requirements</a:t>
            </a:r>
          </a:p>
        </p:txBody>
      </p:sp>
    </p:spTree>
    <p:extLst>
      <p:ext uri="{BB962C8B-B14F-4D97-AF65-F5344CB8AC3E}">
        <p14:creationId xmlns:p14="http://schemas.microsoft.com/office/powerpoint/2010/main" val="679889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Following Guidelines</a:t>
            </a:r>
            <a:endParaRPr lang="en-US" altLang="en-US" sz="4000" b="0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524000"/>
            <a:ext cx="6400800" cy="452596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400" b="1" i="1" u="sng" dirty="0">
                <a:solidFill>
                  <a:srgbClr val="0070C0"/>
                </a:solidFill>
              </a:rPr>
              <a:t>Guidelines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/>
              <a:t>Help an organization implement or maintain standards by providing information on how to accomplish policies and maintain standards 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sz="2400" dirty="0"/>
              <a:t>Four Minimum Contents of Good Guidelines 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  <a:defRPr/>
            </a:pPr>
            <a:r>
              <a:rPr lang="en-US" sz="2400" dirty="0"/>
              <a:t>Scope and purpose </a:t>
            </a:r>
            <a:endParaRPr lang="en-US" sz="1600" dirty="0"/>
          </a:p>
          <a:p>
            <a:pPr marL="457200" indent="-457200">
              <a:lnSpc>
                <a:spcPct val="90000"/>
              </a:lnSpc>
              <a:buFontTx/>
              <a:buAutoNum type="arabicPeriod"/>
              <a:defRPr/>
            </a:pPr>
            <a:r>
              <a:rPr lang="en-US" sz="2400" dirty="0"/>
              <a:t>Roles and responsibilities 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  <a:defRPr/>
            </a:pPr>
            <a:r>
              <a:rPr lang="en-US" sz="2400" dirty="0"/>
              <a:t>Guideline statements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  <a:defRPr/>
            </a:pPr>
            <a:r>
              <a:rPr lang="en-US" sz="2400" dirty="0"/>
              <a:t>Operational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1249958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b="1" i="1" u="sng" dirty="0"/>
              <a:t>Business Policies </a:t>
            </a:r>
            <a:r>
              <a:rPr lang="en-US" altLang="en-US" sz="4000" dirty="0"/>
              <a:t>Primary Areas of Concern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524000"/>
            <a:ext cx="6477000" cy="4602163"/>
          </a:xfrm>
        </p:spPr>
        <p:txBody>
          <a:bodyPr>
            <a:normAutofit/>
          </a:bodyPr>
          <a:lstStyle/>
          <a:p>
            <a:r>
              <a:rPr lang="en-US" altLang="en-US" sz="2400" b="1" i="1" u="sng" dirty="0"/>
              <a:t>Mandatory vacations</a:t>
            </a:r>
          </a:p>
          <a:p>
            <a:r>
              <a:rPr lang="en-US" altLang="en-US" sz="2400" b="1" i="1" u="sng" dirty="0"/>
              <a:t>Job rotation</a:t>
            </a:r>
          </a:p>
          <a:p>
            <a:r>
              <a:rPr lang="en-US" altLang="en-US" sz="2400" b="1" i="1" u="sng" dirty="0"/>
              <a:t>Separation of duties</a:t>
            </a:r>
          </a:p>
          <a:p>
            <a:r>
              <a:rPr lang="en-US" altLang="en-US" sz="2400" b="1" i="1" u="sng" dirty="0"/>
              <a:t>Clean desk</a:t>
            </a:r>
          </a:p>
          <a:p>
            <a:r>
              <a:rPr lang="en-US" altLang="en-US" sz="2400" b="1" i="1" u="sng" dirty="0"/>
              <a:t>Background checks</a:t>
            </a:r>
          </a:p>
          <a:p>
            <a:r>
              <a:rPr lang="en-US" altLang="en-US" sz="2400" b="1" i="1" u="sng" dirty="0"/>
              <a:t>Nondisclosure</a:t>
            </a:r>
          </a:p>
          <a:p>
            <a:r>
              <a:rPr lang="en-US" altLang="en-US" sz="2400" b="1" i="1" u="sng" dirty="0"/>
              <a:t>Onboarding</a:t>
            </a:r>
          </a:p>
          <a:p>
            <a:r>
              <a:rPr lang="en-US" altLang="en-US" sz="2400" b="1" i="1" u="sng" dirty="0"/>
              <a:t>Continuing education</a:t>
            </a:r>
          </a:p>
          <a:p>
            <a:r>
              <a:rPr lang="en-US" altLang="en-US" sz="2400" b="1" i="1" u="sng" dirty="0"/>
              <a:t>Exit interviews</a:t>
            </a:r>
          </a:p>
          <a:p>
            <a:r>
              <a:rPr lang="en-US" altLang="en-US" sz="2400" b="1" i="1" u="sng" dirty="0"/>
              <a:t>Role-based awareness </a:t>
            </a:r>
          </a:p>
        </p:txBody>
      </p:sp>
    </p:spTree>
    <p:extLst>
      <p:ext uri="{BB962C8B-B14F-4D97-AF65-F5344CB8AC3E}">
        <p14:creationId xmlns:p14="http://schemas.microsoft.com/office/powerpoint/2010/main" val="2215819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Business Policies Primary Areas of Concern Continued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524000"/>
            <a:ext cx="6477000" cy="4602163"/>
          </a:xfrm>
        </p:spPr>
        <p:txBody>
          <a:bodyPr>
            <a:normAutofit/>
          </a:bodyPr>
          <a:lstStyle/>
          <a:p>
            <a:r>
              <a:rPr lang="en-US" altLang="en-US" sz="2400" b="1" i="1" u="sng" dirty="0">
                <a:solidFill>
                  <a:srgbClr val="0070C0"/>
                </a:solidFill>
              </a:rPr>
              <a:t>Acceptable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0070C0"/>
                </a:solidFill>
              </a:rPr>
              <a:t>Use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0070C0"/>
                </a:solidFill>
              </a:rPr>
              <a:t>Policies</a:t>
            </a:r>
            <a:r>
              <a:rPr lang="en-US" altLang="en-US" sz="2400" dirty="0"/>
              <a:t> (</a:t>
            </a:r>
            <a:r>
              <a:rPr lang="en-US" altLang="en-US" sz="2400" b="1" i="1" u="sng" dirty="0">
                <a:solidFill>
                  <a:srgbClr val="0070C0"/>
                </a:solidFill>
              </a:rPr>
              <a:t>AUP</a:t>
            </a:r>
            <a:r>
              <a:rPr lang="en-US" altLang="en-US" sz="2400" dirty="0"/>
              <a:t>)</a:t>
            </a:r>
          </a:p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Adverse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Actions</a:t>
            </a:r>
          </a:p>
          <a:p>
            <a:r>
              <a:rPr lang="en-US" altLang="en-US" sz="2400" b="1" i="1" u="sng" dirty="0">
                <a:solidFill>
                  <a:srgbClr val="0070C0"/>
                </a:solidFill>
              </a:rPr>
              <a:t>General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0070C0"/>
                </a:solidFill>
              </a:rPr>
              <a:t>Security Policies</a:t>
            </a:r>
          </a:p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</a:t>
            </a:r>
            <a:r>
              <a:rPr lang="en-US" altLang="en-US" sz="2400" dirty="0"/>
              <a:t>/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Policies</a:t>
            </a:r>
          </a:p>
        </p:txBody>
      </p:sp>
    </p:spTree>
    <p:extLst>
      <p:ext uri="{BB962C8B-B14F-4D97-AF65-F5344CB8AC3E}">
        <p14:creationId xmlns:p14="http://schemas.microsoft.com/office/powerpoint/2010/main" val="200503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524000"/>
            <a:ext cx="6477000" cy="4602163"/>
          </a:xfrm>
        </p:spPr>
        <p:txBody>
          <a:bodyPr/>
          <a:lstStyle/>
          <a:p>
            <a:endParaRPr lang="en-US" altLang="en-US" sz="2800" b="0" dirty="0"/>
          </a:p>
          <a:p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False Positives</a:t>
            </a:r>
          </a:p>
          <a:p>
            <a:pPr lvl="1"/>
            <a:r>
              <a:rPr lang="en-US" altLang="en-US" sz="2400" b="1" i="1" u="sng" dirty="0"/>
              <a:t>Events</a:t>
            </a:r>
            <a:r>
              <a:rPr lang="en-US" altLang="en-US" sz="2400" dirty="0"/>
              <a:t> that </a:t>
            </a:r>
            <a:r>
              <a:rPr lang="en-US" altLang="en-US" sz="2400" b="1" i="1" u="sng" dirty="0">
                <a:solidFill>
                  <a:srgbClr val="92D050"/>
                </a:solidFill>
              </a:rPr>
              <a:t>aren’t really </a:t>
            </a:r>
            <a:r>
              <a:rPr lang="en-US" altLang="en-US" sz="2400" b="1" i="1" u="sng" dirty="0">
                <a:solidFill>
                  <a:srgbClr val="FF9933"/>
                </a:solidFill>
              </a:rPr>
              <a:t>Incidents</a:t>
            </a:r>
          </a:p>
          <a:p>
            <a:r>
              <a:rPr lang="en-US" altLang="en-US" dirty="0"/>
              <a:t>Risk management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Best Practices</a:t>
            </a:r>
          </a:p>
          <a:p>
            <a:pPr lvl="1"/>
            <a:r>
              <a:rPr lang="en-US" altLang="en-US" dirty="0"/>
              <a:t>Business Impact Analysis (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BIA</a:t>
            </a:r>
            <a:r>
              <a:rPr lang="en-US" altLang="en-US" dirty="0"/>
              <a:t>)</a:t>
            </a:r>
          </a:p>
          <a:p>
            <a:pPr lvl="1">
              <a:buFontTx/>
              <a:buNone/>
            </a:pPr>
            <a:endParaRPr lang="en-US" altLang="en-US" sz="2400" dirty="0"/>
          </a:p>
        </p:txBody>
      </p:sp>
      <p:sp>
        <p:nvSpPr>
          <p:cNvPr id="17411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Chapter 1: Measuring and Weighing Risk</a:t>
            </a:r>
          </a:p>
        </p:txBody>
      </p:sp>
    </p:spTree>
    <p:extLst>
      <p:ext uri="{BB962C8B-B14F-4D97-AF65-F5344CB8AC3E}">
        <p14:creationId xmlns:p14="http://schemas.microsoft.com/office/powerpoint/2010/main" val="723407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35CCA-65A9-4CC5-B04C-BBC99BC11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457199"/>
          </a:xfrm>
        </p:spPr>
        <p:txBody>
          <a:bodyPr>
            <a:normAutofit fontScale="90000"/>
          </a:bodyPr>
          <a:lstStyle/>
          <a:p>
            <a:r>
              <a:rPr lang="en-US" b="1" i="1" u="sng" dirty="0">
                <a:solidFill>
                  <a:srgbClr val="0070C0"/>
                </a:solidFill>
              </a:rPr>
              <a:t>RAID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2B7DE-D587-490B-81CA-E7D5886AF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731837"/>
            <a:ext cx="6400800" cy="5851525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sz="2000" b="1" i="1" u="sng" dirty="0">
                <a:solidFill>
                  <a:srgbClr val="0070C0"/>
                </a:solidFill>
              </a:rPr>
              <a:t>Redundant Array Of Independent Di</a:t>
            </a:r>
            <a:r>
              <a:rPr lang="en-US" altLang="en-US" sz="2000" i="1" dirty="0"/>
              <a:t>sks (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RAID</a:t>
            </a:r>
            <a:r>
              <a:rPr lang="en-US" altLang="en-US" sz="2000" i="1" dirty="0"/>
              <a:t>)</a:t>
            </a:r>
          </a:p>
          <a:p>
            <a:pPr lvl="1"/>
            <a:r>
              <a:rPr lang="en-US" altLang="en-US" sz="2000" dirty="0"/>
              <a:t>A technology that uses multiple disks to provide varying degrees of:</a:t>
            </a:r>
          </a:p>
          <a:p>
            <a:pPr lvl="2"/>
            <a:r>
              <a:rPr lang="en-US" altLang="en-US" sz="1600" dirty="0"/>
              <a:t> </a:t>
            </a:r>
            <a:r>
              <a:rPr lang="en-US" altLang="en-US" sz="1600" b="1" i="1" u="sng" dirty="0">
                <a:solidFill>
                  <a:srgbClr val="0070C0"/>
                </a:solidFill>
              </a:rPr>
              <a:t>Fault Tolerance</a:t>
            </a:r>
          </a:p>
          <a:p>
            <a:pPr lvl="2"/>
            <a:r>
              <a:rPr lang="en-US" altLang="en-US" sz="1600" b="1" i="1" u="sng" dirty="0">
                <a:solidFill>
                  <a:srgbClr val="0070C0"/>
                </a:solidFill>
              </a:rPr>
              <a:t>High Availability</a:t>
            </a:r>
          </a:p>
          <a:p>
            <a:pPr lvl="2"/>
            <a:r>
              <a:rPr lang="en-US" altLang="en-US" sz="1600" b="1" i="1" u="sng" dirty="0">
                <a:solidFill>
                  <a:srgbClr val="0070C0"/>
                </a:solidFill>
              </a:rPr>
              <a:t>Higher Performance </a:t>
            </a:r>
            <a:r>
              <a:rPr lang="en-US" altLang="en-US" sz="1600" b="1" i="1" u="sng" dirty="0"/>
              <a:t>(R/W)</a:t>
            </a:r>
          </a:p>
          <a:p>
            <a:pPr>
              <a:buFontTx/>
              <a:buNone/>
            </a:pPr>
            <a:r>
              <a:rPr lang="en-US" altLang="en-US" sz="2400" dirty="0"/>
              <a:t>Several </a:t>
            </a:r>
            <a:r>
              <a:rPr lang="en-US" altLang="en-US" sz="2400" b="1" i="1" u="sng" dirty="0"/>
              <a:t>Designations</a:t>
            </a:r>
            <a:r>
              <a:rPr lang="en-US" altLang="en-US" sz="2400" dirty="0"/>
              <a:t> for RAID levels</a:t>
            </a:r>
            <a:endParaRPr lang="en-US" altLang="en-US" sz="2000" i="1" dirty="0"/>
          </a:p>
          <a:p>
            <a:r>
              <a:rPr lang="en-US" altLang="en-US" sz="2000" b="1" i="1" u="sng" dirty="0"/>
              <a:t>RAID Level 0</a:t>
            </a:r>
            <a:r>
              <a:rPr lang="en-US" altLang="en-US" sz="2000" dirty="0"/>
              <a:t>  - </a:t>
            </a:r>
            <a:r>
              <a:rPr lang="en-US" altLang="en-US" sz="2000" b="1" i="1" u="sng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Block-Level</a:t>
            </a:r>
            <a:r>
              <a:rPr lang="en-US" altLang="en-US" sz="2000" dirty="0"/>
              <a:t> 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Disk Striping</a:t>
            </a:r>
            <a:r>
              <a:rPr lang="en-US" altLang="en-US" sz="2000" dirty="0"/>
              <a:t> (High Perf.)</a:t>
            </a:r>
            <a:endParaRPr lang="en-US" altLang="en-US" sz="2000" b="1" i="1" u="sng" dirty="0">
              <a:solidFill>
                <a:srgbClr val="0070C0"/>
              </a:solidFill>
            </a:endParaRPr>
          </a:p>
          <a:p>
            <a:r>
              <a:rPr lang="en-US" altLang="en-US" sz="2000" b="1" i="1" u="sng" dirty="0"/>
              <a:t>RAID Level 1 - 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Disk Mirroring</a:t>
            </a:r>
            <a:r>
              <a:rPr lang="en-US" altLang="en-US" sz="2000" dirty="0"/>
              <a:t> (FT, NOT High Perf.)</a:t>
            </a:r>
            <a:endParaRPr lang="en-US" altLang="en-US" sz="2000" b="1" i="1" u="sng" dirty="0">
              <a:solidFill>
                <a:srgbClr val="0070C0"/>
              </a:solidFill>
            </a:endParaRPr>
          </a:p>
          <a:p>
            <a:r>
              <a:rPr lang="en-US" altLang="en-US" sz="2000" b="1" i="1" u="sng" dirty="0"/>
              <a:t>RAID Level 2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rgbClr val="0070C0"/>
                </a:solidFill>
              </a:rPr>
              <a:t>- </a:t>
            </a:r>
            <a:r>
              <a:rPr lang="en-US" altLang="en-US" sz="2000" b="1" i="1" u="sng" dirty="0">
                <a:solidFill>
                  <a:srgbClr val="FFFFCC"/>
                </a:solidFill>
                <a:highlight>
                  <a:srgbClr val="808080"/>
                </a:highlight>
              </a:rPr>
              <a:t>Bit-Level</a:t>
            </a:r>
            <a:r>
              <a:rPr lang="en-US" altLang="en-US" sz="2000" b="1" i="1" u="sng" dirty="0"/>
              <a:t> 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Disk Striping – Spin Sync</a:t>
            </a:r>
          </a:p>
          <a:p>
            <a:pPr lvl="1"/>
            <a:r>
              <a:rPr lang="en-US" altLang="en-US" sz="1600" b="1" i="1" dirty="0">
                <a:solidFill>
                  <a:srgbClr val="FFC000"/>
                </a:solidFill>
                <a:highlight>
                  <a:srgbClr val="808080"/>
                </a:highlight>
              </a:rPr>
              <a:t>Rarely used today</a:t>
            </a:r>
          </a:p>
          <a:p>
            <a:pPr lvl="1"/>
            <a:r>
              <a:rPr lang="en-US" altLang="en-US" sz="1600" dirty="0"/>
              <a:t>Very High Perf</a:t>
            </a:r>
            <a:endParaRPr lang="en-US" altLang="en-US" sz="2000" dirty="0"/>
          </a:p>
          <a:p>
            <a:r>
              <a:rPr lang="en-US" altLang="en-US" sz="2000" b="1" i="1" u="sng" dirty="0"/>
              <a:t>RAID Level 3 </a:t>
            </a:r>
            <a:r>
              <a:rPr lang="en-US" altLang="en-US" sz="2000" dirty="0"/>
              <a:t>- </a:t>
            </a:r>
            <a:r>
              <a:rPr lang="en-US" altLang="en-US" sz="2000" b="1" i="1" u="sng" dirty="0">
                <a:solidFill>
                  <a:srgbClr val="FFFFCC"/>
                </a:solidFill>
                <a:highlight>
                  <a:srgbClr val="808080"/>
                </a:highlight>
              </a:rPr>
              <a:t>Byte-Level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 Disk Striping</a:t>
            </a:r>
            <a:r>
              <a:rPr lang="en-US" altLang="en-US" sz="2000" dirty="0"/>
              <a:t> Single Parity Drive</a:t>
            </a:r>
            <a:endParaRPr lang="en-US" altLang="en-US" sz="2000" b="1" i="1" u="sng" dirty="0">
              <a:solidFill>
                <a:srgbClr val="0070C0"/>
              </a:solidFill>
            </a:endParaRPr>
          </a:p>
          <a:p>
            <a:pPr lvl="1"/>
            <a:r>
              <a:rPr lang="en-US" altLang="en-US" sz="1600" b="1" i="1" dirty="0">
                <a:solidFill>
                  <a:srgbClr val="FFC000"/>
                </a:solidFill>
                <a:highlight>
                  <a:srgbClr val="808080"/>
                </a:highlight>
              </a:rPr>
              <a:t>Rarely used today</a:t>
            </a:r>
          </a:p>
          <a:p>
            <a:pPr lvl="1"/>
            <a:r>
              <a:rPr lang="en-US" altLang="en-US" sz="1600" dirty="0"/>
              <a:t>FT + High Perf</a:t>
            </a:r>
          </a:p>
          <a:p>
            <a:r>
              <a:rPr lang="en-US" altLang="en-US" sz="2000" b="1" i="1" u="sng" dirty="0"/>
              <a:t>RAID 4</a:t>
            </a:r>
            <a:r>
              <a:rPr lang="en-US" altLang="en-US" sz="2000" i="1" dirty="0"/>
              <a:t> - 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 Striping with a </a:t>
            </a:r>
            <a:r>
              <a:rPr lang="en-US" altLang="en-US" sz="2000" b="1" i="1" u="sng" dirty="0">
                <a:solidFill>
                  <a:srgbClr val="FFC000"/>
                </a:solidFill>
              </a:rPr>
              <a:t>Single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 Parity (ECC) Disk</a:t>
            </a:r>
          </a:p>
          <a:p>
            <a:pPr lvl="1"/>
            <a:r>
              <a:rPr lang="en-US" altLang="en-US" sz="1600" dirty="0"/>
              <a:t>FT + High Perf</a:t>
            </a:r>
          </a:p>
          <a:p>
            <a:r>
              <a:rPr lang="en-US" altLang="en-US" sz="2000" b="1" i="1" u="sng" dirty="0"/>
              <a:t>RAID Level 5 </a:t>
            </a:r>
            <a:r>
              <a:rPr lang="en-US" altLang="en-US" sz="2000" dirty="0"/>
              <a:t>- </a:t>
            </a:r>
            <a:r>
              <a:rPr lang="en-US" altLang="en-US" sz="2000" b="1" i="1" u="sng" dirty="0">
                <a:solidFill>
                  <a:srgbClr val="FFFFCC"/>
                </a:solidFill>
                <a:highlight>
                  <a:srgbClr val="808080"/>
                </a:highlight>
              </a:rPr>
              <a:t>Block-Level</a:t>
            </a:r>
            <a:r>
              <a:rPr lang="en-US" altLang="en-US" sz="2000" dirty="0"/>
              <a:t> 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Disk Striping with Distributed Parity</a:t>
            </a:r>
          </a:p>
          <a:p>
            <a:r>
              <a:rPr lang="en-US" altLang="en-US" sz="2000" b="1" i="1" u="sng" dirty="0"/>
              <a:t>RAID 6</a:t>
            </a:r>
            <a:r>
              <a:rPr lang="en-US" altLang="en-US" sz="2000" i="1" dirty="0"/>
              <a:t> - 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Disk Level Striping (Blocked) with an additional Parity Stripe (has 2 Parity Stripes)</a:t>
            </a:r>
          </a:p>
          <a:p>
            <a:r>
              <a:rPr lang="en-US" altLang="en-US" sz="2000" b="1" i="1" u="sng" dirty="0"/>
              <a:t>RAID 10 - 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Hybrid RAID</a:t>
            </a:r>
            <a:r>
              <a:rPr lang="en-US" altLang="en-US" sz="2000" b="1" i="1" u="sng" dirty="0"/>
              <a:t>:</a:t>
            </a:r>
          </a:p>
          <a:p>
            <a:pPr lvl="1"/>
            <a:r>
              <a:rPr lang="en-US" altLang="en-US" sz="1600" b="1" dirty="0"/>
              <a:t>Combines 2 of the Common RAID LEVELS into a more FT Configuration</a:t>
            </a:r>
          </a:p>
          <a:p>
            <a:pPr lvl="1"/>
            <a:r>
              <a:rPr lang="en-US" altLang="en-US" sz="1600" b="1" dirty="0"/>
              <a:t>Most Common – 10 = 5 x 2:</a:t>
            </a:r>
          </a:p>
          <a:p>
            <a:pPr lvl="2"/>
            <a:r>
              <a:rPr lang="en-US" altLang="en-US" sz="1200" b="1" dirty="0"/>
              <a:t>2 RAID 5’s that are Mirrors</a:t>
            </a:r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69691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1002</Words>
  <Application>Microsoft Office PowerPoint</Application>
  <PresentationFormat>On-screen Show (4:3)</PresentationFormat>
  <Paragraphs>189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CompTIA Security+ Study Guide (SY0-501)</vt:lpstr>
      <vt:lpstr>Chapter 1: Managing Risk</vt:lpstr>
      <vt:lpstr>Threat Assessment</vt:lpstr>
      <vt:lpstr>Computing Risk Assessment</vt:lpstr>
      <vt:lpstr>Computing Risk Assessment Continued</vt:lpstr>
      <vt:lpstr>Risk Measurements</vt:lpstr>
      <vt:lpstr>Acting on Your Risk Assessment- What to do for Each Risk</vt:lpstr>
      <vt:lpstr>Acting on Your Risk Assessment…</vt:lpstr>
      <vt:lpstr>Risks and Cloud Computing</vt:lpstr>
      <vt:lpstr>Risks and Cloud Computing</vt:lpstr>
      <vt:lpstr>Risks Associated with Virtualization</vt:lpstr>
      <vt:lpstr>Hierarchy of Standard Documents</vt:lpstr>
      <vt:lpstr>Developing Policies, Standards, and Guidelines </vt:lpstr>
      <vt:lpstr>Key Areas of a Good Policy</vt:lpstr>
      <vt:lpstr>Chapter 1: Measuring and Weighing Risk</vt:lpstr>
      <vt:lpstr>Following Guidelines</vt:lpstr>
      <vt:lpstr>Business Policies Primary Areas of Concern</vt:lpstr>
      <vt:lpstr>Business Policies Primary Areas of Concern Continued</vt:lpstr>
      <vt:lpstr>Chapter 1: Measuring and Weighing Risk</vt:lpstr>
      <vt:lpstr>RAID</vt:lpstr>
    </vt:vector>
  </TitlesOfParts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O'Brien, Connor - San Francisco</dc:creator>
  <cp:lastModifiedBy>Ricky Gibson</cp:lastModifiedBy>
  <cp:revision>49</cp:revision>
  <dcterms:created xsi:type="dcterms:W3CDTF">2013-06-05T20:52:46Z</dcterms:created>
  <dcterms:modified xsi:type="dcterms:W3CDTF">2020-04-08T17:37:24Z</dcterms:modified>
</cp:coreProperties>
</file>